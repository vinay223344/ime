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3.xml" ContentType="application/vnd.openxmlformats-officedocument.drawingml.diagramData+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260" r:id="rId3"/>
    <p:sldId id="262" r:id="rId4"/>
    <p:sldId id="257" r:id="rId5"/>
    <p:sldId id="273" r:id="rId6"/>
    <p:sldId id="270" r:id="rId7"/>
    <p:sldId id="261" r:id="rId8"/>
    <p:sldId id="263" r:id="rId9"/>
    <p:sldId id="265" r:id="rId10"/>
    <p:sldId id="266" r:id="rId11"/>
    <p:sldId id="267" r:id="rId12"/>
    <p:sldId id="268" r:id="rId13"/>
    <p:sldId id="271" r:id="rId14"/>
    <p:sldId id="272" r:id="rId15"/>
    <p:sldId id="269" r:id="rId16"/>
    <p:sldId id="275" r:id="rId17"/>
    <p:sldId id="276" r:id="rId18"/>
    <p:sldId id="277" r:id="rId19"/>
    <p:sldId id="278" r:id="rId20"/>
    <p:sldId id="279" r:id="rId21"/>
    <p:sldId id="280" r:id="rId22"/>
    <p:sldId id="281" r:id="rId23"/>
    <p:sldId id="282" r:id="rId24"/>
    <p:sldId id="284" r:id="rId25"/>
    <p:sldId id="285" r:id="rId26"/>
    <p:sldId id="286" r:id="rId27"/>
    <p:sldId id="287" r:id="rId28"/>
    <p:sldId id="288" r:id="rId29"/>
    <p:sldId id="289" r:id="rId30"/>
    <p:sldId id="290" r:id="rId31"/>
    <p:sldId id="291" r:id="rId32"/>
    <p:sldId id="292" r:id="rId33"/>
    <p:sldId id="293" r:id="rId34"/>
    <p:sldId id="294" r:id="rId35"/>
    <p:sldId id="296" r:id="rId36"/>
    <p:sldId id="301" r:id="rId37"/>
    <p:sldId id="297" r:id="rId38"/>
    <p:sldId id="315" r:id="rId39"/>
    <p:sldId id="316" r:id="rId40"/>
    <p:sldId id="317" r:id="rId41"/>
    <p:sldId id="319" r:id="rId42"/>
    <p:sldId id="320" r:id="rId43"/>
    <p:sldId id="300" r:id="rId44"/>
    <p:sldId id="302" r:id="rId45"/>
    <p:sldId id="303" r:id="rId46"/>
    <p:sldId id="304" r:id="rId47"/>
    <p:sldId id="305" r:id="rId48"/>
    <p:sldId id="307" r:id="rId49"/>
    <p:sldId id="308" r:id="rId50"/>
    <p:sldId id="306" r:id="rId51"/>
    <p:sldId id="299" r:id="rId52"/>
    <p:sldId id="309" r:id="rId53"/>
    <p:sldId id="310" r:id="rId54"/>
    <p:sldId id="312" r:id="rId55"/>
    <p:sldId id="313" r:id="rId56"/>
    <p:sldId id="314" r:id="rId57"/>
    <p:sldId id="321" r:id="rId58"/>
    <p:sldId id="322" r:id="rId59"/>
    <p:sldId id="323" r:id="rId60"/>
    <p:sldId id="327" r:id="rId61"/>
    <p:sldId id="328" r:id="rId62"/>
    <p:sldId id="329" r:id="rId63"/>
    <p:sldId id="330" r:id="rId64"/>
    <p:sldId id="331" r:id="rId65"/>
    <p:sldId id="332" r:id="rId66"/>
    <p:sldId id="333" r:id="rId67"/>
    <p:sldId id="334" r:id="rId68"/>
    <p:sldId id="335" r:id="rId69"/>
    <p:sldId id="336" r:id="rId70"/>
    <p:sldId id="337" r:id="rId71"/>
    <p:sldId id="338" r:id="rId72"/>
    <p:sldId id="339" r:id="rId73"/>
    <p:sldId id="324" r:id="rId74"/>
    <p:sldId id="325"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70"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_rels/data1.xml.rels><?xml version="1.0" encoding="UTF-8" standalone="yes"?>
<Relationships xmlns="http://schemas.openxmlformats.org/package/2006/relationships"><Relationship Id="rId1"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CBB966-0A84-4B92-988C-CCE6F545C1E2}" type="doc">
      <dgm:prSet loTypeId="urn:microsoft.com/office/officeart/2005/8/layout/lProcess2" loCatId="list" qsTypeId="urn:microsoft.com/office/officeart/2005/8/quickstyle/simple2" qsCatId="simple" csTypeId="urn:microsoft.com/office/officeart/2005/8/colors/accent2_1" csCatId="accent2" phldr="1"/>
      <dgm:spPr/>
      <dgm:t>
        <a:bodyPr/>
        <a:lstStyle/>
        <a:p>
          <a:endParaRPr lang="en-IN"/>
        </a:p>
      </dgm:t>
    </dgm:pt>
    <dgm:pt modelId="{B693FC9F-069B-42E5-9970-6297BE64ED2E}">
      <dgm:prSet custT="1"/>
      <dgm:spPr/>
      <dgm:t>
        <a:bodyPr anchor="t"/>
        <a:lstStyle/>
        <a:p>
          <a:pPr rtl="0"/>
          <a:r>
            <a:rPr lang="en-IN" sz="2400" b="1" dirty="0" smtClean="0">
              <a:solidFill>
                <a:srgbClr val="7030A0"/>
              </a:solidFill>
              <a:latin typeface="Maiandra GD" pitchFamily="34" charset="0"/>
            </a:rPr>
            <a:t>Based on the Business Type</a:t>
          </a:r>
          <a:endParaRPr lang="en-IN" sz="2400" dirty="0">
            <a:solidFill>
              <a:srgbClr val="7030A0"/>
            </a:solidFill>
            <a:latin typeface="Maiandra GD" pitchFamily="34" charset="0"/>
          </a:endParaRPr>
        </a:p>
      </dgm:t>
    </dgm:pt>
    <dgm:pt modelId="{6773243B-4759-4FB3-A62D-D0DEA8EC420C}" type="parTrans" cxnId="{68E260E2-FDD6-473E-A436-7DBBA3600ABC}">
      <dgm:prSet/>
      <dgm:spPr/>
      <dgm:t>
        <a:bodyPr/>
        <a:lstStyle/>
        <a:p>
          <a:endParaRPr lang="en-IN"/>
        </a:p>
      </dgm:t>
    </dgm:pt>
    <dgm:pt modelId="{1647D917-17A4-439A-BF58-257A242C5434}" type="sibTrans" cxnId="{68E260E2-FDD6-473E-A436-7DBBA3600ABC}">
      <dgm:prSet/>
      <dgm:spPr/>
      <dgm:t>
        <a:bodyPr/>
        <a:lstStyle/>
        <a:p>
          <a:endParaRPr lang="en-IN"/>
        </a:p>
      </dgm:t>
    </dgm:pt>
    <dgm:pt modelId="{3E7368EF-98DA-4340-B2C1-3B6B3C4B9D87}">
      <dgm:prSet custT="1"/>
      <dgm:spPr/>
      <dgm:t>
        <a:bodyPr anchor="t"/>
        <a:lstStyle/>
        <a:p>
          <a:pPr algn="just" rtl="0"/>
          <a:r>
            <a:rPr lang="en-IN" sz="1100" b="1" dirty="0" smtClean="0">
              <a:latin typeface="Bookman Old Style" pitchFamily="18" charset="0"/>
            </a:rPr>
            <a:t>Trading Entrepreneur: </a:t>
          </a:r>
          <a:r>
            <a:rPr lang="en-IN" sz="1100" dirty="0" smtClean="0">
              <a:latin typeface="Bookman Old Style" pitchFamily="18" charset="0"/>
            </a:rPr>
            <a:t>A trading entrepreneur refers to a person who undertakes business-related activities. These types of entrepreneurs usually buy finished products in bulk from manufacturers at some discount. They then sell these products directly or with the help of retailers or vendors with profits. A business entrepreneur usually acts as a middleman between manufacturers and customers. This may include wholesalers, retailers, dealers, etc.</a:t>
          </a:r>
          <a:endParaRPr lang="en-IN" sz="1100" dirty="0">
            <a:latin typeface="Bookman Old Style" pitchFamily="18" charset="0"/>
          </a:endParaRPr>
        </a:p>
      </dgm:t>
    </dgm:pt>
    <dgm:pt modelId="{AD0BB69B-7B9E-4B10-A268-A646B476CF1A}" type="parTrans" cxnId="{76223725-73C6-46FA-9872-A6ACC5AB579F}">
      <dgm:prSet/>
      <dgm:spPr/>
      <dgm:t>
        <a:bodyPr/>
        <a:lstStyle/>
        <a:p>
          <a:endParaRPr lang="en-IN"/>
        </a:p>
      </dgm:t>
    </dgm:pt>
    <dgm:pt modelId="{5C2FA02E-CE7F-4D1C-AF16-1033A9F1E8EA}" type="sibTrans" cxnId="{76223725-73C6-46FA-9872-A6ACC5AB579F}">
      <dgm:prSet/>
      <dgm:spPr/>
      <dgm:t>
        <a:bodyPr/>
        <a:lstStyle/>
        <a:p>
          <a:endParaRPr lang="en-IN"/>
        </a:p>
      </dgm:t>
    </dgm:pt>
    <dgm:pt modelId="{54A69AEB-DB48-4E27-B97D-18FD51AE83D3}">
      <dgm:prSet custT="1"/>
      <dgm:spPr/>
      <dgm:t>
        <a:bodyPr anchor="t"/>
        <a:lstStyle/>
        <a:p>
          <a:pPr algn="just" rtl="0"/>
          <a:r>
            <a:rPr lang="en-IN" sz="1200" b="1" dirty="0" smtClean="0">
              <a:latin typeface="Bookman Old Style" pitchFamily="18" charset="0"/>
            </a:rPr>
            <a:t>Manufacturing Entrepreneur: </a:t>
          </a:r>
          <a:r>
            <a:rPr lang="en-IN" sz="1200" dirty="0" smtClean="0">
              <a:latin typeface="Bookman Old Style" pitchFamily="18" charset="0"/>
            </a:rPr>
            <a:t>The founder of a business to manufacture products is known as a manufacturing entrepreneur. Manufacturing entrepreneurs analyze market needs or customer needs and manufacture products to meet such requirements of customer using various resources or technologies. </a:t>
          </a:r>
          <a:endParaRPr lang="en-IN" sz="1200" dirty="0">
            <a:latin typeface="Bookman Old Style" pitchFamily="18" charset="0"/>
          </a:endParaRPr>
        </a:p>
      </dgm:t>
    </dgm:pt>
    <dgm:pt modelId="{2A78298E-1003-42AA-B69E-C3FAD7D71B93}" type="parTrans" cxnId="{5033A757-F92E-4C43-81AA-0CC082990FAA}">
      <dgm:prSet/>
      <dgm:spPr/>
      <dgm:t>
        <a:bodyPr/>
        <a:lstStyle/>
        <a:p>
          <a:endParaRPr lang="en-IN"/>
        </a:p>
      </dgm:t>
    </dgm:pt>
    <dgm:pt modelId="{97233D52-E504-4021-A3CF-8377B2A4B2FD}" type="sibTrans" cxnId="{5033A757-F92E-4C43-81AA-0CC082990FAA}">
      <dgm:prSet/>
      <dgm:spPr/>
      <dgm:t>
        <a:bodyPr/>
        <a:lstStyle/>
        <a:p>
          <a:endParaRPr lang="en-IN"/>
        </a:p>
      </dgm:t>
    </dgm:pt>
    <dgm:pt modelId="{A879441C-F7CB-4D82-9840-182A31437DAE}">
      <dgm:prSet custT="1"/>
      <dgm:spPr/>
      <dgm:t>
        <a:bodyPr/>
        <a:lstStyle/>
        <a:p>
          <a:pPr algn="just" rtl="0"/>
          <a:r>
            <a:rPr lang="en-IN" sz="1050" b="1" dirty="0" smtClean="0">
              <a:latin typeface="Bookman Old Style" pitchFamily="18" charset="0"/>
            </a:rPr>
            <a:t>Agricultural Entrepreneur: </a:t>
          </a:r>
          <a:r>
            <a:rPr lang="en-IN" sz="1050" dirty="0" smtClean="0">
              <a:latin typeface="Bookman Old Style" pitchFamily="18" charset="0"/>
            </a:rPr>
            <a:t>Agricultural entrepreneurs refer to the types of entrepreneurs who primarily do agricultural work. They participate in a wide range of agricultural activities such as farming, irrigation, agricultural produce, mechanization, technology, etc.</a:t>
          </a:r>
          <a:endParaRPr lang="en-IN" sz="1050" dirty="0">
            <a:latin typeface="Bookman Old Style" pitchFamily="18" charset="0"/>
          </a:endParaRPr>
        </a:p>
      </dgm:t>
    </dgm:pt>
    <dgm:pt modelId="{C06DD7D1-E085-4E11-8C2D-5B8DC1E06883}" type="parTrans" cxnId="{0DC758E5-E7A2-46D1-922F-9378FE92A2A9}">
      <dgm:prSet/>
      <dgm:spPr/>
      <dgm:t>
        <a:bodyPr/>
        <a:lstStyle/>
        <a:p>
          <a:endParaRPr lang="en-IN"/>
        </a:p>
      </dgm:t>
    </dgm:pt>
    <dgm:pt modelId="{27275766-8B69-41D6-9903-AAD5C78F6AEC}" type="sibTrans" cxnId="{0DC758E5-E7A2-46D1-922F-9378FE92A2A9}">
      <dgm:prSet/>
      <dgm:spPr/>
      <dgm:t>
        <a:bodyPr/>
        <a:lstStyle/>
        <a:p>
          <a:endParaRPr lang="en-IN"/>
        </a:p>
      </dgm:t>
    </dgm:pt>
    <dgm:pt modelId="{5B6B23E7-ACF2-41EA-BC9E-431EDA014C2D}">
      <dgm:prSet custT="1"/>
      <dgm:spPr>
        <a:blipFill rotWithShape="0">
          <a:blip xmlns:r="http://schemas.openxmlformats.org/officeDocument/2006/relationships" r:embed="rId1"/>
          <a:stretch>
            <a:fillRect/>
          </a:stretch>
        </a:blipFill>
      </dgm:spPr>
      <dgm:t>
        <a:bodyPr anchor="t"/>
        <a:lstStyle/>
        <a:p>
          <a:pPr rtl="0"/>
          <a:endParaRPr lang="en-IN" sz="2400" b="1" dirty="0">
            <a:solidFill>
              <a:srgbClr val="7030A0"/>
            </a:solidFill>
            <a:latin typeface="Maiandra GD" pitchFamily="34" charset="0"/>
          </a:endParaRPr>
        </a:p>
      </dgm:t>
    </dgm:pt>
    <dgm:pt modelId="{8DBE1890-CAB4-4CD5-9BAB-D6605FABDF3F}" type="sibTrans" cxnId="{6A02C214-17C2-482B-854B-C2D98E5D5446}">
      <dgm:prSet/>
      <dgm:spPr/>
      <dgm:t>
        <a:bodyPr/>
        <a:lstStyle/>
        <a:p>
          <a:endParaRPr lang="en-IN"/>
        </a:p>
      </dgm:t>
    </dgm:pt>
    <dgm:pt modelId="{D5470EE4-B203-47D2-9835-0B554E897873}" type="parTrans" cxnId="{6A02C214-17C2-482B-854B-C2D98E5D5446}">
      <dgm:prSet/>
      <dgm:spPr/>
      <dgm:t>
        <a:bodyPr/>
        <a:lstStyle/>
        <a:p>
          <a:endParaRPr lang="en-IN"/>
        </a:p>
      </dgm:t>
    </dgm:pt>
    <dgm:pt modelId="{BEADE5FF-4CBC-4157-BE15-5A2DBC45143F}" type="pres">
      <dgm:prSet presAssocID="{8ECBB966-0A84-4B92-988C-CCE6F545C1E2}" presName="theList" presStyleCnt="0">
        <dgm:presLayoutVars>
          <dgm:dir/>
          <dgm:animLvl val="lvl"/>
          <dgm:resizeHandles val="exact"/>
        </dgm:presLayoutVars>
      </dgm:prSet>
      <dgm:spPr/>
      <dgm:t>
        <a:bodyPr/>
        <a:lstStyle/>
        <a:p>
          <a:endParaRPr lang="en-IN"/>
        </a:p>
      </dgm:t>
    </dgm:pt>
    <dgm:pt modelId="{C35671B2-FA6A-4D6A-A02A-48E418DFED85}" type="pres">
      <dgm:prSet presAssocID="{B693FC9F-069B-42E5-9970-6297BE64ED2E}" presName="compNode" presStyleCnt="0"/>
      <dgm:spPr/>
    </dgm:pt>
    <dgm:pt modelId="{87C8EF15-2C9E-4749-BCB3-CF8C34E89D75}" type="pres">
      <dgm:prSet presAssocID="{B693FC9F-069B-42E5-9970-6297BE64ED2E}" presName="aNode" presStyleLbl="bgShp" presStyleIdx="0" presStyleCnt="2" custLinFactNeighborX="-8139" custLinFactNeighborY="32683"/>
      <dgm:spPr/>
      <dgm:t>
        <a:bodyPr/>
        <a:lstStyle/>
        <a:p>
          <a:endParaRPr lang="en-IN"/>
        </a:p>
      </dgm:t>
    </dgm:pt>
    <dgm:pt modelId="{9FC35E7A-421C-41B0-9F3B-3E928D237597}" type="pres">
      <dgm:prSet presAssocID="{B693FC9F-069B-42E5-9970-6297BE64ED2E}" presName="textNode" presStyleLbl="bgShp" presStyleIdx="0" presStyleCnt="2"/>
      <dgm:spPr/>
      <dgm:t>
        <a:bodyPr/>
        <a:lstStyle/>
        <a:p>
          <a:endParaRPr lang="en-IN"/>
        </a:p>
      </dgm:t>
    </dgm:pt>
    <dgm:pt modelId="{79D7F10A-01D0-4432-9266-FF1D8DA03814}" type="pres">
      <dgm:prSet presAssocID="{B693FC9F-069B-42E5-9970-6297BE64ED2E}" presName="compChildNode" presStyleCnt="0"/>
      <dgm:spPr/>
    </dgm:pt>
    <dgm:pt modelId="{70370444-85E7-4B35-9036-AAD92472B42E}" type="pres">
      <dgm:prSet presAssocID="{B693FC9F-069B-42E5-9970-6297BE64ED2E}" presName="theInnerList" presStyleCnt="0"/>
      <dgm:spPr/>
    </dgm:pt>
    <dgm:pt modelId="{944A54D6-C93D-454B-903E-048F5BA424E6}" type="pres">
      <dgm:prSet presAssocID="{B693FC9F-069B-42E5-9970-6297BE64ED2E}" presName="aSpace" presStyleCnt="0"/>
      <dgm:spPr/>
    </dgm:pt>
    <dgm:pt modelId="{7C03BC9C-465A-4D48-8C28-6843E6918E69}" type="pres">
      <dgm:prSet presAssocID="{5B6B23E7-ACF2-41EA-BC9E-431EDA014C2D}" presName="compNode" presStyleCnt="0"/>
      <dgm:spPr/>
    </dgm:pt>
    <dgm:pt modelId="{425CC79E-80D1-4133-B7B4-6E226B7A4424}" type="pres">
      <dgm:prSet presAssocID="{5B6B23E7-ACF2-41EA-BC9E-431EDA014C2D}" presName="aNode" presStyleLbl="bgShp" presStyleIdx="1" presStyleCnt="2"/>
      <dgm:spPr/>
      <dgm:t>
        <a:bodyPr/>
        <a:lstStyle/>
        <a:p>
          <a:endParaRPr lang="en-IN"/>
        </a:p>
      </dgm:t>
    </dgm:pt>
    <dgm:pt modelId="{24D70AFA-5A23-47DD-BEDD-EF1C9669515D}" type="pres">
      <dgm:prSet presAssocID="{5B6B23E7-ACF2-41EA-BC9E-431EDA014C2D}" presName="textNode" presStyleLbl="bgShp" presStyleIdx="1" presStyleCnt="2"/>
      <dgm:spPr/>
      <dgm:t>
        <a:bodyPr/>
        <a:lstStyle/>
        <a:p>
          <a:endParaRPr lang="en-IN"/>
        </a:p>
      </dgm:t>
    </dgm:pt>
    <dgm:pt modelId="{58E3F921-3CBF-4355-AB80-BC68E1B978A6}" type="pres">
      <dgm:prSet presAssocID="{5B6B23E7-ACF2-41EA-BC9E-431EDA014C2D}" presName="compChildNode" presStyleCnt="0"/>
      <dgm:spPr/>
    </dgm:pt>
    <dgm:pt modelId="{CA1C3122-4731-4ECD-926C-882111C20D06}" type="pres">
      <dgm:prSet presAssocID="{5B6B23E7-ACF2-41EA-BC9E-431EDA014C2D}" presName="theInnerList" presStyleCnt="0"/>
      <dgm:spPr/>
    </dgm:pt>
    <dgm:pt modelId="{E5F36F4A-1FB0-4BEF-9CCC-309E63A705F8}" type="pres">
      <dgm:prSet presAssocID="{3E7368EF-98DA-4340-B2C1-3B6B3C4B9D87}" presName="childNode" presStyleLbl="node1" presStyleIdx="0" presStyleCnt="3" custScaleX="123547" custScaleY="2000000" custLinFactX="-35828" custLinFactY="-1431861" custLinFactNeighborX="-100000" custLinFactNeighborY="-1500000">
        <dgm:presLayoutVars>
          <dgm:bulletEnabled val="1"/>
        </dgm:presLayoutVars>
      </dgm:prSet>
      <dgm:spPr/>
      <dgm:t>
        <a:bodyPr/>
        <a:lstStyle/>
        <a:p>
          <a:endParaRPr lang="en-IN"/>
        </a:p>
      </dgm:t>
    </dgm:pt>
    <dgm:pt modelId="{AE1FEDE9-2306-448A-8309-2B6AE76AD974}" type="pres">
      <dgm:prSet presAssocID="{3E7368EF-98DA-4340-B2C1-3B6B3C4B9D87}" presName="aSpace2" presStyleCnt="0"/>
      <dgm:spPr/>
    </dgm:pt>
    <dgm:pt modelId="{A99C2E96-B3AE-49D8-A35F-B958AB4D1ABA}" type="pres">
      <dgm:prSet presAssocID="{54A69AEB-DB48-4E27-B97D-18FD51AE83D3}" presName="childNode" presStyleLbl="node1" presStyleIdx="1" presStyleCnt="3" custScaleX="113675" custScaleY="2000000" custLinFactX="-37932" custLinFactY="-685814" custLinFactNeighborX="-100000" custLinFactNeighborY="-700000">
        <dgm:presLayoutVars>
          <dgm:bulletEnabled val="1"/>
        </dgm:presLayoutVars>
      </dgm:prSet>
      <dgm:spPr/>
      <dgm:t>
        <a:bodyPr/>
        <a:lstStyle/>
        <a:p>
          <a:endParaRPr lang="en-IN"/>
        </a:p>
      </dgm:t>
    </dgm:pt>
    <dgm:pt modelId="{DD0AA6D6-7605-41AB-A1FE-AFC037728D1E}" type="pres">
      <dgm:prSet presAssocID="{54A69AEB-DB48-4E27-B97D-18FD51AE83D3}" presName="aSpace2" presStyleCnt="0"/>
      <dgm:spPr/>
    </dgm:pt>
    <dgm:pt modelId="{F2446177-FCC6-4EE6-B133-89BF6A447BCE}" type="pres">
      <dgm:prSet presAssocID="{A879441C-F7CB-4D82-9840-182A31437DAE}" presName="childNode" presStyleLbl="node1" presStyleIdx="2" presStyleCnt="3" custScaleX="113411" custScaleY="2000000" custLinFactX="-35828" custLinFactY="-230728" custLinFactNeighborX="-100000" custLinFactNeighborY="-300000">
        <dgm:presLayoutVars>
          <dgm:bulletEnabled val="1"/>
        </dgm:presLayoutVars>
      </dgm:prSet>
      <dgm:spPr/>
      <dgm:t>
        <a:bodyPr/>
        <a:lstStyle/>
        <a:p>
          <a:endParaRPr lang="en-IN"/>
        </a:p>
      </dgm:t>
    </dgm:pt>
  </dgm:ptLst>
  <dgm:cxnLst>
    <dgm:cxn modelId="{6A02C214-17C2-482B-854B-C2D98E5D5446}" srcId="{8ECBB966-0A84-4B92-988C-CCE6F545C1E2}" destId="{5B6B23E7-ACF2-41EA-BC9E-431EDA014C2D}" srcOrd="1" destOrd="0" parTransId="{D5470EE4-B203-47D2-9835-0B554E897873}" sibTransId="{8DBE1890-CAB4-4CD5-9BAB-D6605FABDF3F}"/>
    <dgm:cxn modelId="{B921EBA8-8236-4D11-BBD9-CB16F9B097E4}" type="presOf" srcId="{5B6B23E7-ACF2-41EA-BC9E-431EDA014C2D}" destId="{425CC79E-80D1-4133-B7B4-6E226B7A4424}" srcOrd="0" destOrd="0" presId="urn:microsoft.com/office/officeart/2005/8/layout/lProcess2"/>
    <dgm:cxn modelId="{76223725-73C6-46FA-9872-A6ACC5AB579F}" srcId="{5B6B23E7-ACF2-41EA-BC9E-431EDA014C2D}" destId="{3E7368EF-98DA-4340-B2C1-3B6B3C4B9D87}" srcOrd="0" destOrd="0" parTransId="{AD0BB69B-7B9E-4B10-A268-A646B476CF1A}" sibTransId="{5C2FA02E-CE7F-4D1C-AF16-1033A9F1E8EA}"/>
    <dgm:cxn modelId="{87389428-19E1-47F7-A74C-E05C3322DED5}" type="presOf" srcId="{3E7368EF-98DA-4340-B2C1-3B6B3C4B9D87}" destId="{E5F36F4A-1FB0-4BEF-9CCC-309E63A705F8}" srcOrd="0" destOrd="0" presId="urn:microsoft.com/office/officeart/2005/8/layout/lProcess2"/>
    <dgm:cxn modelId="{5033A757-F92E-4C43-81AA-0CC082990FAA}" srcId="{5B6B23E7-ACF2-41EA-BC9E-431EDA014C2D}" destId="{54A69AEB-DB48-4E27-B97D-18FD51AE83D3}" srcOrd="1" destOrd="0" parTransId="{2A78298E-1003-42AA-B69E-C3FAD7D71B93}" sibTransId="{97233D52-E504-4021-A3CF-8377B2A4B2FD}"/>
    <dgm:cxn modelId="{0DC758E5-E7A2-46D1-922F-9378FE92A2A9}" srcId="{5B6B23E7-ACF2-41EA-BC9E-431EDA014C2D}" destId="{A879441C-F7CB-4D82-9840-182A31437DAE}" srcOrd="2" destOrd="0" parTransId="{C06DD7D1-E085-4E11-8C2D-5B8DC1E06883}" sibTransId="{27275766-8B69-41D6-9903-AAD5C78F6AEC}"/>
    <dgm:cxn modelId="{93FF604C-5D40-4A73-9669-AC80F17991BB}" type="presOf" srcId="{B693FC9F-069B-42E5-9970-6297BE64ED2E}" destId="{87C8EF15-2C9E-4749-BCB3-CF8C34E89D75}" srcOrd="0" destOrd="0" presId="urn:microsoft.com/office/officeart/2005/8/layout/lProcess2"/>
    <dgm:cxn modelId="{76E46481-2E2F-4AC0-BAC4-DBDE7329FCFF}" type="presOf" srcId="{B693FC9F-069B-42E5-9970-6297BE64ED2E}" destId="{9FC35E7A-421C-41B0-9F3B-3E928D237597}" srcOrd="1" destOrd="0" presId="urn:microsoft.com/office/officeart/2005/8/layout/lProcess2"/>
    <dgm:cxn modelId="{68E260E2-FDD6-473E-A436-7DBBA3600ABC}" srcId="{8ECBB966-0A84-4B92-988C-CCE6F545C1E2}" destId="{B693FC9F-069B-42E5-9970-6297BE64ED2E}" srcOrd="0" destOrd="0" parTransId="{6773243B-4759-4FB3-A62D-D0DEA8EC420C}" sibTransId="{1647D917-17A4-439A-BF58-257A242C5434}"/>
    <dgm:cxn modelId="{33659F1E-BEBD-4318-9503-E1883ECC5F23}" type="presOf" srcId="{8ECBB966-0A84-4B92-988C-CCE6F545C1E2}" destId="{BEADE5FF-4CBC-4157-BE15-5A2DBC45143F}" srcOrd="0" destOrd="0" presId="urn:microsoft.com/office/officeart/2005/8/layout/lProcess2"/>
    <dgm:cxn modelId="{8416B820-D253-4652-B061-3CFAED6DFB0E}" type="presOf" srcId="{A879441C-F7CB-4D82-9840-182A31437DAE}" destId="{F2446177-FCC6-4EE6-B133-89BF6A447BCE}" srcOrd="0" destOrd="0" presId="urn:microsoft.com/office/officeart/2005/8/layout/lProcess2"/>
    <dgm:cxn modelId="{D7E0B7CB-9B1F-4C98-BEB1-128BE0BDA5A5}" type="presOf" srcId="{5B6B23E7-ACF2-41EA-BC9E-431EDA014C2D}" destId="{24D70AFA-5A23-47DD-BEDD-EF1C9669515D}" srcOrd="1" destOrd="0" presId="urn:microsoft.com/office/officeart/2005/8/layout/lProcess2"/>
    <dgm:cxn modelId="{8EDECD04-DC8C-4E0F-93FE-CAA88CB6DBEC}" type="presOf" srcId="{54A69AEB-DB48-4E27-B97D-18FD51AE83D3}" destId="{A99C2E96-B3AE-49D8-A35F-B958AB4D1ABA}" srcOrd="0" destOrd="0" presId="urn:microsoft.com/office/officeart/2005/8/layout/lProcess2"/>
    <dgm:cxn modelId="{800421F7-A1D1-4BD7-9D8A-F01593B8AA1E}" type="presParOf" srcId="{BEADE5FF-4CBC-4157-BE15-5A2DBC45143F}" destId="{C35671B2-FA6A-4D6A-A02A-48E418DFED85}" srcOrd="0" destOrd="0" presId="urn:microsoft.com/office/officeart/2005/8/layout/lProcess2"/>
    <dgm:cxn modelId="{80E86B8B-7190-4201-A562-B40789137837}" type="presParOf" srcId="{C35671B2-FA6A-4D6A-A02A-48E418DFED85}" destId="{87C8EF15-2C9E-4749-BCB3-CF8C34E89D75}" srcOrd="0" destOrd="0" presId="urn:microsoft.com/office/officeart/2005/8/layout/lProcess2"/>
    <dgm:cxn modelId="{0798263B-2E26-4B29-BA5B-5944AB672E19}" type="presParOf" srcId="{C35671B2-FA6A-4D6A-A02A-48E418DFED85}" destId="{9FC35E7A-421C-41B0-9F3B-3E928D237597}" srcOrd="1" destOrd="0" presId="urn:microsoft.com/office/officeart/2005/8/layout/lProcess2"/>
    <dgm:cxn modelId="{AE182DBC-7B3D-4AD2-9DC3-016500FC26AA}" type="presParOf" srcId="{C35671B2-FA6A-4D6A-A02A-48E418DFED85}" destId="{79D7F10A-01D0-4432-9266-FF1D8DA03814}" srcOrd="2" destOrd="0" presId="urn:microsoft.com/office/officeart/2005/8/layout/lProcess2"/>
    <dgm:cxn modelId="{DE3A20E3-32A1-45D4-8392-D50D0A99A436}" type="presParOf" srcId="{79D7F10A-01D0-4432-9266-FF1D8DA03814}" destId="{70370444-85E7-4B35-9036-AAD92472B42E}" srcOrd="0" destOrd="0" presId="urn:microsoft.com/office/officeart/2005/8/layout/lProcess2"/>
    <dgm:cxn modelId="{F6146494-92B6-4A33-826F-8B213CFA7F25}" type="presParOf" srcId="{BEADE5FF-4CBC-4157-BE15-5A2DBC45143F}" destId="{944A54D6-C93D-454B-903E-048F5BA424E6}" srcOrd="1" destOrd="0" presId="urn:microsoft.com/office/officeart/2005/8/layout/lProcess2"/>
    <dgm:cxn modelId="{C42B33C0-6E04-43AB-ABB1-22375B92F2F4}" type="presParOf" srcId="{BEADE5FF-4CBC-4157-BE15-5A2DBC45143F}" destId="{7C03BC9C-465A-4D48-8C28-6843E6918E69}" srcOrd="2" destOrd="0" presId="urn:microsoft.com/office/officeart/2005/8/layout/lProcess2"/>
    <dgm:cxn modelId="{35976D1D-9FAF-48AB-B594-39E2F236AEEA}" type="presParOf" srcId="{7C03BC9C-465A-4D48-8C28-6843E6918E69}" destId="{425CC79E-80D1-4133-B7B4-6E226B7A4424}" srcOrd="0" destOrd="0" presId="urn:microsoft.com/office/officeart/2005/8/layout/lProcess2"/>
    <dgm:cxn modelId="{5C531021-B95B-46CD-9120-0EF97E41B996}" type="presParOf" srcId="{7C03BC9C-465A-4D48-8C28-6843E6918E69}" destId="{24D70AFA-5A23-47DD-BEDD-EF1C9669515D}" srcOrd="1" destOrd="0" presId="urn:microsoft.com/office/officeart/2005/8/layout/lProcess2"/>
    <dgm:cxn modelId="{B9D774B9-8ED1-401E-9A47-56D7BC399AAC}" type="presParOf" srcId="{7C03BC9C-465A-4D48-8C28-6843E6918E69}" destId="{58E3F921-3CBF-4355-AB80-BC68E1B978A6}" srcOrd="2" destOrd="0" presId="urn:microsoft.com/office/officeart/2005/8/layout/lProcess2"/>
    <dgm:cxn modelId="{AD3BA674-6286-42D3-9323-0E1EE27A2CE0}" type="presParOf" srcId="{58E3F921-3CBF-4355-AB80-BC68E1B978A6}" destId="{CA1C3122-4731-4ECD-926C-882111C20D06}" srcOrd="0" destOrd="0" presId="urn:microsoft.com/office/officeart/2005/8/layout/lProcess2"/>
    <dgm:cxn modelId="{8E5E8DC9-4232-47B2-AFC2-222B6B9E73FB}" type="presParOf" srcId="{CA1C3122-4731-4ECD-926C-882111C20D06}" destId="{E5F36F4A-1FB0-4BEF-9CCC-309E63A705F8}" srcOrd="0" destOrd="0" presId="urn:microsoft.com/office/officeart/2005/8/layout/lProcess2"/>
    <dgm:cxn modelId="{CD308689-E4C9-4B32-873F-088E27A46772}" type="presParOf" srcId="{CA1C3122-4731-4ECD-926C-882111C20D06}" destId="{AE1FEDE9-2306-448A-8309-2B6AE76AD974}" srcOrd="1" destOrd="0" presId="urn:microsoft.com/office/officeart/2005/8/layout/lProcess2"/>
    <dgm:cxn modelId="{C517F504-A473-445F-B6C4-0FB835991831}" type="presParOf" srcId="{CA1C3122-4731-4ECD-926C-882111C20D06}" destId="{A99C2E96-B3AE-49D8-A35F-B958AB4D1ABA}" srcOrd="2" destOrd="0" presId="urn:microsoft.com/office/officeart/2005/8/layout/lProcess2"/>
    <dgm:cxn modelId="{F59B8B1D-8FCA-45A8-A613-5695567C01AF}" type="presParOf" srcId="{CA1C3122-4731-4ECD-926C-882111C20D06}" destId="{DD0AA6D6-7605-41AB-A1FE-AFC037728D1E}" srcOrd="3" destOrd="0" presId="urn:microsoft.com/office/officeart/2005/8/layout/lProcess2"/>
    <dgm:cxn modelId="{A0A640EE-0FA8-4E0D-B1F5-F1EACB07031C}" type="presParOf" srcId="{CA1C3122-4731-4ECD-926C-882111C20D06}" destId="{F2446177-FCC6-4EE6-B133-89BF6A447BCE}" srcOrd="4" destOrd="0" presId="urn:microsoft.com/office/officeart/2005/8/layout/l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D010D0-A913-44A2-A5D2-6636BF92E2C5}"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IN"/>
        </a:p>
      </dgm:t>
    </dgm:pt>
    <dgm:pt modelId="{7D218FA9-CD96-4328-BAA4-DB7926CC8CE6}">
      <dgm:prSet custT="1"/>
      <dgm:spPr/>
      <dgm:t>
        <a:bodyPr/>
        <a:lstStyle/>
        <a:p>
          <a:pPr rtl="0"/>
          <a:r>
            <a:rPr lang="en-IN" sz="1600" dirty="0" smtClean="0">
              <a:latin typeface="Bookman Old Style" pitchFamily="18" charset="0"/>
            </a:rPr>
            <a:t>Private Entrepreneur: When an entrepreneur starts something personal of his or her own, such as setting up an enterprise, he/she is called a private entrepreneur. A private entrepreneur is the only person who plays the sole proprietor role for a business venture and bears the risk associated with it.</a:t>
          </a:r>
          <a:endParaRPr lang="en-IN" sz="1600" dirty="0">
            <a:latin typeface="Bookman Old Style" pitchFamily="18" charset="0"/>
          </a:endParaRPr>
        </a:p>
      </dgm:t>
    </dgm:pt>
    <dgm:pt modelId="{66B7E8CD-7485-410C-AE3C-811FA9A30350}" type="parTrans" cxnId="{D67C7D1B-6AF4-4A0A-89C4-E8F63E260D7E}">
      <dgm:prSet/>
      <dgm:spPr/>
      <dgm:t>
        <a:bodyPr/>
        <a:lstStyle/>
        <a:p>
          <a:endParaRPr lang="en-IN"/>
        </a:p>
      </dgm:t>
    </dgm:pt>
    <dgm:pt modelId="{6FC45431-351D-4B41-B68D-E928ED78CEE4}" type="sibTrans" cxnId="{D67C7D1B-6AF4-4A0A-89C4-E8F63E260D7E}">
      <dgm:prSet/>
      <dgm:spPr/>
      <dgm:t>
        <a:bodyPr/>
        <a:lstStyle/>
        <a:p>
          <a:endParaRPr lang="en-IN"/>
        </a:p>
      </dgm:t>
    </dgm:pt>
    <dgm:pt modelId="{08AA2A37-8573-4F39-8A03-8CE584C6137A}">
      <dgm:prSet custT="1"/>
      <dgm:spPr/>
      <dgm:t>
        <a:bodyPr/>
        <a:lstStyle/>
        <a:p>
          <a:pPr rtl="0"/>
          <a:r>
            <a:rPr lang="en-IN" sz="1600" dirty="0" smtClean="0">
              <a:latin typeface="Bookman Old Style" pitchFamily="18" charset="0"/>
            </a:rPr>
            <a:t>State Entrepreneur: When a state or government does a business or industrial undertaking, it is referred to as a 'state entrepreneur'. In this case, the government is the sole owner of the enterprise and will bear all the profits and losses involved with it.</a:t>
          </a:r>
          <a:endParaRPr lang="en-IN" sz="1600" dirty="0">
            <a:latin typeface="Bookman Old Style" pitchFamily="18" charset="0"/>
          </a:endParaRPr>
        </a:p>
      </dgm:t>
    </dgm:pt>
    <dgm:pt modelId="{E2F013BC-6979-4854-B53D-783044B5255A}" type="parTrans" cxnId="{1718269C-7263-488B-80BD-1A81788A5B8B}">
      <dgm:prSet/>
      <dgm:spPr/>
      <dgm:t>
        <a:bodyPr/>
        <a:lstStyle/>
        <a:p>
          <a:endParaRPr lang="en-IN"/>
        </a:p>
      </dgm:t>
    </dgm:pt>
    <dgm:pt modelId="{F27A41C8-6809-43B6-9F3C-87EB26C4DA87}" type="sibTrans" cxnId="{1718269C-7263-488B-80BD-1A81788A5B8B}">
      <dgm:prSet/>
      <dgm:spPr/>
      <dgm:t>
        <a:bodyPr/>
        <a:lstStyle/>
        <a:p>
          <a:endParaRPr lang="en-IN"/>
        </a:p>
      </dgm:t>
    </dgm:pt>
    <dgm:pt modelId="{7BE5D3D4-E352-4BD9-A686-B18561DB8963}">
      <dgm:prSet custT="1"/>
      <dgm:spPr/>
      <dgm:t>
        <a:bodyPr/>
        <a:lstStyle/>
        <a:p>
          <a:pPr algn="just" rtl="0"/>
          <a:r>
            <a:rPr lang="en-IN" sz="1800" dirty="0" smtClean="0">
              <a:solidFill>
                <a:schemeClr val="tx1"/>
              </a:solidFill>
              <a:latin typeface="Bookman Old Style" pitchFamily="18" charset="0"/>
            </a:rPr>
            <a:t>Joint Entrepreneurs: When a business or industrial undertaking is established and operated jointly by the private entrepreneur and the </a:t>
          </a:r>
          <a:r>
            <a:rPr lang="en-IN" sz="2000" dirty="0" smtClean="0">
              <a:solidFill>
                <a:schemeClr val="tx1"/>
              </a:solidFill>
              <a:latin typeface="Bookman Old Style" pitchFamily="18" charset="0"/>
            </a:rPr>
            <a:t>government</a:t>
          </a:r>
          <a:r>
            <a:rPr lang="en-IN" sz="1800" dirty="0" smtClean="0">
              <a:solidFill>
                <a:schemeClr val="tx1"/>
              </a:solidFill>
              <a:latin typeface="Bookman Old Style" pitchFamily="18" charset="0"/>
            </a:rPr>
            <a:t>, it is called joint entrepreneurship. The parties involved are called joint entrepreneurs. In this case, risk and profits are shared by both parties. However, the sharing percentages generally depend </a:t>
          </a:r>
          <a:r>
            <a:rPr lang="en-IN" sz="1200" dirty="0" smtClean="0">
              <a:solidFill>
                <a:schemeClr val="tx1"/>
              </a:solidFill>
              <a:latin typeface="Bookman Old Style" pitchFamily="18" charset="0"/>
            </a:rPr>
            <a:t>on the type of business and the agreement between the two parties.</a:t>
          </a:r>
          <a:endParaRPr lang="en-IN" sz="1200" dirty="0">
            <a:solidFill>
              <a:schemeClr val="tx1"/>
            </a:solidFill>
            <a:latin typeface="Bookman Old Style" pitchFamily="18" charset="0"/>
          </a:endParaRPr>
        </a:p>
      </dgm:t>
    </dgm:pt>
    <dgm:pt modelId="{6FA638F5-AF67-4CEF-B207-574CE2F9B9A7}" type="parTrans" cxnId="{BE22CA80-5CF0-40B6-BC48-1745D8517D0A}">
      <dgm:prSet/>
      <dgm:spPr/>
      <dgm:t>
        <a:bodyPr/>
        <a:lstStyle/>
        <a:p>
          <a:endParaRPr lang="en-IN"/>
        </a:p>
      </dgm:t>
    </dgm:pt>
    <dgm:pt modelId="{14E66A44-4869-40AF-8AF1-67D650DE18E3}" type="sibTrans" cxnId="{BE22CA80-5CF0-40B6-BC48-1745D8517D0A}">
      <dgm:prSet/>
      <dgm:spPr/>
      <dgm:t>
        <a:bodyPr/>
        <a:lstStyle/>
        <a:p>
          <a:endParaRPr lang="en-IN"/>
        </a:p>
      </dgm:t>
    </dgm:pt>
    <dgm:pt modelId="{BE270758-7FE4-4A2E-B5EB-E936EA5CA041}" type="pres">
      <dgm:prSet presAssocID="{55D010D0-A913-44A2-A5D2-6636BF92E2C5}" presName="Name0" presStyleCnt="0">
        <dgm:presLayoutVars>
          <dgm:dir/>
          <dgm:animLvl val="lvl"/>
          <dgm:resizeHandles val="exact"/>
        </dgm:presLayoutVars>
      </dgm:prSet>
      <dgm:spPr/>
      <dgm:t>
        <a:bodyPr/>
        <a:lstStyle/>
        <a:p>
          <a:endParaRPr lang="en-IN"/>
        </a:p>
      </dgm:t>
    </dgm:pt>
    <dgm:pt modelId="{15815064-9A03-4EC4-BFE8-76972FD8168E}" type="pres">
      <dgm:prSet presAssocID="{7D218FA9-CD96-4328-BAA4-DB7926CC8CE6}" presName="linNode" presStyleCnt="0"/>
      <dgm:spPr/>
    </dgm:pt>
    <dgm:pt modelId="{C987F149-34D0-479C-9959-6BFB3A6130A7}" type="pres">
      <dgm:prSet presAssocID="{7D218FA9-CD96-4328-BAA4-DB7926CC8CE6}" presName="parentText" presStyleLbl="node1" presStyleIdx="0" presStyleCnt="3" custScaleX="165913" custLinFactNeighborX="-91283" custLinFactNeighborY="3679">
        <dgm:presLayoutVars>
          <dgm:chMax val="1"/>
          <dgm:bulletEnabled val="1"/>
        </dgm:presLayoutVars>
      </dgm:prSet>
      <dgm:spPr/>
      <dgm:t>
        <a:bodyPr/>
        <a:lstStyle/>
        <a:p>
          <a:endParaRPr lang="en-IN"/>
        </a:p>
      </dgm:t>
    </dgm:pt>
    <dgm:pt modelId="{38E997F7-5BD3-401D-81DF-F2255192E2C8}" type="pres">
      <dgm:prSet presAssocID="{6FC45431-351D-4B41-B68D-E928ED78CEE4}" presName="sp" presStyleCnt="0"/>
      <dgm:spPr/>
    </dgm:pt>
    <dgm:pt modelId="{428FD7E3-A50E-4F24-AA6A-6429FD787973}" type="pres">
      <dgm:prSet presAssocID="{08AA2A37-8573-4F39-8A03-8CE584C6137A}" presName="linNode" presStyleCnt="0"/>
      <dgm:spPr/>
    </dgm:pt>
    <dgm:pt modelId="{22697F27-1086-413D-B3C4-DBA7454C2A58}" type="pres">
      <dgm:prSet presAssocID="{08AA2A37-8573-4F39-8A03-8CE584C6137A}" presName="parentText" presStyleLbl="node1" presStyleIdx="1" presStyleCnt="3" custScaleX="168362" custScaleY="83000" custLinFactNeighborX="-50030" custLinFactNeighborY="-5548">
        <dgm:presLayoutVars>
          <dgm:chMax val="1"/>
          <dgm:bulletEnabled val="1"/>
        </dgm:presLayoutVars>
      </dgm:prSet>
      <dgm:spPr/>
      <dgm:t>
        <a:bodyPr/>
        <a:lstStyle/>
        <a:p>
          <a:endParaRPr lang="en-IN"/>
        </a:p>
      </dgm:t>
    </dgm:pt>
    <dgm:pt modelId="{CBAF8F48-CA56-4C1B-ADBA-1167558D1416}" type="pres">
      <dgm:prSet presAssocID="{F27A41C8-6809-43B6-9F3C-87EB26C4DA87}" presName="sp" presStyleCnt="0"/>
      <dgm:spPr/>
    </dgm:pt>
    <dgm:pt modelId="{54AD4BA0-96A6-4C3A-AF7B-E915C13DDCF4}" type="pres">
      <dgm:prSet presAssocID="{7BE5D3D4-E352-4BD9-A686-B18561DB8963}" presName="linNode" presStyleCnt="0"/>
      <dgm:spPr/>
    </dgm:pt>
    <dgm:pt modelId="{4857EF42-52D0-488E-A7DE-DB83ACFCF5E6}" type="pres">
      <dgm:prSet presAssocID="{7BE5D3D4-E352-4BD9-A686-B18561DB8963}" presName="parentText" presStyleLbl="node1" presStyleIdx="2" presStyleCnt="3" custScaleX="173070" custScaleY="122912" custLinFactNeighborX="-60576" custLinFactNeighborY="-10945">
        <dgm:presLayoutVars>
          <dgm:chMax val="1"/>
          <dgm:bulletEnabled val="1"/>
        </dgm:presLayoutVars>
      </dgm:prSet>
      <dgm:spPr/>
      <dgm:t>
        <a:bodyPr/>
        <a:lstStyle/>
        <a:p>
          <a:endParaRPr lang="en-IN"/>
        </a:p>
      </dgm:t>
    </dgm:pt>
  </dgm:ptLst>
  <dgm:cxnLst>
    <dgm:cxn modelId="{9854C58C-AC6F-4281-8DA2-9E52EB117A41}" type="presOf" srcId="{7BE5D3D4-E352-4BD9-A686-B18561DB8963}" destId="{4857EF42-52D0-488E-A7DE-DB83ACFCF5E6}" srcOrd="0" destOrd="0" presId="urn:microsoft.com/office/officeart/2005/8/layout/vList5"/>
    <dgm:cxn modelId="{1718269C-7263-488B-80BD-1A81788A5B8B}" srcId="{55D010D0-A913-44A2-A5D2-6636BF92E2C5}" destId="{08AA2A37-8573-4F39-8A03-8CE584C6137A}" srcOrd="1" destOrd="0" parTransId="{E2F013BC-6979-4854-B53D-783044B5255A}" sibTransId="{F27A41C8-6809-43B6-9F3C-87EB26C4DA87}"/>
    <dgm:cxn modelId="{D67C7D1B-6AF4-4A0A-89C4-E8F63E260D7E}" srcId="{55D010D0-A913-44A2-A5D2-6636BF92E2C5}" destId="{7D218FA9-CD96-4328-BAA4-DB7926CC8CE6}" srcOrd="0" destOrd="0" parTransId="{66B7E8CD-7485-410C-AE3C-811FA9A30350}" sibTransId="{6FC45431-351D-4B41-B68D-E928ED78CEE4}"/>
    <dgm:cxn modelId="{B764F170-50D6-46C7-A29D-B99DDE7EA32B}" type="presOf" srcId="{08AA2A37-8573-4F39-8A03-8CE584C6137A}" destId="{22697F27-1086-413D-B3C4-DBA7454C2A58}" srcOrd="0" destOrd="0" presId="urn:microsoft.com/office/officeart/2005/8/layout/vList5"/>
    <dgm:cxn modelId="{BE22CA80-5CF0-40B6-BC48-1745D8517D0A}" srcId="{55D010D0-A913-44A2-A5D2-6636BF92E2C5}" destId="{7BE5D3D4-E352-4BD9-A686-B18561DB8963}" srcOrd="2" destOrd="0" parTransId="{6FA638F5-AF67-4CEF-B207-574CE2F9B9A7}" sibTransId="{14E66A44-4869-40AF-8AF1-67D650DE18E3}"/>
    <dgm:cxn modelId="{62CFE5F0-3FCE-4927-8A09-A6C2C60B184D}" type="presOf" srcId="{7D218FA9-CD96-4328-BAA4-DB7926CC8CE6}" destId="{C987F149-34D0-479C-9959-6BFB3A6130A7}" srcOrd="0" destOrd="0" presId="urn:microsoft.com/office/officeart/2005/8/layout/vList5"/>
    <dgm:cxn modelId="{EF8FF928-5C32-4903-8CCB-51452693AA0C}" type="presOf" srcId="{55D010D0-A913-44A2-A5D2-6636BF92E2C5}" destId="{BE270758-7FE4-4A2E-B5EB-E936EA5CA041}" srcOrd="0" destOrd="0" presId="urn:microsoft.com/office/officeart/2005/8/layout/vList5"/>
    <dgm:cxn modelId="{4A0DA7A1-7BB3-4523-9F38-263F0175E1C9}" type="presParOf" srcId="{BE270758-7FE4-4A2E-B5EB-E936EA5CA041}" destId="{15815064-9A03-4EC4-BFE8-76972FD8168E}" srcOrd="0" destOrd="0" presId="urn:microsoft.com/office/officeart/2005/8/layout/vList5"/>
    <dgm:cxn modelId="{241FF7C0-9223-4716-B0E1-2551EC1EE484}" type="presParOf" srcId="{15815064-9A03-4EC4-BFE8-76972FD8168E}" destId="{C987F149-34D0-479C-9959-6BFB3A6130A7}" srcOrd="0" destOrd="0" presId="urn:microsoft.com/office/officeart/2005/8/layout/vList5"/>
    <dgm:cxn modelId="{238AF27A-7D2E-4C79-9399-DA9951BB209A}" type="presParOf" srcId="{BE270758-7FE4-4A2E-B5EB-E936EA5CA041}" destId="{38E997F7-5BD3-401D-81DF-F2255192E2C8}" srcOrd="1" destOrd="0" presId="urn:microsoft.com/office/officeart/2005/8/layout/vList5"/>
    <dgm:cxn modelId="{6CAECF4B-93B4-4D20-BD13-F4019D6EECCA}" type="presParOf" srcId="{BE270758-7FE4-4A2E-B5EB-E936EA5CA041}" destId="{428FD7E3-A50E-4F24-AA6A-6429FD787973}" srcOrd="2" destOrd="0" presId="urn:microsoft.com/office/officeart/2005/8/layout/vList5"/>
    <dgm:cxn modelId="{8EB0ACD2-804F-4AC1-8EBF-E3489565E6A0}" type="presParOf" srcId="{428FD7E3-A50E-4F24-AA6A-6429FD787973}" destId="{22697F27-1086-413D-B3C4-DBA7454C2A58}" srcOrd="0" destOrd="0" presId="urn:microsoft.com/office/officeart/2005/8/layout/vList5"/>
    <dgm:cxn modelId="{147433D0-BABB-49C8-8625-08D9657F4507}" type="presParOf" srcId="{BE270758-7FE4-4A2E-B5EB-E936EA5CA041}" destId="{CBAF8F48-CA56-4C1B-ADBA-1167558D1416}" srcOrd="3" destOrd="0" presId="urn:microsoft.com/office/officeart/2005/8/layout/vList5"/>
    <dgm:cxn modelId="{C5B7221E-F9C9-49FC-B804-F4B0CC16DDB0}" type="presParOf" srcId="{BE270758-7FE4-4A2E-B5EB-E936EA5CA041}" destId="{54AD4BA0-96A6-4C3A-AF7B-E915C13DDCF4}" srcOrd="4" destOrd="0" presId="urn:microsoft.com/office/officeart/2005/8/layout/vList5"/>
    <dgm:cxn modelId="{5527EF9D-66FA-4860-9551-0B9785EFC026}" type="presParOf" srcId="{54AD4BA0-96A6-4C3A-AF7B-E915C13DDCF4}" destId="{4857EF42-52D0-488E-A7DE-DB83ACFCF5E6}" srcOrd="0" destOrd="0" presId="urn:microsoft.com/office/officeart/2005/8/layout/vList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794E84-C6BA-4DCA-8BF1-0364822CA282}" type="doc">
      <dgm:prSet loTypeId="urn:microsoft.com/office/officeart/2005/8/layout/matrix3" loCatId="matrix" qsTypeId="urn:microsoft.com/office/officeart/2005/8/quickstyle/simple1" qsCatId="simple" csTypeId="urn:microsoft.com/office/officeart/2005/8/colors/accent0_1" csCatId="mainScheme" phldr="1"/>
      <dgm:spPr/>
      <dgm:t>
        <a:bodyPr/>
        <a:lstStyle/>
        <a:p>
          <a:endParaRPr lang="en-IN"/>
        </a:p>
      </dgm:t>
    </dgm:pt>
    <dgm:pt modelId="{2D3B81C5-957A-4045-A8A7-443197ABB510}">
      <dgm:prSet/>
      <dgm:spPr/>
      <dgm:t>
        <a:bodyPr/>
        <a:lstStyle/>
        <a:p>
          <a:pPr rtl="0"/>
          <a:r>
            <a:rPr lang="en-IN"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Other Types of Entrepreneurs</a:t>
          </a:r>
          <a:endParaRPr lang="en-IN"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dgm:t>
    </dgm:pt>
    <dgm:pt modelId="{D23A6D83-BD7F-499B-AB68-E57E66BBBD36}" type="parTrans" cxnId="{C6C40162-2324-438F-9FC3-99E9500D18C4}">
      <dgm:prSet/>
      <dgm:spPr/>
      <dgm:t>
        <a:bodyPr/>
        <a:lstStyle/>
        <a:p>
          <a:endParaRPr lang="en-IN"/>
        </a:p>
      </dgm:t>
    </dgm:pt>
    <dgm:pt modelId="{6CF553C4-0807-4895-A83A-EC02DF49B117}" type="sibTrans" cxnId="{C6C40162-2324-438F-9FC3-99E9500D18C4}">
      <dgm:prSet/>
      <dgm:spPr/>
      <dgm:t>
        <a:bodyPr/>
        <a:lstStyle/>
        <a:p>
          <a:endParaRPr lang="en-IN"/>
        </a:p>
      </dgm:t>
    </dgm:pt>
    <dgm:pt modelId="{F22EA7D9-80A8-4B1B-9694-57ACC7DD291B}">
      <dgm:prSet custT="1"/>
      <dgm:spPr/>
      <dgm:t>
        <a:bodyPr/>
        <a:lstStyle/>
        <a:p>
          <a:pPr algn="just" rtl="0"/>
          <a:r>
            <a:rPr lang="en-IN" sz="1200" b="1" dirty="0" smtClean="0">
              <a:solidFill>
                <a:srgbClr val="FF0000"/>
              </a:solidFill>
              <a:latin typeface="Bookman Old Style" pitchFamily="18" charset="0"/>
            </a:rPr>
            <a:t>Solo Operators:</a:t>
          </a:r>
          <a:r>
            <a:rPr lang="en-IN" sz="1200" dirty="0" smtClean="0">
              <a:solidFill>
                <a:srgbClr val="FF0000"/>
              </a:solidFill>
              <a:latin typeface="Bookman Old Style" pitchFamily="18" charset="0"/>
            </a:rPr>
            <a:t> </a:t>
          </a:r>
          <a:r>
            <a:rPr lang="en-IN" sz="1200" dirty="0" smtClean="0">
              <a:latin typeface="Bookman Old Style" pitchFamily="18" charset="0"/>
            </a:rPr>
            <a:t>Solo operators include those types of entrepreneurs who start their work primarily alone. However, these entrepreneurs employ few employees if they require. It is the most common type of entrepreneur, and most people start their ventures like solo operators.</a:t>
          </a:r>
          <a:endParaRPr lang="en-IN" sz="1200" dirty="0">
            <a:latin typeface="Bookman Old Style" pitchFamily="18" charset="0"/>
          </a:endParaRPr>
        </a:p>
      </dgm:t>
    </dgm:pt>
    <dgm:pt modelId="{2D79AC99-B97B-423C-BDA9-FBC7FDB08E44}" type="parTrans" cxnId="{FDEE73B4-E909-45BE-B30C-153E241D086E}">
      <dgm:prSet/>
      <dgm:spPr/>
      <dgm:t>
        <a:bodyPr/>
        <a:lstStyle/>
        <a:p>
          <a:endParaRPr lang="en-IN"/>
        </a:p>
      </dgm:t>
    </dgm:pt>
    <dgm:pt modelId="{55100E03-2E61-450B-BB9C-E794FB562D43}" type="sibTrans" cxnId="{FDEE73B4-E909-45BE-B30C-153E241D086E}">
      <dgm:prSet/>
      <dgm:spPr/>
      <dgm:t>
        <a:bodyPr/>
        <a:lstStyle/>
        <a:p>
          <a:endParaRPr lang="en-IN"/>
        </a:p>
      </dgm:t>
    </dgm:pt>
    <dgm:pt modelId="{1679B19A-EBD6-4140-B91A-0E05A6C8C6A4}">
      <dgm:prSet custT="1"/>
      <dgm:spPr/>
      <dgm:t>
        <a:bodyPr/>
        <a:lstStyle/>
        <a:p>
          <a:pPr algn="just" rtl="0"/>
          <a:r>
            <a:rPr lang="en-IN" sz="1050" b="1" dirty="0" smtClean="0">
              <a:solidFill>
                <a:srgbClr val="FF0000"/>
              </a:solidFill>
              <a:latin typeface="Bookman Old Style" pitchFamily="18" charset="0"/>
            </a:rPr>
            <a:t>Active Partners</a:t>
          </a:r>
          <a:r>
            <a:rPr lang="en-IN" sz="1100" dirty="0" smtClean="0">
              <a:solidFill>
                <a:srgbClr val="FF0000"/>
              </a:solidFill>
              <a:latin typeface="Bookman Old Style" pitchFamily="18" charset="0"/>
            </a:rPr>
            <a:t>: </a:t>
          </a:r>
          <a:r>
            <a:rPr lang="en-IN" sz="1100" dirty="0" smtClean="0">
              <a:latin typeface="Bookman Old Style" pitchFamily="18" charset="0"/>
            </a:rPr>
            <a:t>Active partners include entrepreneurs who jointly start their ventures. This may include two or more people. However, each person should have equal participation in the operation of the business. Besides, when the entrepreneurs support only with the money but do not actively participate in the business's operation, they are just called 'partners'.</a:t>
          </a:r>
          <a:endParaRPr lang="en-IN" sz="1050" dirty="0">
            <a:latin typeface="Bookman Old Style" pitchFamily="18" charset="0"/>
          </a:endParaRPr>
        </a:p>
      </dgm:t>
    </dgm:pt>
    <dgm:pt modelId="{43B6DF2F-100C-4D4D-A16C-51BCE303DEAB}" type="parTrans" cxnId="{874EDFD0-DC58-42D3-80A1-2BCBB357E9F1}">
      <dgm:prSet/>
      <dgm:spPr/>
      <dgm:t>
        <a:bodyPr/>
        <a:lstStyle/>
        <a:p>
          <a:endParaRPr lang="en-IN"/>
        </a:p>
      </dgm:t>
    </dgm:pt>
    <dgm:pt modelId="{EF6B2CC4-F993-4E1B-9324-A5D0FB89827C}" type="sibTrans" cxnId="{874EDFD0-DC58-42D3-80A1-2BCBB357E9F1}">
      <dgm:prSet/>
      <dgm:spPr/>
      <dgm:t>
        <a:bodyPr/>
        <a:lstStyle/>
        <a:p>
          <a:endParaRPr lang="en-IN"/>
        </a:p>
      </dgm:t>
    </dgm:pt>
    <dgm:pt modelId="{5B151FE3-C9D7-4754-AFB3-E16DF56493CC}">
      <dgm:prSet custT="1"/>
      <dgm:spPr/>
      <dgm:t>
        <a:bodyPr/>
        <a:lstStyle/>
        <a:p>
          <a:pPr algn="just" rtl="0"/>
          <a:r>
            <a:rPr lang="en-IN" sz="1400" dirty="0" smtClean="0">
              <a:solidFill>
                <a:srgbClr val="FF0000"/>
              </a:solidFill>
              <a:latin typeface="Bookman Old Style" pitchFamily="18" charset="0"/>
            </a:rPr>
            <a:t>Inventors: </a:t>
          </a:r>
          <a:r>
            <a:rPr lang="en-IN" sz="1400" dirty="0" smtClean="0">
              <a:latin typeface="Bookman Old Style" pitchFamily="18" charset="0"/>
            </a:rPr>
            <a:t>Inventors include entrepreneurs who work effectively and invent new products, using their ability and inventiveness. These entrepreneurs are generally primarily interested in innovative strategies</a:t>
          </a:r>
          <a:r>
            <a:rPr lang="en-IN" sz="1300" dirty="0" smtClean="0"/>
            <a:t>.</a:t>
          </a:r>
          <a:endParaRPr lang="en-IN" sz="1300" dirty="0"/>
        </a:p>
      </dgm:t>
    </dgm:pt>
    <dgm:pt modelId="{8620290C-29CB-4B3C-9B30-DACBDDDDFB4B}" type="parTrans" cxnId="{8F817700-E602-4317-AC71-CECFA3AB5539}">
      <dgm:prSet/>
      <dgm:spPr/>
      <dgm:t>
        <a:bodyPr/>
        <a:lstStyle/>
        <a:p>
          <a:endParaRPr lang="en-IN"/>
        </a:p>
      </dgm:t>
    </dgm:pt>
    <dgm:pt modelId="{5DC1E0BF-5BB3-42DC-B232-0AF3742FE3EE}" type="sibTrans" cxnId="{8F817700-E602-4317-AC71-CECFA3AB5539}">
      <dgm:prSet/>
      <dgm:spPr/>
      <dgm:t>
        <a:bodyPr/>
        <a:lstStyle/>
        <a:p>
          <a:endParaRPr lang="en-IN"/>
        </a:p>
      </dgm:t>
    </dgm:pt>
    <dgm:pt modelId="{A4C347A6-5D0B-4896-820C-F7FBD476EF7D}">
      <dgm:prSet/>
      <dgm:spPr/>
      <dgm:t>
        <a:bodyPr/>
        <a:lstStyle/>
        <a:p>
          <a:endParaRPr lang="en-IN"/>
        </a:p>
      </dgm:t>
    </dgm:pt>
    <dgm:pt modelId="{652B7962-CFB1-4D32-8653-A31EC69C821D}" type="parTrans" cxnId="{80E94A47-6497-4E9B-8D4B-2C16788D6B53}">
      <dgm:prSet/>
      <dgm:spPr/>
      <dgm:t>
        <a:bodyPr/>
        <a:lstStyle/>
        <a:p>
          <a:endParaRPr lang="en-IN"/>
        </a:p>
      </dgm:t>
    </dgm:pt>
    <dgm:pt modelId="{906AE670-DB39-48C1-9D28-565B0D617011}" type="sibTrans" cxnId="{80E94A47-6497-4E9B-8D4B-2C16788D6B53}">
      <dgm:prSet/>
      <dgm:spPr/>
      <dgm:t>
        <a:bodyPr/>
        <a:lstStyle/>
        <a:p>
          <a:endParaRPr lang="en-IN"/>
        </a:p>
      </dgm:t>
    </dgm:pt>
    <dgm:pt modelId="{7D05144C-34F3-435D-B91E-13264461AA01}">
      <dgm:prSet/>
      <dgm:spPr/>
      <dgm:t>
        <a:bodyPr/>
        <a:lstStyle/>
        <a:p>
          <a:endParaRPr lang="en-IN"/>
        </a:p>
      </dgm:t>
    </dgm:pt>
    <dgm:pt modelId="{BFD4A4D5-3817-43EF-97AE-AFE9B32E1F8E}" type="parTrans" cxnId="{0085BA79-CED6-42A6-B11D-5231DE8B685D}">
      <dgm:prSet/>
      <dgm:spPr/>
      <dgm:t>
        <a:bodyPr/>
        <a:lstStyle/>
        <a:p>
          <a:endParaRPr lang="en-IN"/>
        </a:p>
      </dgm:t>
    </dgm:pt>
    <dgm:pt modelId="{23D7FFBB-53F6-4864-9E8D-570F3FBEC37C}" type="sibTrans" cxnId="{0085BA79-CED6-42A6-B11D-5231DE8B685D}">
      <dgm:prSet/>
      <dgm:spPr/>
      <dgm:t>
        <a:bodyPr/>
        <a:lstStyle/>
        <a:p>
          <a:endParaRPr lang="en-IN"/>
        </a:p>
      </dgm:t>
    </dgm:pt>
    <dgm:pt modelId="{AEFAAEB5-2015-40F7-88CD-A07F7812E32D}">
      <dgm:prSet/>
      <dgm:spPr/>
      <dgm:t>
        <a:bodyPr/>
        <a:lstStyle/>
        <a:p>
          <a:endParaRPr lang="en-IN"/>
        </a:p>
      </dgm:t>
    </dgm:pt>
    <dgm:pt modelId="{4D7F5070-1D7C-498D-8996-50DFBF56C21B}" type="parTrans" cxnId="{9C05419F-DD9B-421E-B344-EFA01A9A7C46}">
      <dgm:prSet/>
      <dgm:spPr/>
      <dgm:t>
        <a:bodyPr/>
        <a:lstStyle/>
        <a:p>
          <a:endParaRPr lang="en-IN"/>
        </a:p>
      </dgm:t>
    </dgm:pt>
    <dgm:pt modelId="{9226BD57-7664-44DB-8A17-48EA4E848F2A}" type="sibTrans" cxnId="{9C05419F-DD9B-421E-B344-EFA01A9A7C46}">
      <dgm:prSet/>
      <dgm:spPr/>
      <dgm:t>
        <a:bodyPr/>
        <a:lstStyle/>
        <a:p>
          <a:endParaRPr lang="en-IN"/>
        </a:p>
      </dgm:t>
    </dgm:pt>
    <dgm:pt modelId="{E4EFB6C3-2408-4DDF-AD56-9C304100B648}">
      <dgm:prSet/>
      <dgm:spPr/>
      <dgm:t>
        <a:bodyPr/>
        <a:lstStyle/>
        <a:p>
          <a:endParaRPr lang="en-IN"/>
        </a:p>
      </dgm:t>
    </dgm:pt>
    <dgm:pt modelId="{1B8AF647-07B3-46FF-B4B0-A062D19448A7}" type="parTrans" cxnId="{822AC274-670F-46F9-9370-52EDDD79D0D0}">
      <dgm:prSet/>
      <dgm:spPr/>
      <dgm:t>
        <a:bodyPr/>
        <a:lstStyle/>
        <a:p>
          <a:endParaRPr lang="en-IN"/>
        </a:p>
      </dgm:t>
    </dgm:pt>
    <dgm:pt modelId="{4AD7D03D-8952-4D8A-973F-526F95592899}" type="sibTrans" cxnId="{822AC274-670F-46F9-9370-52EDDD79D0D0}">
      <dgm:prSet/>
      <dgm:spPr/>
      <dgm:t>
        <a:bodyPr/>
        <a:lstStyle/>
        <a:p>
          <a:endParaRPr lang="en-IN"/>
        </a:p>
      </dgm:t>
    </dgm:pt>
    <dgm:pt modelId="{4A52E7D7-18BA-4575-B566-B34DD88BAA00}">
      <dgm:prSet/>
      <dgm:spPr/>
      <dgm:t>
        <a:bodyPr/>
        <a:lstStyle/>
        <a:p>
          <a:pPr rtl="0"/>
          <a:endParaRPr lang="en-IN" dirty="0"/>
        </a:p>
      </dgm:t>
    </dgm:pt>
    <dgm:pt modelId="{B606FD37-9A72-4A57-8081-C1D0E9ABB9D5}" type="parTrans" cxnId="{73A5BE13-073A-407D-BE6A-5FFB99EE92AD}">
      <dgm:prSet/>
      <dgm:spPr/>
      <dgm:t>
        <a:bodyPr/>
        <a:lstStyle/>
        <a:p>
          <a:endParaRPr lang="en-IN"/>
        </a:p>
      </dgm:t>
    </dgm:pt>
    <dgm:pt modelId="{4B5BC4E5-9D4D-4A2D-BA31-C6E21271FEFD}" type="sibTrans" cxnId="{73A5BE13-073A-407D-BE6A-5FFB99EE92AD}">
      <dgm:prSet/>
      <dgm:spPr/>
      <dgm:t>
        <a:bodyPr/>
        <a:lstStyle/>
        <a:p>
          <a:endParaRPr lang="en-IN"/>
        </a:p>
      </dgm:t>
    </dgm:pt>
    <dgm:pt modelId="{AAA04DDF-35B8-45F2-91A6-9993E4BCA721}" type="pres">
      <dgm:prSet presAssocID="{73794E84-C6BA-4DCA-8BF1-0364822CA282}" presName="matrix" presStyleCnt="0">
        <dgm:presLayoutVars>
          <dgm:chMax val="1"/>
          <dgm:dir/>
          <dgm:resizeHandles val="exact"/>
        </dgm:presLayoutVars>
      </dgm:prSet>
      <dgm:spPr/>
      <dgm:t>
        <a:bodyPr/>
        <a:lstStyle/>
        <a:p>
          <a:endParaRPr lang="en-IN"/>
        </a:p>
      </dgm:t>
    </dgm:pt>
    <dgm:pt modelId="{6C015487-BDE8-4FE5-94C2-6C2B3CCBAF6C}" type="pres">
      <dgm:prSet presAssocID="{73794E84-C6BA-4DCA-8BF1-0364822CA282}" presName="diamond" presStyleLbl="bgShp" presStyleIdx="0" presStyleCnt="1">
        <dgm:style>
          <a:lnRef idx="2">
            <a:schemeClr val="dk1"/>
          </a:lnRef>
          <a:fillRef idx="1">
            <a:schemeClr val="lt1"/>
          </a:fillRef>
          <a:effectRef idx="0">
            <a:schemeClr val="dk1"/>
          </a:effectRef>
          <a:fontRef idx="minor">
            <a:schemeClr val="dk1"/>
          </a:fontRef>
        </dgm:style>
      </dgm:prSet>
      <dgm:spPr/>
      <dgm:t>
        <a:bodyPr/>
        <a:lstStyle/>
        <a:p>
          <a:endParaRPr lang="en-IN"/>
        </a:p>
      </dgm:t>
    </dgm:pt>
    <dgm:pt modelId="{2D3E6E01-2E50-4650-812F-6F6910B9B2AD}" type="pres">
      <dgm:prSet presAssocID="{73794E84-C6BA-4DCA-8BF1-0364822CA282}" presName="quad1" presStyleLbl="node1" presStyleIdx="0" presStyleCnt="4" custScaleY="19203" custLinFactNeighborX="-64075" custLinFactNeighborY="-52864">
        <dgm:presLayoutVars>
          <dgm:chMax val="0"/>
          <dgm:chPref val="0"/>
          <dgm:bulletEnabled val="1"/>
        </dgm:presLayoutVars>
      </dgm:prSet>
      <dgm:spPr/>
      <dgm:t>
        <a:bodyPr/>
        <a:lstStyle/>
        <a:p>
          <a:endParaRPr lang="en-IN"/>
        </a:p>
      </dgm:t>
    </dgm:pt>
    <dgm:pt modelId="{98A44FC3-7FE1-4D2C-B751-6786D654C08B}" type="pres">
      <dgm:prSet presAssocID="{73794E84-C6BA-4DCA-8BF1-0364822CA282}" presName="quad2" presStyleLbl="node1" presStyleIdx="1" presStyleCnt="4" custScaleX="115003" custLinFactX="-84724" custLinFactNeighborX="-100000" custLinFactNeighborY="6737">
        <dgm:presLayoutVars>
          <dgm:chMax val="0"/>
          <dgm:chPref val="0"/>
          <dgm:bulletEnabled val="1"/>
        </dgm:presLayoutVars>
      </dgm:prSet>
      <dgm:spPr/>
      <dgm:t>
        <a:bodyPr/>
        <a:lstStyle/>
        <a:p>
          <a:endParaRPr lang="en-IN"/>
        </a:p>
      </dgm:t>
    </dgm:pt>
    <dgm:pt modelId="{C0CFB104-7FA1-487A-881F-9D385380D776}" type="pres">
      <dgm:prSet presAssocID="{73794E84-C6BA-4DCA-8BF1-0364822CA282}" presName="quad3" presStyleLbl="node1" presStyleIdx="2" presStyleCnt="4" custScaleX="108892" custLinFactY="-955" custLinFactNeighborX="41135" custLinFactNeighborY="-100000">
        <dgm:presLayoutVars>
          <dgm:chMax val="0"/>
          <dgm:chPref val="0"/>
          <dgm:bulletEnabled val="1"/>
        </dgm:presLayoutVars>
      </dgm:prSet>
      <dgm:spPr/>
      <dgm:t>
        <a:bodyPr/>
        <a:lstStyle/>
        <a:p>
          <a:endParaRPr lang="en-IN"/>
        </a:p>
      </dgm:t>
    </dgm:pt>
    <dgm:pt modelId="{E0213AE8-6237-4D8A-851D-7CB04ED22ABE}" type="pres">
      <dgm:prSet presAssocID="{73794E84-C6BA-4DCA-8BF1-0364822CA282}" presName="quad4" presStyleLbl="node1" presStyleIdx="3" presStyleCnt="4" custScaleX="115111" custLinFactY="-955" custLinFactNeighborX="54773" custLinFactNeighborY="-100000">
        <dgm:presLayoutVars>
          <dgm:chMax val="0"/>
          <dgm:chPref val="0"/>
          <dgm:bulletEnabled val="1"/>
        </dgm:presLayoutVars>
      </dgm:prSet>
      <dgm:spPr/>
      <dgm:t>
        <a:bodyPr/>
        <a:lstStyle/>
        <a:p>
          <a:endParaRPr lang="en-IN"/>
        </a:p>
      </dgm:t>
    </dgm:pt>
  </dgm:ptLst>
  <dgm:cxnLst>
    <dgm:cxn modelId="{874EDFD0-DC58-42D3-80A1-2BCBB357E9F1}" srcId="{73794E84-C6BA-4DCA-8BF1-0364822CA282}" destId="{1679B19A-EBD6-4140-B91A-0E05A6C8C6A4}" srcOrd="2" destOrd="0" parTransId="{43B6DF2F-100C-4D4D-A16C-51BCE303DEAB}" sibTransId="{EF6B2CC4-F993-4E1B-9324-A5D0FB89827C}"/>
    <dgm:cxn modelId="{80E94A47-6497-4E9B-8D4B-2C16788D6B53}" srcId="{73794E84-C6BA-4DCA-8BF1-0364822CA282}" destId="{A4C347A6-5D0B-4896-820C-F7FBD476EF7D}" srcOrd="4" destOrd="0" parTransId="{652B7962-CFB1-4D32-8653-A31EC69C821D}" sibTransId="{906AE670-DB39-48C1-9D28-565B0D617011}"/>
    <dgm:cxn modelId="{73A5BE13-073A-407D-BE6A-5FFB99EE92AD}" srcId="{73794E84-C6BA-4DCA-8BF1-0364822CA282}" destId="{4A52E7D7-18BA-4575-B566-B34DD88BAA00}" srcOrd="8" destOrd="0" parTransId="{B606FD37-9A72-4A57-8081-C1D0E9ABB9D5}" sibTransId="{4B5BC4E5-9D4D-4A2D-BA31-C6E21271FEFD}"/>
    <dgm:cxn modelId="{755BB4FA-57E4-45EB-9E87-3D440794C802}" type="presOf" srcId="{73794E84-C6BA-4DCA-8BF1-0364822CA282}" destId="{AAA04DDF-35B8-45F2-91A6-9993E4BCA721}" srcOrd="0" destOrd="0" presId="urn:microsoft.com/office/officeart/2005/8/layout/matrix3"/>
    <dgm:cxn modelId="{542BBC4D-32B2-4157-8F03-A3A982D5A0D2}" type="presOf" srcId="{F22EA7D9-80A8-4B1B-9694-57ACC7DD291B}" destId="{98A44FC3-7FE1-4D2C-B751-6786D654C08B}" srcOrd="0" destOrd="0" presId="urn:microsoft.com/office/officeart/2005/8/layout/matrix3"/>
    <dgm:cxn modelId="{822AC274-670F-46F9-9370-52EDDD79D0D0}" srcId="{73794E84-C6BA-4DCA-8BF1-0364822CA282}" destId="{E4EFB6C3-2408-4DDF-AD56-9C304100B648}" srcOrd="7" destOrd="0" parTransId="{1B8AF647-07B3-46FF-B4B0-A062D19448A7}" sibTransId="{4AD7D03D-8952-4D8A-973F-526F95592899}"/>
    <dgm:cxn modelId="{9C05419F-DD9B-421E-B344-EFA01A9A7C46}" srcId="{73794E84-C6BA-4DCA-8BF1-0364822CA282}" destId="{AEFAAEB5-2015-40F7-88CD-A07F7812E32D}" srcOrd="6" destOrd="0" parTransId="{4D7F5070-1D7C-498D-8996-50DFBF56C21B}" sibTransId="{9226BD57-7664-44DB-8A17-48EA4E848F2A}"/>
    <dgm:cxn modelId="{C6C40162-2324-438F-9FC3-99E9500D18C4}" srcId="{73794E84-C6BA-4DCA-8BF1-0364822CA282}" destId="{2D3B81C5-957A-4045-A8A7-443197ABB510}" srcOrd="0" destOrd="0" parTransId="{D23A6D83-BD7F-499B-AB68-E57E66BBBD36}" sibTransId="{6CF553C4-0807-4895-A83A-EC02DF49B117}"/>
    <dgm:cxn modelId="{0085BA79-CED6-42A6-B11D-5231DE8B685D}" srcId="{73794E84-C6BA-4DCA-8BF1-0364822CA282}" destId="{7D05144C-34F3-435D-B91E-13264461AA01}" srcOrd="5" destOrd="0" parTransId="{BFD4A4D5-3817-43EF-97AE-AFE9B32E1F8E}" sibTransId="{23D7FFBB-53F6-4864-9E8D-570F3FBEC37C}"/>
    <dgm:cxn modelId="{2C8075AE-E3A5-409F-8535-68113D18E847}" type="presOf" srcId="{2D3B81C5-957A-4045-A8A7-443197ABB510}" destId="{2D3E6E01-2E50-4650-812F-6F6910B9B2AD}" srcOrd="0" destOrd="0" presId="urn:microsoft.com/office/officeart/2005/8/layout/matrix3"/>
    <dgm:cxn modelId="{FFB293DC-1B6B-44A9-A077-61A09734204C}" type="presOf" srcId="{1679B19A-EBD6-4140-B91A-0E05A6C8C6A4}" destId="{C0CFB104-7FA1-487A-881F-9D385380D776}" srcOrd="0" destOrd="0" presId="urn:microsoft.com/office/officeart/2005/8/layout/matrix3"/>
    <dgm:cxn modelId="{EBA86E13-E18C-4D7E-BCD6-83A4F92FD6C0}" type="presOf" srcId="{5B151FE3-C9D7-4754-AFB3-E16DF56493CC}" destId="{E0213AE8-6237-4D8A-851D-7CB04ED22ABE}" srcOrd="0" destOrd="0" presId="urn:microsoft.com/office/officeart/2005/8/layout/matrix3"/>
    <dgm:cxn modelId="{8F817700-E602-4317-AC71-CECFA3AB5539}" srcId="{73794E84-C6BA-4DCA-8BF1-0364822CA282}" destId="{5B151FE3-C9D7-4754-AFB3-E16DF56493CC}" srcOrd="3" destOrd="0" parTransId="{8620290C-29CB-4B3C-9B30-DACBDDDDFB4B}" sibTransId="{5DC1E0BF-5BB3-42DC-B232-0AF3742FE3EE}"/>
    <dgm:cxn modelId="{FDEE73B4-E909-45BE-B30C-153E241D086E}" srcId="{73794E84-C6BA-4DCA-8BF1-0364822CA282}" destId="{F22EA7D9-80A8-4B1B-9694-57ACC7DD291B}" srcOrd="1" destOrd="0" parTransId="{2D79AC99-B97B-423C-BDA9-FBC7FDB08E44}" sibTransId="{55100E03-2E61-450B-BB9C-E794FB562D43}"/>
    <dgm:cxn modelId="{A38E48C1-046D-408B-8362-925EEFA8138E}" type="presParOf" srcId="{AAA04DDF-35B8-45F2-91A6-9993E4BCA721}" destId="{6C015487-BDE8-4FE5-94C2-6C2B3CCBAF6C}" srcOrd="0" destOrd="0" presId="urn:microsoft.com/office/officeart/2005/8/layout/matrix3"/>
    <dgm:cxn modelId="{3A94E79E-2963-43A3-88C8-4C045773AB0D}" type="presParOf" srcId="{AAA04DDF-35B8-45F2-91A6-9993E4BCA721}" destId="{2D3E6E01-2E50-4650-812F-6F6910B9B2AD}" srcOrd="1" destOrd="0" presId="urn:microsoft.com/office/officeart/2005/8/layout/matrix3"/>
    <dgm:cxn modelId="{8436F3ED-142C-4754-8B78-D1B9640F2930}" type="presParOf" srcId="{AAA04DDF-35B8-45F2-91A6-9993E4BCA721}" destId="{98A44FC3-7FE1-4D2C-B751-6786D654C08B}" srcOrd="2" destOrd="0" presId="urn:microsoft.com/office/officeart/2005/8/layout/matrix3"/>
    <dgm:cxn modelId="{F1D4A0AF-EE4E-41A8-9395-AB82236AF28A}" type="presParOf" srcId="{AAA04DDF-35B8-45F2-91A6-9993E4BCA721}" destId="{C0CFB104-7FA1-487A-881F-9D385380D776}" srcOrd="3" destOrd="0" presId="urn:microsoft.com/office/officeart/2005/8/layout/matrix3"/>
    <dgm:cxn modelId="{087E34A8-6B1E-427B-94D5-732A673C9779}" type="presParOf" srcId="{AAA04DDF-35B8-45F2-91A6-9993E4BCA721}" destId="{E0213AE8-6237-4D8A-851D-7CB04ED22ABE}" srcOrd="4" destOrd="0" presId="urn:microsoft.com/office/officeart/2005/8/layout/matrix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6EBBB0-4215-418A-9CF1-DBC2EB1DC130}" type="doc">
      <dgm:prSet loTypeId="urn:microsoft.com/office/officeart/2005/8/layout/matrix3" loCatId="matrix" qsTypeId="urn:microsoft.com/office/officeart/2005/8/quickstyle/simple1" qsCatId="simple" csTypeId="urn:microsoft.com/office/officeart/2005/8/colors/accent2_2" csCatId="accent2" phldr="1"/>
      <dgm:spPr/>
      <dgm:t>
        <a:bodyPr/>
        <a:lstStyle/>
        <a:p>
          <a:endParaRPr lang="en-IN"/>
        </a:p>
      </dgm:t>
    </dgm:pt>
    <dgm:pt modelId="{72640E2D-FDE2-49E1-B3A5-0AAEECB8C2E1}">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en-IN" dirty="0" smtClean="0"/>
            <a:t>Entrepreneurial Functions</a:t>
          </a:r>
        </a:p>
        <a:p>
          <a:pPr defTabSz="800100" rtl="0">
            <a:lnSpc>
              <a:spcPct val="90000"/>
            </a:lnSpc>
            <a:spcBef>
              <a:spcPct val="0"/>
            </a:spcBef>
            <a:spcAft>
              <a:spcPct val="35000"/>
            </a:spcAft>
          </a:pPr>
          <a:endParaRPr lang="en-IN" dirty="0"/>
        </a:p>
      </dgm:t>
    </dgm:pt>
    <dgm:pt modelId="{D5F7D03C-3B8F-44F4-9FB5-E004AF1E34F9}" type="parTrans" cxnId="{18E5E2E5-AB39-4EF2-BF98-130FE081998C}">
      <dgm:prSet/>
      <dgm:spPr/>
      <dgm:t>
        <a:bodyPr/>
        <a:lstStyle/>
        <a:p>
          <a:endParaRPr lang="en-IN"/>
        </a:p>
      </dgm:t>
    </dgm:pt>
    <dgm:pt modelId="{73B38425-2019-4A0C-948A-3DC91DFC56A1}" type="sibTrans" cxnId="{18E5E2E5-AB39-4EF2-BF98-130FE081998C}">
      <dgm:prSet/>
      <dgm:spPr/>
      <dgm:t>
        <a:bodyPr/>
        <a:lstStyle/>
        <a:p>
          <a:endParaRPr lang="en-IN"/>
        </a:p>
      </dgm:t>
    </dgm:pt>
    <dgm:pt modelId="{AFFBF83A-A67B-4423-8225-36BA4380505E}">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en-IN" dirty="0" smtClean="0"/>
            <a:t>Managerial Functions</a:t>
          </a:r>
        </a:p>
        <a:p>
          <a:pPr defTabSz="800100" rtl="0">
            <a:lnSpc>
              <a:spcPct val="90000"/>
            </a:lnSpc>
            <a:spcBef>
              <a:spcPct val="0"/>
            </a:spcBef>
            <a:spcAft>
              <a:spcPct val="35000"/>
            </a:spcAft>
          </a:pPr>
          <a:endParaRPr lang="en-IN" dirty="0"/>
        </a:p>
      </dgm:t>
    </dgm:pt>
    <dgm:pt modelId="{847FD9D1-BA85-469E-8827-AF73B8C948A0}" type="parTrans" cxnId="{795A9FA6-FE68-48DA-98A0-6395BA18DBFE}">
      <dgm:prSet/>
      <dgm:spPr/>
      <dgm:t>
        <a:bodyPr/>
        <a:lstStyle/>
        <a:p>
          <a:endParaRPr lang="en-IN"/>
        </a:p>
      </dgm:t>
    </dgm:pt>
    <dgm:pt modelId="{F6C49547-1BB2-44C6-B183-D8DF16913747}" type="sibTrans" cxnId="{795A9FA6-FE68-48DA-98A0-6395BA18DBFE}">
      <dgm:prSet/>
      <dgm:spPr/>
      <dgm:t>
        <a:bodyPr/>
        <a:lstStyle/>
        <a:p>
          <a:endParaRPr lang="en-IN"/>
        </a:p>
      </dgm:t>
    </dgm:pt>
    <dgm:pt modelId="{EEEAFABF-B16D-4613-B88C-C2C1F6D932D2}">
      <dgm:prSet/>
      <dgm:spPr/>
      <dgm:t>
        <a:bodyPr/>
        <a:lstStyle/>
        <a:p>
          <a:pPr marL="0" marR="0" indent="0" defTabSz="914400" rtl="0" eaLnBrk="1" fontAlgn="auto" latinLnBrk="0" hangingPunct="1">
            <a:lnSpc>
              <a:spcPct val="100000"/>
            </a:lnSpc>
            <a:spcBef>
              <a:spcPts val="0"/>
            </a:spcBef>
            <a:spcAft>
              <a:spcPts val="0"/>
            </a:spcAft>
            <a:buClrTx/>
            <a:buSzTx/>
            <a:buFontTx/>
            <a:buNone/>
            <a:tabLst/>
            <a:defRPr/>
          </a:pPr>
          <a:r>
            <a:rPr lang="en-IN" dirty="0" smtClean="0"/>
            <a:t>Promotional Functions</a:t>
          </a:r>
        </a:p>
        <a:p>
          <a:pPr defTabSz="800100" rtl="0">
            <a:lnSpc>
              <a:spcPct val="90000"/>
            </a:lnSpc>
            <a:spcBef>
              <a:spcPct val="0"/>
            </a:spcBef>
            <a:spcAft>
              <a:spcPct val="35000"/>
            </a:spcAft>
          </a:pPr>
          <a:endParaRPr lang="en-IN" dirty="0"/>
        </a:p>
      </dgm:t>
    </dgm:pt>
    <dgm:pt modelId="{1D306C60-FB09-4112-B324-3F5E7AA3B9AB}" type="parTrans" cxnId="{095904CC-1820-48F6-B8F4-5E2CC1AF0001}">
      <dgm:prSet/>
      <dgm:spPr/>
      <dgm:t>
        <a:bodyPr/>
        <a:lstStyle/>
        <a:p>
          <a:endParaRPr lang="en-IN"/>
        </a:p>
      </dgm:t>
    </dgm:pt>
    <dgm:pt modelId="{DBEAD87D-0F90-43F7-BCB6-E55ED0146F21}" type="sibTrans" cxnId="{095904CC-1820-48F6-B8F4-5E2CC1AF0001}">
      <dgm:prSet/>
      <dgm:spPr/>
      <dgm:t>
        <a:bodyPr/>
        <a:lstStyle/>
        <a:p>
          <a:endParaRPr lang="en-IN"/>
        </a:p>
      </dgm:t>
    </dgm:pt>
    <dgm:pt modelId="{A349FB51-F95F-4C19-B7EB-AB025328AEE6}">
      <dgm:prSet/>
      <dgm:spPr/>
      <dgm:t>
        <a:bodyPr/>
        <a:lstStyle/>
        <a:p>
          <a:pPr rtl="0"/>
          <a:r>
            <a:rPr lang="en-IN" dirty="0" smtClean="0"/>
            <a:t>Commercial Functions</a:t>
          </a:r>
          <a:endParaRPr lang="en-IN" dirty="0"/>
        </a:p>
      </dgm:t>
    </dgm:pt>
    <dgm:pt modelId="{95BE9427-C043-4AA9-95F0-E02B696D6E88}" type="parTrans" cxnId="{A8A0F233-D172-43FF-BABE-C9296AF0151E}">
      <dgm:prSet/>
      <dgm:spPr/>
      <dgm:t>
        <a:bodyPr/>
        <a:lstStyle/>
        <a:p>
          <a:endParaRPr lang="en-IN"/>
        </a:p>
      </dgm:t>
    </dgm:pt>
    <dgm:pt modelId="{1BDE7015-2490-4C51-A09A-FC80E76ACC43}" type="sibTrans" cxnId="{A8A0F233-D172-43FF-BABE-C9296AF0151E}">
      <dgm:prSet/>
      <dgm:spPr/>
      <dgm:t>
        <a:bodyPr/>
        <a:lstStyle/>
        <a:p>
          <a:endParaRPr lang="en-IN"/>
        </a:p>
      </dgm:t>
    </dgm:pt>
    <dgm:pt modelId="{A02C70A8-77AC-4958-9BF6-402B9D7E7842}" type="pres">
      <dgm:prSet presAssocID="{D46EBBB0-4215-418A-9CF1-DBC2EB1DC130}" presName="matrix" presStyleCnt="0">
        <dgm:presLayoutVars>
          <dgm:chMax val="1"/>
          <dgm:dir/>
          <dgm:resizeHandles val="exact"/>
        </dgm:presLayoutVars>
      </dgm:prSet>
      <dgm:spPr/>
    </dgm:pt>
    <dgm:pt modelId="{35787845-A367-4404-A0BD-1EE42B6BA0AF}" type="pres">
      <dgm:prSet presAssocID="{D46EBBB0-4215-418A-9CF1-DBC2EB1DC130}" presName="diamond" presStyleLbl="bgShp" presStyleIdx="0" presStyleCnt="1" custScaleX="52271" custLinFactNeighborX="-58416" custLinFactNeighborY="-1591"/>
      <dgm:spPr>
        <a:prstGeom prst="parallelogram">
          <a:avLst/>
        </a:prstGeom>
      </dgm:spPr>
    </dgm:pt>
    <dgm:pt modelId="{932A09AA-5F30-4AD5-BF46-0306DF5929F9}" type="pres">
      <dgm:prSet presAssocID="{D46EBBB0-4215-418A-9CF1-DBC2EB1DC130}" presName="quad1" presStyleLbl="node1" presStyleIdx="0" presStyleCnt="4" custLinFactX="7340" custLinFactNeighborX="100000" custLinFactNeighborY="118">
        <dgm:presLayoutVars>
          <dgm:chMax val="0"/>
          <dgm:chPref val="0"/>
          <dgm:bulletEnabled val="1"/>
        </dgm:presLayoutVars>
      </dgm:prSet>
      <dgm:spPr/>
      <dgm:t>
        <a:bodyPr/>
        <a:lstStyle/>
        <a:p>
          <a:endParaRPr lang="en-IN"/>
        </a:p>
      </dgm:t>
    </dgm:pt>
    <dgm:pt modelId="{EEA9257E-1C91-4696-90AC-6972B3EC72C9}" type="pres">
      <dgm:prSet presAssocID="{D46EBBB0-4215-418A-9CF1-DBC2EB1DC130}" presName="quad2" presStyleLbl="node1" presStyleIdx="1" presStyleCnt="4" custLinFactX="13873" custLinFactNeighborX="100000" custLinFactNeighborY="118">
        <dgm:presLayoutVars>
          <dgm:chMax val="0"/>
          <dgm:chPref val="0"/>
          <dgm:bulletEnabled val="1"/>
        </dgm:presLayoutVars>
      </dgm:prSet>
      <dgm:spPr/>
    </dgm:pt>
    <dgm:pt modelId="{B4B5C949-4C8A-4B3D-BE02-9C4B5C8196CB}" type="pres">
      <dgm:prSet presAssocID="{D46EBBB0-4215-418A-9CF1-DBC2EB1DC130}" presName="quad3" presStyleLbl="node1" presStyleIdx="2" presStyleCnt="4" custLinFactX="11419" custLinFactNeighborX="100000" custLinFactNeighborY="-1508">
        <dgm:presLayoutVars>
          <dgm:chMax val="0"/>
          <dgm:chPref val="0"/>
          <dgm:bulletEnabled val="1"/>
        </dgm:presLayoutVars>
      </dgm:prSet>
      <dgm:spPr/>
    </dgm:pt>
    <dgm:pt modelId="{EF0324AB-A116-4C5A-BB28-7F935731E68C}" type="pres">
      <dgm:prSet presAssocID="{D46EBBB0-4215-418A-9CF1-DBC2EB1DC130}" presName="quad4" presStyleLbl="node1" presStyleIdx="3" presStyleCnt="4" custLinFactX="13873" custLinFactNeighborX="100000" custLinFactNeighborY="-1508">
        <dgm:presLayoutVars>
          <dgm:chMax val="0"/>
          <dgm:chPref val="0"/>
          <dgm:bulletEnabled val="1"/>
        </dgm:presLayoutVars>
      </dgm:prSet>
      <dgm:spPr/>
      <dgm:t>
        <a:bodyPr/>
        <a:lstStyle/>
        <a:p>
          <a:endParaRPr lang="en-IN"/>
        </a:p>
      </dgm:t>
    </dgm:pt>
  </dgm:ptLst>
  <dgm:cxnLst>
    <dgm:cxn modelId="{18E5E2E5-AB39-4EF2-BF98-130FE081998C}" srcId="{D46EBBB0-4215-418A-9CF1-DBC2EB1DC130}" destId="{72640E2D-FDE2-49E1-B3A5-0AAEECB8C2E1}" srcOrd="0" destOrd="0" parTransId="{D5F7D03C-3B8F-44F4-9FB5-E004AF1E34F9}" sibTransId="{73B38425-2019-4A0C-948A-3DC91DFC56A1}"/>
    <dgm:cxn modelId="{795A9FA6-FE68-48DA-98A0-6395BA18DBFE}" srcId="{D46EBBB0-4215-418A-9CF1-DBC2EB1DC130}" destId="{AFFBF83A-A67B-4423-8225-36BA4380505E}" srcOrd="1" destOrd="0" parTransId="{847FD9D1-BA85-469E-8827-AF73B8C948A0}" sibTransId="{F6C49547-1BB2-44C6-B183-D8DF16913747}"/>
    <dgm:cxn modelId="{5BA4F75F-CDB6-4DDC-BF37-2778A483FAAA}" type="presOf" srcId="{EEEAFABF-B16D-4613-B88C-C2C1F6D932D2}" destId="{B4B5C949-4C8A-4B3D-BE02-9C4B5C8196CB}" srcOrd="0" destOrd="0" presId="urn:microsoft.com/office/officeart/2005/8/layout/matrix3"/>
    <dgm:cxn modelId="{4FEB1BEC-EE66-41FF-B60F-CD428A68801B}" type="presOf" srcId="{A349FB51-F95F-4C19-B7EB-AB025328AEE6}" destId="{EF0324AB-A116-4C5A-BB28-7F935731E68C}" srcOrd="0" destOrd="0" presId="urn:microsoft.com/office/officeart/2005/8/layout/matrix3"/>
    <dgm:cxn modelId="{9B7EC341-A903-48B0-AA49-84A9C2D54FE2}" type="presOf" srcId="{72640E2D-FDE2-49E1-B3A5-0AAEECB8C2E1}" destId="{932A09AA-5F30-4AD5-BF46-0306DF5929F9}" srcOrd="0" destOrd="0" presId="urn:microsoft.com/office/officeart/2005/8/layout/matrix3"/>
    <dgm:cxn modelId="{A8A0F233-D172-43FF-BABE-C9296AF0151E}" srcId="{D46EBBB0-4215-418A-9CF1-DBC2EB1DC130}" destId="{A349FB51-F95F-4C19-B7EB-AB025328AEE6}" srcOrd="3" destOrd="0" parTransId="{95BE9427-C043-4AA9-95F0-E02B696D6E88}" sibTransId="{1BDE7015-2490-4C51-A09A-FC80E76ACC43}"/>
    <dgm:cxn modelId="{24511B4A-23E2-449A-84C6-A9510B99E391}" type="presOf" srcId="{AFFBF83A-A67B-4423-8225-36BA4380505E}" destId="{EEA9257E-1C91-4696-90AC-6972B3EC72C9}" srcOrd="0" destOrd="0" presId="urn:microsoft.com/office/officeart/2005/8/layout/matrix3"/>
    <dgm:cxn modelId="{095904CC-1820-48F6-B8F4-5E2CC1AF0001}" srcId="{D46EBBB0-4215-418A-9CF1-DBC2EB1DC130}" destId="{EEEAFABF-B16D-4613-B88C-C2C1F6D932D2}" srcOrd="2" destOrd="0" parTransId="{1D306C60-FB09-4112-B324-3F5E7AA3B9AB}" sibTransId="{DBEAD87D-0F90-43F7-BCB6-E55ED0146F21}"/>
    <dgm:cxn modelId="{BCFDE436-4EA3-4F52-AF76-4731CEDD08BD}" type="presOf" srcId="{D46EBBB0-4215-418A-9CF1-DBC2EB1DC130}" destId="{A02C70A8-77AC-4958-9BF6-402B9D7E7842}" srcOrd="0" destOrd="0" presId="urn:microsoft.com/office/officeart/2005/8/layout/matrix3"/>
    <dgm:cxn modelId="{BC21D5D7-AE7A-4302-93E5-359F3AE245FA}" type="presParOf" srcId="{A02C70A8-77AC-4958-9BF6-402B9D7E7842}" destId="{35787845-A367-4404-A0BD-1EE42B6BA0AF}" srcOrd="0" destOrd="0" presId="urn:microsoft.com/office/officeart/2005/8/layout/matrix3"/>
    <dgm:cxn modelId="{61E1138F-598E-45D9-ACDD-A1C94D1E5EF5}" type="presParOf" srcId="{A02C70A8-77AC-4958-9BF6-402B9D7E7842}" destId="{932A09AA-5F30-4AD5-BF46-0306DF5929F9}" srcOrd="1" destOrd="0" presId="urn:microsoft.com/office/officeart/2005/8/layout/matrix3"/>
    <dgm:cxn modelId="{C27B4CDD-DA88-40D0-8D14-DBCD685F77E2}" type="presParOf" srcId="{A02C70A8-77AC-4958-9BF6-402B9D7E7842}" destId="{EEA9257E-1C91-4696-90AC-6972B3EC72C9}" srcOrd="2" destOrd="0" presId="urn:microsoft.com/office/officeart/2005/8/layout/matrix3"/>
    <dgm:cxn modelId="{18D3AA6B-E70D-48E6-9688-84B684D77D3D}" type="presParOf" srcId="{A02C70A8-77AC-4958-9BF6-402B9D7E7842}" destId="{B4B5C949-4C8A-4B3D-BE02-9C4B5C8196CB}" srcOrd="3" destOrd="0" presId="urn:microsoft.com/office/officeart/2005/8/layout/matrix3"/>
    <dgm:cxn modelId="{C253C862-5D5D-41FF-BAFB-D8E73F6D5A6C}" type="presParOf" srcId="{A02C70A8-77AC-4958-9BF6-402B9D7E7842}" destId="{EF0324AB-A116-4C5A-BB28-7F935731E68C}" srcOrd="4" destOrd="0" presId="urn:microsoft.com/office/officeart/2005/8/layout/matrix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7C8EF15-2C9E-4749-BCB3-CF8C34E89D75}">
      <dsp:nvSpPr>
        <dsp:cNvPr id="0" name=""/>
        <dsp:cNvSpPr/>
      </dsp:nvSpPr>
      <dsp:spPr>
        <a:xfrm>
          <a:off x="0" y="0"/>
          <a:ext cx="4125481" cy="633670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ctr" defTabSz="1066800" rtl="0">
            <a:lnSpc>
              <a:spcPct val="90000"/>
            </a:lnSpc>
            <a:spcBef>
              <a:spcPct val="0"/>
            </a:spcBef>
            <a:spcAft>
              <a:spcPct val="35000"/>
            </a:spcAft>
          </a:pPr>
          <a:r>
            <a:rPr lang="en-IN" sz="2400" b="1" kern="1200" dirty="0" smtClean="0">
              <a:solidFill>
                <a:srgbClr val="7030A0"/>
              </a:solidFill>
              <a:latin typeface="Maiandra GD" pitchFamily="34" charset="0"/>
            </a:rPr>
            <a:t>Based on the Business Type</a:t>
          </a:r>
          <a:endParaRPr lang="en-IN" sz="2400" kern="1200" dirty="0">
            <a:solidFill>
              <a:srgbClr val="7030A0"/>
            </a:solidFill>
            <a:latin typeface="Maiandra GD" pitchFamily="34" charset="0"/>
          </a:endParaRPr>
        </a:p>
      </dsp:txBody>
      <dsp:txXfrm>
        <a:off x="0" y="0"/>
        <a:ext cx="4125481" cy="1901011"/>
      </dsp:txXfrm>
    </dsp:sp>
    <dsp:sp modelId="{425CC79E-80D1-4133-B7B4-6E226B7A4424}">
      <dsp:nvSpPr>
        <dsp:cNvPr id="0" name=""/>
        <dsp:cNvSpPr/>
      </dsp:nvSpPr>
      <dsp:spPr>
        <a:xfrm>
          <a:off x="4439181" y="0"/>
          <a:ext cx="4125481" cy="6336703"/>
        </a:xfrm>
        <a:prstGeom prst="roundRect">
          <a:avLst>
            <a:gd name="adj" fmla="val 10000"/>
          </a:avLst>
        </a:prstGeom>
        <a:blipFill rotWithShape="0">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ctr" defTabSz="1066800" rtl="0">
            <a:lnSpc>
              <a:spcPct val="90000"/>
            </a:lnSpc>
            <a:spcBef>
              <a:spcPct val="0"/>
            </a:spcBef>
            <a:spcAft>
              <a:spcPct val="35000"/>
            </a:spcAft>
          </a:pPr>
          <a:endParaRPr lang="en-IN" sz="2400" b="1" kern="1200" dirty="0">
            <a:solidFill>
              <a:srgbClr val="7030A0"/>
            </a:solidFill>
            <a:latin typeface="Maiandra GD" pitchFamily="34" charset="0"/>
          </a:endParaRPr>
        </a:p>
      </dsp:txBody>
      <dsp:txXfrm>
        <a:off x="4439181" y="0"/>
        <a:ext cx="4125481" cy="1901011"/>
      </dsp:txXfrm>
    </dsp:sp>
    <dsp:sp modelId="{E5F36F4A-1FB0-4BEF-9CCC-309E63A705F8}">
      <dsp:nvSpPr>
        <dsp:cNvPr id="0" name=""/>
        <dsp:cNvSpPr/>
      </dsp:nvSpPr>
      <dsp:spPr>
        <a:xfrm>
          <a:off x="0" y="767518"/>
          <a:ext cx="4077527" cy="1365075"/>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7940" tIns="20955" rIns="27940" bIns="20955" numCol="1" spcCol="1270" anchor="t" anchorCtr="0">
          <a:noAutofit/>
        </a:bodyPr>
        <a:lstStyle/>
        <a:p>
          <a:pPr lvl="0" algn="just" defTabSz="488950" rtl="0">
            <a:lnSpc>
              <a:spcPct val="90000"/>
            </a:lnSpc>
            <a:spcBef>
              <a:spcPct val="0"/>
            </a:spcBef>
            <a:spcAft>
              <a:spcPct val="35000"/>
            </a:spcAft>
          </a:pPr>
          <a:r>
            <a:rPr lang="en-IN" sz="1100" b="1" kern="1200" dirty="0" smtClean="0">
              <a:latin typeface="Bookman Old Style" pitchFamily="18" charset="0"/>
            </a:rPr>
            <a:t>Trading Entrepreneur: </a:t>
          </a:r>
          <a:r>
            <a:rPr lang="en-IN" sz="1100" kern="1200" dirty="0" smtClean="0">
              <a:latin typeface="Bookman Old Style" pitchFamily="18" charset="0"/>
            </a:rPr>
            <a:t>A trading entrepreneur refers to a person who undertakes business-related activities. These types of entrepreneurs usually buy finished products in bulk from manufacturers at some discount. They then sell these products directly or with the help of retailers or vendors with profits. A business entrepreneur usually acts as a middleman between manufacturers and customers. This may include wholesalers, retailers, dealers, etc.</a:t>
          </a:r>
          <a:endParaRPr lang="en-IN" sz="1100" kern="1200" dirty="0">
            <a:latin typeface="Bookman Old Style" pitchFamily="18" charset="0"/>
          </a:endParaRPr>
        </a:p>
      </dsp:txBody>
      <dsp:txXfrm>
        <a:off x="0" y="767518"/>
        <a:ext cx="4077527" cy="1365075"/>
      </dsp:txXfrm>
    </dsp:sp>
    <dsp:sp modelId="{A99C2E96-B3AE-49D8-A35F-B958AB4D1ABA}">
      <dsp:nvSpPr>
        <dsp:cNvPr id="0" name=""/>
        <dsp:cNvSpPr/>
      </dsp:nvSpPr>
      <dsp:spPr>
        <a:xfrm>
          <a:off x="73778" y="2736304"/>
          <a:ext cx="3751713" cy="1365075"/>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0480" tIns="22860" rIns="30480" bIns="22860" numCol="1" spcCol="1270" anchor="t" anchorCtr="0">
          <a:noAutofit/>
        </a:bodyPr>
        <a:lstStyle/>
        <a:p>
          <a:pPr lvl="0" algn="just" defTabSz="533400" rtl="0">
            <a:lnSpc>
              <a:spcPct val="90000"/>
            </a:lnSpc>
            <a:spcBef>
              <a:spcPct val="0"/>
            </a:spcBef>
            <a:spcAft>
              <a:spcPct val="35000"/>
            </a:spcAft>
          </a:pPr>
          <a:r>
            <a:rPr lang="en-IN" sz="1200" b="1" kern="1200" dirty="0" smtClean="0">
              <a:latin typeface="Bookman Old Style" pitchFamily="18" charset="0"/>
            </a:rPr>
            <a:t>Manufacturing Entrepreneur: </a:t>
          </a:r>
          <a:r>
            <a:rPr lang="en-IN" sz="1200" kern="1200" dirty="0" smtClean="0">
              <a:latin typeface="Bookman Old Style" pitchFamily="18" charset="0"/>
            </a:rPr>
            <a:t>The founder of a business to manufacture products is known as a manufacturing entrepreneur. Manufacturing entrepreneurs analyze market needs or customer needs and manufacture products to meet such requirements of customer using various resources or technologies. </a:t>
          </a:r>
          <a:endParaRPr lang="en-IN" sz="1200" kern="1200" dirty="0">
            <a:latin typeface="Bookman Old Style" pitchFamily="18" charset="0"/>
          </a:endParaRPr>
        </a:p>
      </dsp:txBody>
      <dsp:txXfrm>
        <a:off x="73778" y="2736304"/>
        <a:ext cx="3751713" cy="1365075"/>
      </dsp:txXfrm>
    </dsp:sp>
    <dsp:sp modelId="{F2446177-FCC6-4EE6-B133-89BF6A447BCE}">
      <dsp:nvSpPr>
        <dsp:cNvPr id="0" name=""/>
        <dsp:cNvSpPr/>
      </dsp:nvSpPr>
      <dsp:spPr>
        <a:xfrm>
          <a:off x="147574" y="4464496"/>
          <a:ext cx="3743000" cy="1365075"/>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7940" tIns="20955" rIns="27940" bIns="20955" numCol="1" spcCol="1270" anchor="ctr" anchorCtr="0">
          <a:noAutofit/>
        </a:bodyPr>
        <a:lstStyle/>
        <a:p>
          <a:pPr lvl="0" algn="just" defTabSz="466725" rtl="0">
            <a:lnSpc>
              <a:spcPct val="90000"/>
            </a:lnSpc>
            <a:spcBef>
              <a:spcPct val="0"/>
            </a:spcBef>
            <a:spcAft>
              <a:spcPct val="35000"/>
            </a:spcAft>
          </a:pPr>
          <a:r>
            <a:rPr lang="en-IN" sz="1050" b="1" kern="1200" dirty="0" smtClean="0">
              <a:latin typeface="Bookman Old Style" pitchFamily="18" charset="0"/>
            </a:rPr>
            <a:t>Agricultural Entrepreneur: </a:t>
          </a:r>
          <a:r>
            <a:rPr lang="en-IN" sz="1050" kern="1200" dirty="0" smtClean="0">
              <a:latin typeface="Bookman Old Style" pitchFamily="18" charset="0"/>
            </a:rPr>
            <a:t>Agricultural entrepreneurs refer to the types of entrepreneurs who primarily do agricultural work. They participate in a wide range of agricultural activities such as farming, irrigation, agricultural produce, mechanization, technology, etc.</a:t>
          </a:r>
          <a:endParaRPr lang="en-IN" sz="1050" kern="1200" dirty="0">
            <a:latin typeface="Bookman Old Style" pitchFamily="18" charset="0"/>
          </a:endParaRPr>
        </a:p>
      </dsp:txBody>
      <dsp:txXfrm>
        <a:off x="147574" y="4464496"/>
        <a:ext cx="3743000" cy="1365075"/>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987F149-34D0-479C-9959-6BFB3A6130A7}">
      <dsp:nvSpPr>
        <dsp:cNvPr id="0" name=""/>
        <dsp:cNvSpPr/>
      </dsp:nvSpPr>
      <dsp:spPr>
        <a:xfrm>
          <a:off x="0" y="69163"/>
          <a:ext cx="5075112" cy="184548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en-IN" sz="1600" kern="1200" dirty="0" smtClean="0">
              <a:latin typeface="Bookman Old Style" pitchFamily="18" charset="0"/>
            </a:rPr>
            <a:t>Private Entrepreneur: When an entrepreneur starts something personal of his or her own, such as setting up an enterprise, he/she is called a private entrepreneur. A private entrepreneur is the only person who plays the sole proprietor role for a business venture and bears the risk associated with it.</a:t>
          </a:r>
          <a:endParaRPr lang="en-IN" sz="1600" kern="1200" dirty="0">
            <a:latin typeface="Bookman Old Style" pitchFamily="18" charset="0"/>
          </a:endParaRPr>
        </a:p>
      </dsp:txBody>
      <dsp:txXfrm>
        <a:off x="0" y="69163"/>
        <a:ext cx="5075112" cy="1845486"/>
      </dsp:txXfrm>
    </dsp:sp>
    <dsp:sp modelId="{22697F27-1086-413D-B3C4-DBA7454C2A58}">
      <dsp:nvSpPr>
        <dsp:cNvPr id="0" name=""/>
        <dsp:cNvSpPr/>
      </dsp:nvSpPr>
      <dsp:spPr>
        <a:xfrm>
          <a:off x="73670" y="1836640"/>
          <a:ext cx="5150024" cy="1531753"/>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rtl="0">
            <a:lnSpc>
              <a:spcPct val="90000"/>
            </a:lnSpc>
            <a:spcBef>
              <a:spcPct val="0"/>
            </a:spcBef>
            <a:spcAft>
              <a:spcPct val="35000"/>
            </a:spcAft>
          </a:pPr>
          <a:r>
            <a:rPr lang="en-IN" sz="1600" kern="1200" dirty="0" smtClean="0">
              <a:latin typeface="Bookman Old Style" pitchFamily="18" charset="0"/>
            </a:rPr>
            <a:t>State Entrepreneur: When a state or government does a business or industrial undertaking, it is referred to as a 'state entrepreneur'. In this case, the government is the sole owner of the enterprise and will bear all the profits and losses involved with it.</a:t>
          </a:r>
          <a:endParaRPr lang="en-IN" sz="1600" kern="1200" dirty="0">
            <a:latin typeface="Bookman Old Style" pitchFamily="18" charset="0"/>
          </a:endParaRPr>
        </a:p>
      </dsp:txBody>
      <dsp:txXfrm>
        <a:off x="73670" y="1836640"/>
        <a:ext cx="5150024" cy="1531753"/>
      </dsp:txXfrm>
    </dsp:sp>
    <dsp:sp modelId="{4857EF42-52D0-488E-A7DE-DB83ACFCF5E6}">
      <dsp:nvSpPr>
        <dsp:cNvPr id="0" name=""/>
        <dsp:cNvSpPr/>
      </dsp:nvSpPr>
      <dsp:spPr>
        <a:xfrm>
          <a:off x="0" y="3361067"/>
          <a:ext cx="5288867" cy="2268324"/>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just" defTabSz="800100" rtl="0">
            <a:lnSpc>
              <a:spcPct val="90000"/>
            </a:lnSpc>
            <a:spcBef>
              <a:spcPct val="0"/>
            </a:spcBef>
            <a:spcAft>
              <a:spcPct val="35000"/>
            </a:spcAft>
          </a:pPr>
          <a:r>
            <a:rPr lang="en-IN" sz="1800" kern="1200" dirty="0" smtClean="0">
              <a:solidFill>
                <a:schemeClr val="tx1"/>
              </a:solidFill>
              <a:latin typeface="Bookman Old Style" pitchFamily="18" charset="0"/>
            </a:rPr>
            <a:t>Joint Entrepreneurs: When a business or industrial undertaking is established and operated jointly by the private entrepreneur and the </a:t>
          </a:r>
          <a:r>
            <a:rPr lang="en-IN" sz="2000" kern="1200" dirty="0" smtClean="0">
              <a:solidFill>
                <a:schemeClr val="tx1"/>
              </a:solidFill>
              <a:latin typeface="Bookman Old Style" pitchFamily="18" charset="0"/>
            </a:rPr>
            <a:t>government</a:t>
          </a:r>
          <a:r>
            <a:rPr lang="en-IN" sz="1800" kern="1200" dirty="0" smtClean="0">
              <a:solidFill>
                <a:schemeClr val="tx1"/>
              </a:solidFill>
              <a:latin typeface="Bookman Old Style" pitchFamily="18" charset="0"/>
            </a:rPr>
            <a:t>, it is called joint entrepreneurship. The parties involved are called joint entrepreneurs. In this case, risk and profits are shared by both parties. However, the sharing percentages generally depend </a:t>
          </a:r>
          <a:r>
            <a:rPr lang="en-IN" sz="1200" kern="1200" dirty="0" smtClean="0">
              <a:solidFill>
                <a:schemeClr val="tx1"/>
              </a:solidFill>
              <a:latin typeface="Bookman Old Style" pitchFamily="18" charset="0"/>
            </a:rPr>
            <a:t>on the type of business and the agreement between the two parties.</a:t>
          </a:r>
          <a:endParaRPr lang="en-IN" sz="1200" kern="1200" dirty="0">
            <a:solidFill>
              <a:schemeClr val="tx1"/>
            </a:solidFill>
            <a:latin typeface="Bookman Old Style" pitchFamily="18" charset="0"/>
          </a:endParaRPr>
        </a:p>
      </dsp:txBody>
      <dsp:txXfrm>
        <a:off x="0" y="3361067"/>
        <a:ext cx="5288867" cy="2268324"/>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C015487-BDE8-4FE5-94C2-6C2B3CCBAF6C}">
      <dsp:nvSpPr>
        <dsp:cNvPr id="0" name=""/>
        <dsp:cNvSpPr/>
      </dsp:nvSpPr>
      <dsp:spPr>
        <a:xfrm>
          <a:off x="1331746" y="0"/>
          <a:ext cx="5937523" cy="5937523"/>
        </a:xfrm>
        <a:prstGeom prst="diamond">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sp>
    <dsp:sp modelId="{2D3E6E01-2E50-4650-812F-6F6910B9B2AD}">
      <dsp:nvSpPr>
        <dsp:cNvPr id="0" name=""/>
        <dsp:cNvSpPr/>
      </dsp:nvSpPr>
      <dsp:spPr>
        <a:xfrm>
          <a:off x="0" y="0"/>
          <a:ext cx="2315633" cy="444671"/>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IN" sz="1400" b="0" kern="120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Other Types of Entrepreneurs</a:t>
          </a:r>
          <a:endParaRPr lang="en-IN" sz="1400" b="0" kern="120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dsp:txBody>
      <dsp:txXfrm>
        <a:off x="0" y="0"/>
        <a:ext cx="2315633" cy="444671"/>
      </dsp:txXfrm>
    </dsp:sp>
    <dsp:sp modelId="{98A44FC3-7FE1-4D2C-B751-6786D654C08B}">
      <dsp:nvSpPr>
        <dsp:cNvPr id="0" name=""/>
        <dsp:cNvSpPr/>
      </dsp:nvSpPr>
      <dsp:spPr>
        <a:xfrm>
          <a:off x="0" y="720068"/>
          <a:ext cx="2663048" cy="2315633"/>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just" defTabSz="533400" rtl="0">
            <a:lnSpc>
              <a:spcPct val="90000"/>
            </a:lnSpc>
            <a:spcBef>
              <a:spcPct val="0"/>
            </a:spcBef>
            <a:spcAft>
              <a:spcPct val="35000"/>
            </a:spcAft>
          </a:pPr>
          <a:r>
            <a:rPr lang="en-IN" sz="1200" b="1" kern="1200" dirty="0" smtClean="0">
              <a:solidFill>
                <a:srgbClr val="FF0000"/>
              </a:solidFill>
              <a:latin typeface="Bookman Old Style" pitchFamily="18" charset="0"/>
            </a:rPr>
            <a:t>Solo Operators:</a:t>
          </a:r>
          <a:r>
            <a:rPr lang="en-IN" sz="1200" kern="1200" dirty="0" smtClean="0">
              <a:solidFill>
                <a:srgbClr val="FF0000"/>
              </a:solidFill>
              <a:latin typeface="Bookman Old Style" pitchFamily="18" charset="0"/>
            </a:rPr>
            <a:t> </a:t>
          </a:r>
          <a:r>
            <a:rPr lang="en-IN" sz="1200" kern="1200" dirty="0" smtClean="0">
              <a:latin typeface="Bookman Old Style" pitchFamily="18" charset="0"/>
            </a:rPr>
            <a:t>Solo operators include those types of entrepreneurs who start their work primarily alone. However, these entrepreneurs employ few employees if they require. It is the most common type of entrepreneur, and most people start their ventures like solo operators.</a:t>
          </a:r>
          <a:endParaRPr lang="en-IN" sz="1200" kern="1200" dirty="0">
            <a:latin typeface="Bookman Old Style" pitchFamily="18" charset="0"/>
          </a:endParaRPr>
        </a:p>
      </dsp:txBody>
      <dsp:txXfrm>
        <a:off x="0" y="720068"/>
        <a:ext cx="2663048" cy="2315633"/>
      </dsp:txXfrm>
    </dsp:sp>
    <dsp:sp modelId="{C0CFB104-7FA1-487A-881F-9D385380D776}">
      <dsp:nvSpPr>
        <dsp:cNvPr id="0" name=""/>
        <dsp:cNvSpPr/>
      </dsp:nvSpPr>
      <dsp:spPr>
        <a:xfrm>
          <a:off x="2745394" y="720076"/>
          <a:ext cx="2521540" cy="2315633"/>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just" defTabSz="466725" rtl="0">
            <a:lnSpc>
              <a:spcPct val="90000"/>
            </a:lnSpc>
            <a:spcBef>
              <a:spcPct val="0"/>
            </a:spcBef>
            <a:spcAft>
              <a:spcPct val="35000"/>
            </a:spcAft>
          </a:pPr>
          <a:r>
            <a:rPr lang="en-IN" sz="1050" b="1" kern="1200" dirty="0" smtClean="0">
              <a:solidFill>
                <a:srgbClr val="FF0000"/>
              </a:solidFill>
              <a:latin typeface="Bookman Old Style" pitchFamily="18" charset="0"/>
            </a:rPr>
            <a:t>Active Partners</a:t>
          </a:r>
          <a:r>
            <a:rPr lang="en-IN" sz="1100" kern="1200" dirty="0" smtClean="0">
              <a:solidFill>
                <a:srgbClr val="FF0000"/>
              </a:solidFill>
              <a:latin typeface="Bookman Old Style" pitchFamily="18" charset="0"/>
            </a:rPr>
            <a:t>: </a:t>
          </a:r>
          <a:r>
            <a:rPr lang="en-IN" sz="1100" kern="1200" dirty="0" smtClean="0">
              <a:latin typeface="Bookman Old Style" pitchFamily="18" charset="0"/>
            </a:rPr>
            <a:t>Active partners include entrepreneurs who jointly start their ventures. This may include two or more people. However, each person should have equal participation in the operation of the business. Besides, when the entrepreneurs support only with the money but do not actively participate in the business's operation, they are just called 'partners'.</a:t>
          </a:r>
          <a:endParaRPr lang="en-IN" sz="1050" kern="1200" dirty="0">
            <a:latin typeface="Bookman Old Style" pitchFamily="18" charset="0"/>
          </a:endParaRPr>
        </a:p>
      </dsp:txBody>
      <dsp:txXfrm>
        <a:off x="2745394" y="720076"/>
        <a:ext cx="2521540" cy="2315633"/>
      </dsp:txXfrm>
    </dsp:sp>
    <dsp:sp modelId="{E0213AE8-6237-4D8A-851D-7CB04ED22ABE}">
      <dsp:nvSpPr>
        <dsp:cNvPr id="0" name=""/>
        <dsp:cNvSpPr/>
      </dsp:nvSpPr>
      <dsp:spPr>
        <a:xfrm>
          <a:off x="5482955" y="720076"/>
          <a:ext cx="2665549" cy="2315633"/>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rtl="0">
            <a:lnSpc>
              <a:spcPct val="90000"/>
            </a:lnSpc>
            <a:spcBef>
              <a:spcPct val="0"/>
            </a:spcBef>
            <a:spcAft>
              <a:spcPct val="35000"/>
            </a:spcAft>
          </a:pPr>
          <a:r>
            <a:rPr lang="en-IN" sz="1400" kern="1200" dirty="0" smtClean="0">
              <a:solidFill>
                <a:srgbClr val="FF0000"/>
              </a:solidFill>
              <a:latin typeface="Bookman Old Style" pitchFamily="18" charset="0"/>
            </a:rPr>
            <a:t>Inventors: </a:t>
          </a:r>
          <a:r>
            <a:rPr lang="en-IN" sz="1400" kern="1200" dirty="0" smtClean="0">
              <a:latin typeface="Bookman Old Style" pitchFamily="18" charset="0"/>
            </a:rPr>
            <a:t>Inventors include entrepreneurs who work effectively and invent new products, using their ability and inventiveness. These entrepreneurs are generally primarily interested in innovative strategies</a:t>
          </a:r>
          <a:r>
            <a:rPr lang="en-IN" sz="1300" kern="1200" dirty="0" smtClean="0"/>
            <a:t>.</a:t>
          </a:r>
          <a:endParaRPr lang="en-IN" sz="1300" kern="1200" dirty="0"/>
        </a:p>
      </dsp:txBody>
      <dsp:txXfrm>
        <a:off x="5482955" y="720076"/>
        <a:ext cx="2665549" cy="2315633"/>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5787845-A367-4404-A0BD-1EE42B6BA0AF}">
      <dsp:nvSpPr>
        <dsp:cNvPr id="0" name=""/>
        <dsp:cNvSpPr/>
      </dsp:nvSpPr>
      <dsp:spPr>
        <a:xfrm>
          <a:off x="0" y="0"/>
          <a:ext cx="2817437" cy="5390059"/>
        </a:xfrm>
        <a:prstGeom prst="parallelogram">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2A09AA-5F30-4AD5-BF46-0306DF5929F9}">
      <dsp:nvSpPr>
        <dsp:cNvPr id="0" name=""/>
        <dsp:cNvSpPr/>
      </dsp:nvSpPr>
      <dsp:spPr>
        <a:xfrm>
          <a:off x="4188244" y="514536"/>
          <a:ext cx="2102123" cy="210212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100" kern="1200" dirty="0" smtClean="0"/>
            <a:t>Entrepreneurial Functions</a:t>
          </a:r>
        </a:p>
        <a:p>
          <a:pPr lvl="0" algn="ctr" defTabSz="800100" rtl="0">
            <a:lnSpc>
              <a:spcPct val="90000"/>
            </a:lnSpc>
            <a:spcBef>
              <a:spcPct val="0"/>
            </a:spcBef>
            <a:spcAft>
              <a:spcPct val="35000"/>
            </a:spcAft>
          </a:pPr>
          <a:endParaRPr lang="en-IN" sz="2100" kern="1200" dirty="0"/>
        </a:p>
      </dsp:txBody>
      <dsp:txXfrm>
        <a:off x="4188244" y="514536"/>
        <a:ext cx="2102123" cy="2102123"/>
      </dsp:txXfrm>
    </dsp:sp>
    <dsp:sp modelId="{EEA9257E-1C91-4696-90AC-6972B3EC72C9}">
      <dsp:nvSpPr>
        <dsp:cNvPr id="0" name=""/>
        <dsp:cNvSpPr/>
      </dsp:nvSpPr>
      <dsp:spPr>
        <a:xfrm>
          <a:off x="6127476" y="514536"/>
          <a:ext cx="2102123" cy="210212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100" kern="1200" dirty="0" smtClean="0"/>
            <a:t>Managerial Functions</a:t>
          </a:r>
        </a:p>
        <a:p>
          <a:pPr lvl="0" algn="ctr" defTabSz="800100" rtl="0">
            <a:lnSpc>
              <a:spcPct val="90000"/>
            </a:lnSpc>
            <a:spcBef>
              <a:spcPct val="0"/>
            </a:spcBef>
            <a:spcAft>
              <a:spcPct val="35000"/>
            </a:spcAft>
          </a:pPr>
          <a:endParaRPr lang="en-IN" sz="2100" kern="1200" dirty="0"/>
        </a:p>
      </dsp:txBody>
      <dsp:txXfrm>
        <a:off x="6127476" y="514536"/>
        <a:ext cx="2102123" cy="2102123"/>
      </dsp:txXfrm>
    </dsp:sp>
    <dsp:sp modelId="{B4B5C949-4C8A-4B3D-BE02-9C4B5C8196CB}">
      <dsp:nvSpPr>
        <dsp:cNvPr id="0" name=""/>
        <dsp:cNvSpPr/>
      </dsp:nvSpPr>
      <dsp:spPr>
        <a:xfrm>
          <a:off x="4273990" y="2744180"/>
          <a:ext cx="2102123" cy="210212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100" kern="1200" dirty="0" smtClean="0"/>
            <a:t>Promotional Functions</a:t>
          </a:r>
        </a:p>
        <a:p>
          <a:pPr lvl="0" algn="ctr" defTabSz="800100" rtl="0">
            <a:lnSpc>
              <a:spcPct val="90000"/>
            </a:lnSpc>
            <a:spcBef>
              <a:spcPct val="0"/>
            </a:spcBef>
            <a:spcAft>
              <a:spcPct val="35000"/>
            </a:spcAft>
          </a:pPr>
          <a:endParaRPr lang="en-IN" sz="2100" kern="1200" dirty="0"/>
        </a:p>
      </dsp:txBody>
      <dsp:txXfrm>
        <a:off x="4273990" y="2744180"/>
        <a:ext cx="2102123" cy="2102123"/>
      </dsp:txXfrm>
    </dsp:sp>
    <dsp:sp modelId="{EF0324AB-A116-4C5A-BB28-7F935731E68C}">
      <dsp:nvSpPr>
        <dsp:cNvPr id="0" name=""/>
        <dsp:cNvSpPr/>
      </dsp:nvSpPr>
      <dsp:spPr>
        <a:xfrm>
          <a:off x="6127476" y="2744180"/>
          <a:ext cx="2102123" cy="210212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IN" sz="2100" kern="1200" dirty="0" smtClean="0"/>
            <a:t>Commercial Functions</a:t>
          </a:r>
          <a:endParaRPr lang="en-IN" sz="2100" kern="1200" dirty="0"/>
        </a:p>
      </dsp:txBody>
      <dsp:txXfrm>
        <a:off x="6127476" y="2744180"/>
        <a:ext cx="2102123" cy="210212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5A7C6A-F581-43DD-921F-9087BAEC5428}" type="datetimeFigureOut">
              <a:rPr lang="en-IN" smtClean="0"/>
              <a:pPr/>
              <a:t>02-08-2022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86B797-AE2E-4137-ACDD-52F95F4745F2}"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8086B797-AE2E-4137-ACDD-52F95F4745F2}" type="slidenum">
              <a:rPr lang="en-IN" smtClean="0"/>
              <a:pPr/>
              <a:t>43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CD3050-657C-4460-91BF-0FDE94840CD3}" type="datetimeFigureOut">
              <a:rPr lang="en-IN" smtClean="0"/>
              <a:pPr/>
              <a:t>02-08-2022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7B6C6C-09D5-48FE-AD75-8669DD5B3682}" type="slidenum">
              <a:rPr lang="en-IN" smtClean="0"/>
              <a:pPr/>
              <a:t>‹#›</a:t>
            </a:fld>
            <a:endParaRPr lang="en-IN"/>
          </a:p>
        </p:txBody>
      </p:sp>
    </p:spTree>
  </p:cSld>
  <p:clrMapOvr>
    <a:masterClrMapping/>
  </p:clrMapOvr>
  <p:transition spd="med">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CD3050-657C-4460-91BF-0FDE94840CD3}" type="datetimeFigureOut">
              <a:rPr lang="en-IN" smtClean="0"/>
              <a:pPr/>
              <a:t>02-08-2022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7B6C6C-09D5-48FE-AD75-8669DD5B368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strips dir="rd"/>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F:\Project%20management\videos%20on%20content\Entrepreneurship.mp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F:\Project%20management\videos%20on%20content\Top%205%20Entrepreneurship%20Lessons%20From%20Most%20Successful%20Entrepreneurs%20_%20Life%20Lessons%20_%20Startup%20Stories.mp4"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5.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iedunote.com/entrepreneurship-definition"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051720" y="620688"/>
            <a:ext cx="2520280" cy="938535"/>
          </a:xfrm>
          <a:ln/>
        </p:spPr>
        <p:style>
          <a:lnRef idx="2">
            <a:schemeClr val="accent4"/>
          </a:lnRef>
          <a:fillRef idx="1">
            <a:schemeClr val="lt1"/>
          </a:fillRef>
          <a:effectRef idx="0">
            <a:schemeClr val="accent4"/>
          </a:effectRef>
          <a:fontRef idx="minor">
            <a:schemeClr val="dk1"/>
          </a:fontRef>
        </p:style>
        <p:txBody>
          <a:bodyPr/>
          <a:lstStyle/>
          <a:p>
            <a:r>
              <a:rPr lang="en-IN" b="1" dirty="0" smtClean="0">
                <a:ln w="12700">
                  <a:solidFill>
                    <a:schemeClr val="tx2">
                      <a:satMod val="155000"/>
                    </a:schemeClr>
                  </a:solidFill>
                  <a:prstDash val="solid"/>
                </a:ln>
                <a:solidFill>
                  <a:srgbClr val="FF0000"/>
                </a:solidFill>
                <a:latin typeface="Bookman Old Style" pitchFamily="18" charset="0"/>
              </a:rPr>
              <a:t>UNIT-1</a:t>
            </a:r>
            <a:endParaRPr lang="en-IN" b="1" dirty="0">
              <a:ln w="12700">
                <a:solidFill>
                  <a:schemeClr val="tx2">
                    <a:satMod val="155000"/>
                  </a:schemeClr>
                </a:solidFill>
                <a:prstDash val="solid"/>
              </a:ln>
              <a:solidFill>
                <a:srgbClr val="FF0000"/>
              </a:solidFill>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ream-big-work-smart-1024x683.jpg"/>
          <p:cNvPicPr>
            <a:picLocks noChangeAspect="1"/>
          </p:cNvPicPr>
          <p:nvPr/>
        </p:nvPicPr>
        <p:blipFill>
          <a:blip r:embed="rId2" cstate="print"/>
          <a:stretch>
            <a:fillRect/>
          </a:stretch>
        </p:blipFill>
        <p:spPr>
          <a:xfrm>
            <a:off x="4427984" y="404664"/>
            <a:ext cx="4355976" cy="5954961"/>
          </a:xfrm>
          <a:prstGeom prst="rect">
            <a:avLst/>
          </a:prstGeom>
          <a:ln w="88900" cap="sq" cmpd="thickThin">
            <a:solidFill>
              <a:srgbClr val="000000"/>
            </a:solidFill>
            <a:prstDash val="solid"/>
            <a:miter lim="800000"/>
          </a:ln>
          <a:effectLst>
            <a:innerShdw blurRad="76200">
              <a:srgbClr val="000000"/>
            </a:innerShdw>
          </a:effectLst>
        </p:spPr>
      </p:pic>
      <p:pic>
        <p:nvPicPr>
          <p:cNvPr id="2050" name="Picture 2"/>
          <p:cNvPicPr>
            <a:picLocks noChangeAspect="1" noChangeArrowheads="1"/>
          </p:cNvPicPr>
          <p:nvPr/>
        </p:nvPicPr>
        <p:blipFill>
          <a:blip r:embed="rId3" cstate="print"/>
          <a:srcRect t="2751"/>
          <a:stretch>
            <a:fillRect/>
          </a:stretch>
        </p:blipFill>
        <p:spPr bwMode="auto">
          <a:xfrm>
            <a:off x="0" y="332656"/>
            <a:ext cx="4388482" cy="6048672"/>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2"/>
            <a:ext cx="8229600" cy="4968552"/>
          </a:xfrm>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p>
            <a:pPr algn="just">
              <a:lnSpc>
                <a:spcPct val="120000"/>
              </a:lnSpc>
            </a:pPr>
            <a:endParaRPr lang="en-IN" sz="4400" dirty="0">
              <a:latin typeface="Bookman Old Style" pitchFamily="18" charset="0"/>
            </a:endParaRPr>
          </a:p>
          <a:p>
            <a:pPr algn="just">
              <a:lnSpc>
                <a:spcPct val="120000"/>
              </a:lnSpc>
            </a:pPr>
            <a:r>
              <a:rPr lang="en-IN" sz="4400" dirty="0" smtClean="0">
                <a:latin typeface="Bookman Old Style" pitchFamily="18" charset="0"/>
              </a:rPr>
              <a:t>The </a:t>
            </a:r>
            <a:r>
              <a:rPr lang="en-IN" sz="4400" b="1" dirty="0">
                <a:solidFill>
                  <a:srgbClr val="7030A0"/>
                </a:solidFill>
                <a:latin typeface="Bookman Old Style" pitchFamily="18" charset="0"/>
              </a:rPr>
              <a:t>ENTERPRISE</a:t>
            </a:r>
            <a:r>
              <a:rPr lang="en-IN" sz="4400" dirty="0">
                <a:latin typeface="Bookman Old Style" pitchFamily="18" charset="0"/>
              </a:rPr>
              <a:t> is some business structure/object that usually carries out some commercial activity, creates new job positions, gains some profits. </a:t>
            </a:r>
            <a:endParaRPr lang="en-IN" sz="4400" dirty="0" smtClean="0">
              <a:latin typeface="Bookman Old Style" pitchFamily="18" charset="0"/>
            </a:endParaRPr>
          </a:p>
          <a:p>
            <a:pPr algn="just">
              <a:lnSpc>
                <a:spcPct val="120000"/>
              </a:lnSpc>
              <a:buNone/>
            </a:pPr>
            <a:endParaRPr lang="en-IN" sz="4400" dirty="0">
              <a:latin typeface="Bookman Old Style" pitchFamily="18" charset="0"/>
            </a:endParaRPr>
          </a:p>
          <a:p>
            <a:pPr algn="just">
              <a:lnSpc>
                <a:spcPct val="120000"/>
              </a:lnSpc>
            </a:pPr>
            <a:r>
              <a:rPr lang="en-IN" sz="4400" b="1" dirty="0" smtClean="0">
                <a:solidFill>
                  <a:srgbClr val="7030A0"/>
                </a:solidFill>
                <a:latin typeface="Bookman Old Style" pitchFamily="18" charset="0"/>
              </a:rPr>
              <a:t>ENTREPRENEURSHIP</a:t>
            </a:r>
            <a:r>
              <a:rPr lang="en-IN" sz="4400" dirty="0" smtClean="0">
                <a:latin typeface="Bookman Old Style" pitchFamily="18" charset="0"/>
              </a:rPr>
              <a:t> </a:t>
            </a:r>
            <a:r>
              <a:rPr lang="en-IN" sz="4400" dirty="0">
                <a:latin typeface="Bookman Old Style" pitchFamily="18" charset="0"/>
              </a:rPr>
              <a:t>is the art of starting a business, basically a </a:t>
            </a:r>
            <a:r>
              <a:rPr lang="en-IN" sz="4400" dirty="0" err="1">
                <a:solidFill>
                  <a:srgbClr val="FF0000"/>
                </a:solidFill>
                <a:latin typeface="Bookman Old Style" pitchFamily="18" charset="0"/>
              </a:rPr>
              <a:t>startup</a:t>
            </a:r>
            <a:r>
              <a:rPr lang="en-IN" sz="4400" dirty="0">
                <a:latin typeface="Bookman Old Style" pitchFamily="18" charset="0"/>
              </a:rPr>
              <a:t> company offering creative product, process or service. </a:t>
            </a:r>
            <a:endParaRPr lang="en-IN" sz="4400" dirty="0" smtClean="0">
              <a:latin typeface="Bookman Old Style" pitchFamily="18" charset="0"/>
            </a:endParaRPr>
          </a:p>
          <a:p>
            <a:pPr algn="just">
              <a:lnSpc>
                <a:spcPct val="120000"/>
              </a:lnSpc>
            </a:pPr>
            <a:r>
              <a:rPr lang="en-IN" sz="4400" dirty="0" smtClean="0">
                <a:latin typeface="Bookman Old Style" pitchFamily="18" charset="0"/>
              </a:rPr>
              <a:t>Simply It </a:t>
            </a:r>
            <a:r>
              <a:rPr lang="en-IN" sz="4400" dirty="0">
                <a:latin typeface="Bookman Old Style" pitchFamily="18" charset="0"/>
              </a:rPr>
              <a:t>is an activity full of creativity. </a:t>
            </a:r>
            <a:endParaRPr lang="en-IN" sz="4400" dirty="0" smtClean="0">
              <a:latin typeface="Bookman Old Style" pitchFamily="18" charset="0"/>
            </a:endParaRPr>
          </a:p>
          <a:p>
            <a:pPr algn="just">
              <a:lnSpc>
                <a:spcPct val="120000"/>
              </a:lnSpc>
            </a:pPr>
            <a:r>
              <a:rPr lang="en-IN" sz="4400" dirty="0" smtClean="0">
                <a:latin typeface="Bookman Old Style" pitchFamily="18" charset="0"/>
              </a:rPr>
              <a:t>An </a:t>
            </a:r>
            <a:r>
              <a:rPr lang="en-IN" sz="4400" dirty="0">
                <a:latin typeface="Bookman Old Style" pitchFamily="18" charset="0"/>
              </a:rPr>
              <a:t>entrepreneur perceives everything as a chance and displays bias in taking decision to exploit the chance. An enterprise is created by an entrepreneur. The process of creation is called </a:t>
            </a:r>
            <a:r>
              <a:rPr lang="en-IN" sz="4400" dirty="0" smtClean="0">
                <a:latin typeface="Bookman Old Style" pitchFamily="18" charset="0"/>
              </a:rPr>
              <a:t>entrepreneurship </a:t>
            </a:r>
            <a:endParaRPr lang="en-IN" sz="4400" dirty="0">
              <a:latin typeface="Bookman Old Style" pitchFamily="18" charset="0"/>
            </a:endParaRPr>
          </a:p>
          <a:p>
            <a:pPr algn="just">
              <a:lnSpc>
                <a:spcPct val="120000"/>
              </a:lnSpc>
            </a:pPr>
            <a:endParaRPr lang="en-IN" dirty="0">
              <a:latin typeface="Bookman Old Style" pitchFamily="18" charset="0"/>
            </a:endParaRPr>
          </a:p>
        </p:txBody>
      </p:sp>
      <p:pic>
        <p:nvPicPr>
          <p:cNvPr id="1026" name="Picture 2"/>
          <p:cNvPicPr>
            <a:picLocks noChangeAspect="1" noChangeArrowheads="1"/>
          </p:cNvPicPr>
          <p:nvPr/>
        </p:nvPicPr>
        <p:blipFill>
          <a:blip r:embed="rId2" cstate="print"/>
          <a:srcRect l="3033" t="13745" r="3557" b="20965"/>
          <a:stretch>
            <a:fillRect/>
          </a:stretch>
        </p:blipFill>
        <p:spPr bwMode="auto">
          <a:xfrm>
            <a:off x="251520" y="260648"/>
            <a:ext cx="8496944" cy="1107504"/>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188640"/>
            <a:ext cx="4762872" cy="864096"/>
          </a:xfrm>
        </p:spPr>
        <p:style>
          <a:lnRef idx="2">
            <a:schemeClr val="accent4">
              <a:shade val="50000"/>
            </a:schemeClr>
          </a:lnRef>
          <a:fillRef idx="1">
            <a:schemeClr val="accent4"/>
          </a:fillRef>
          <a:effectRef idx="0">
            <a:schemeClr val="accent4"/>
          </a:effectRef>
          <a:fontRef idx="minor">
            <a:schemeClr val="lt1"/>
          </a:fontRef>
        </p:style>
        <p:txBody>
          <a:bodyPr>
            <a:normAutofit fontScale="90000"/>
          </a:bodyPr>
          <a:lstStyle/>
          <a:p>
            <a:r>
              <a:rPr lang="en-IN"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Bookman Old Style" pitchFamily="18" charset="0"/>
              </a:rPr>
              <a:t>ENTREPRENEUR</a:t>
            </a:r>
            <a:endParaRPr lang="en-IN" dirty="0">
              <a:latin typeface="Bookman Old Style" pitchFamily="18" charset="0"/>
            </a:endParaRPr>
          </a:p>
        </p:txBody>
      </p:sp>
      <p:sp>
        <p:nvSpPr>
          <p:cNvPr id="3" name="Content Placeholder 2"/>
          <p:cNvSpPr>
            <a:spLocks noGrp="1"/>
          </p:cNvSpPr>
          <p:nvPr>
            <p:ph idx="1"/>
          </p:nvPr>
        </p:nvSpPr>
        <p:spPr>
          <a:xfrm>
            <a:off x="251520" y="980728"/>
            <a:ext cx="8568952" cy="5472608"/>
          </a:xfrm>
          <a:blipFill>
            <a:blip r:embed="rId2" cstate="print"/>
            <a:tile tx="0" ty="0" sx="100000" sy="100000" flip="none" algn="tl"/>
          </a:blipFill>
        </p:spPr>
        <p:txBody>
          <a:bodyPr>
            <a:noAutofit/>
          </a:bodyPr>
          <a:lstStyle/>
          <a:p>
            <a:pPr algn="just">
              <a:buFont typeface="Wingdings" pitchFamily="2" charset="2"/>
              <a:buChar char="q"/>
            </a:pPr>
            <a:r>
              <a:rPr lang="en-IN" sz="2000" dirty="0" smtClean="0">
                <a:latin typeface="Bookman Old Style" pitchFamily="18" charset="0"/>
              </a:rPr>
              <a:t>The word ‘entrepreneur’ is derived from French word </a:t>
            </a:r>
            <a:r>
              <a:rPr lang="en-IN" sz="2000" dirty="0" smtClean="0">
                <a:solidFill>
                  <a:srgbClr val="7030A0"/>
                </a:solidFill>
                <a:latin typeface="Bookman Old Style" pitchFamily="18" charset="0"/>
              </a:rPr>
              <a:t>‘</a:t>
            </a:r>
            <a:r>
              <a:rPr lang="en-IN" sz="2000" b="1" dirty="0" smtClean="0">
                <a:solidFill>
                  <a:srgbClr val="7030A0"/>
                </a:solidFill>
                <a:latin typeface="Bookman Old Style" pitchFamily="18" charset="0"/>
              </a:rPr>
              <a:t>Entrependre</a:t>
            </a:r>
            <a:r>
              <a:rPr lang="en-IN" sz="2000" dirty="0" smtClean="0">
                <a:latin typeface="Bookman Old Style" pitchFamily="18" charset="0"/>
              </a:rPr>
              <a:t>’ which means undertaking the risk of enterprise and further it was used to designate an organizer of musical or other entertainments.</a:t>
            </a:r>
          </a:p>
          <a:p>
            <a:pPr algn="just">
              <a:buNone/>
            </a:pPr>
            <a:endParaRPr lang="en-IN" sz="2000" dirty="0" smtClean="0">
              <a:latin typeface="Bookman Old Style" pitchFamily="18" charset="0"/>
            </a:endParaRPr>
          </a:p>
          <a:p>
            <a:pPr algn="just">
              <a:buFont typeface="Wingdings" pitchFamily="2" charset="2"/>
              <a:buChar char="q"/>
            </a:pPr>
            <a:r>
              <a:rPr lang="en-IN" sz="2000" dirty="0" smtClean="0">
                <a:latin typeface="Bookman Old Style" pitchFamily="18" charset="0"/>
              </a:rPr>
              <a:t>Later in 16th century it was used for army leaders. </a:t>
            </a:r>
          </a:p>
          <a:p>
            <a:pPr algn="just">
              <a:buNone/>
            </a:pPr>
            <a:endParaRPr lang="en-IN" sz="2000" dirty="0" smtClean="0">
              <a:latin typeface="Bookman Old Style" pitchFamily="18" charset="0"/>
            </a:endParaRPr>
          </a:p>
          <a:p>
            <a:pPr algn="just">
              <a:buFont typeface="Wingdings" pitchFamily="2" charset="2"/>
              <a:buChar char="q"/>
            </a:pPr>
            <a:r>
              <a:rPr lang="en-IN" sz="2000" dirty="0" smtClean="0">
                <a:latin typeface="Bookman Old Style" pitchFamily="18" charset="0"/>
              </a:rPr>
              <a:t>It was extended to cover civil engineering activities such as construction in 17th century. </a:t>
            </a:r>
          </a:p>
          <a:p>
            <a:pPr algn="just">
              <a:buNone/>
            </a:pPr>
            <a:endParaRPr lang="en-IN" sz="2000" dirty="0" smtClean="0">
              <a:latin typeface="Bookman Old Style" pitchFamily="18" charset="0"/>
            </a:endParaRPr>
          </a:p>
          <a:p>
            <a:pPr algn="just">
              <a:buFont typeface="Wingdings" pitchFamily="2" charset="2"/>
              <a:buChar char="q"/>
            </a:pPr>
            <a:r>
              <a:rPr lang="en-IN" sz="2000" dirty="0" smtClean="0">
                <a:latin typeface="Bookman Old Style" pitchFamily="18" charset="0"/>
              </a:rPr>
              <a:t>But it was </a:t>
            </a:r>
            <a:r>
              <a:rPr lang="en-IN" sz="2000" b="1" dirty="0" smtClean="0">
                <a:solidFill>
                  <a:srgbClr val="7030A0"/>
                </a:solidFill>
                <a:latin typeface="Bookman Old Style" pitchFamily="18" charset="0"/>
              </a:rPr>
              <a:t>Richard </a:t>
            </a:r>
            <a:r>
              <a:rPr lang="en-IN" sz="2000" b="1" dirty="0" err="1" smtClean="0">
                <a:solidFill>
                  <a:srgbClr val="7030A0"/>
                </a:solidFill>
                <a:latin typeface="Bookman Old Style" pitchFamily="18" charset="0"/>
              </a:rPr>
              <a:t>Cantillon</a:t>
            </a:r>
            <a:r>
              <a:rPr lang="en-IN" sz="2000" dirty="0" smtClean="0">
                <a:latin typeface="Bookman Old Style" pitchFamily="18" charset="0"/>
              </a:rPr>
              <a:t>, an Irishman living in France who first used the term entrepreneur to refer to economic activities.</a:t>
            </a:r>
          </a:p>
          <a:p>
            <a:pPr algn="just">
              <a:buNone/>
            </a:pPr>
            <a:endParaRPr lang="en-IN" sz="2000" dirty="0" smtClean="0">
              <a:latin typeface="Bookman Old Style" pitchFamily="18" charset="0"/>
            </a:endParaRPr>
          </a:p>
          <a:p>
            <a:pPr algn="just">
              <a:buFont typeface="Wingdings" pitchFamily="2" charset="2"/>
              <a:buChar char="q"/>
            </a:pPr>
            <a:r>
              <a:rPr lang="en-IN" sz="2000" dirty="0" smtClean="0">
                <a:latin typeface="Bookman Old Style" pitchFamily="18" charset="0"/>
              </a:rPr>
              <a:t>According to </a:t>
            </a:r>
            <a:r>
              <a:rPr lang="en-IN" sz="2000" b="1" dirty="0" err="1" smtClean="0">
                <a:solidFill>
                  <a:srgbClr val="7030A0"/>
                </a:solidFill>
                <a:latin typeface="Bookman Old Style" pitchFamily="18" charset="0"/>
              </a:rPr>
              <a:t>Cantillon</a:t>
            </a:r>
            <a:r>
              <a:rPr lang="en-IN" sz="2000" dirty="0" smtClean="0">
                <a:latin typeface="Bookman Old Style" pitchFamily="18" charset="0"/>
              </a:rPr>
              <a:t> “An entrepreneur is a person who buys factor services at certain prices with a view to selling its product at uncertain prices”. </a:t>
            </a:r>
          </a:p>
        </p:txBody>
      </p:sp>
    </p:spTree>
  </p:cSld>
  <p:clrMapOvr>
    <a:masterClrMapping/>
  </p:clrMapOvr>
  <p:transition spd="med">
    <p:strips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904656"/>
          </a:xfrm>
          <a:blipFill>
            <a:blip r:embed="rId2" cstate="print"/>
            <a:tile tx="0" ty="0" sx="100000" sy="100000" flip="none" algn="tl"/>
          </a:blipFill>
        </p:spPr>
        <p:txBody>
          <a:bodyPr>
            <a:normAutofit/>
          </a:bodyPr>
          <a:lstStyle/>
          <a:p>
            <a:pPr algn="just">
              <a:buFont typeface="Wingdings" pitchFamily="2" charset="2"/>
              <a:buChar char="q"/>
            </a:pPr>
            <a:r>
              <a:rPr lang="en-IN" sz="2400" dirty="0" smtClean="0">
                <a:latin typeface="Bookman Old Style" pitchFamily="18" charset="0"/>
              </a:rPr>
              <a:t> Entrepreneur</a:t>
            </a:r>
            <a:r>
              <a:rPr lang="en-IN" sz="2400" dirty="0">
                <a:latin typeface="Bookman Old Style" pitchFamily="18" charset="0"/>
              </a:rPr>
              <a:t>, according to </a:t>
            </a:r>
            <a:r>
              <a:rPr lang="en-IN" sz="2400" b="1" dirty="0" err="1">
                <a:solidFill>
                  <a:srgbClr val="7030A0"/>
                </a:solidFill>
                <a:latin typeface="Bookman Old Style" pitchFamily="18" charset="0"/>
              </a:rPr>
              <a:t>Cantillon</a:t>
            </a:r>
            <a:r>
              <a:rPr lang="en-IN" sz="2400" dirty="0">
                <a:latin typeface="Bookman Old Style" pitchFamily="18" charset="0"/>
              </a:rPr>
              <a:t>, is a bearer of risk, which is </a:t>
            </a:r>
            <a:r>
              <a:rPr lang="en-IN" sz="2400" dirty="0" smtClean="0">
                <a:latin typeface="Bookman Old Style" pitchFamily="18" charset="0"/>
              </a:rPr>
              <a:t>non-insurable.</a:t>
            </a:r>
          </a:p>
          <a:p>
            <a:pPr algn="just">
              <a:buFont typeface="Wingdings" pitchFamily="2" charset="2"/>
              <a:buChar char="q"/>
            </a:pPr>
            <a:endParaRPr lang="en-IN" sz="2400" b="1" dirty="0">
              <a:solidFill>
                <a:srgbClr val="7030A0"/>
              </a:solidFill>
              <a:latin typeface="Bookman Old Style" pitchFamily="18" charset="0"/>
            </a:endParaRPr>
          </a:p>
          <a:p>
            <a:pPr algn="just">
              <a:buFont typeface="Wingdings" pitchFamily="2" charset="2"/>
              <a:buChar char="q"/>
            </a:pPr>
            <a:r>
              <a:rPr lang="en-IN" sz="2400" b="1" dirty="0" err="1" smtClean="0">
                <a:solidFill>
                  <a:srgbClr val="7030A0"/>
                </a:solidFill>
                <a:latin typeface="Bookman Old Style" pitchFamily="18" charset="0"/>
              </a:rPr>
              <a:t>Schum</a:t>
            </a:r>
            <a:r>
              <a:rPr lang="en-IN" sz="2400" b="1" dirty="0" smtClean="0">
                <a:solidFill>
                  <a:srgbClr val="7030A0"/>
                </a:solidFill>
                <a:latin typeface="Bookman Old Style" pitchFamily="18" charset="0"/>
              </a:rPr>
              <a:t> </a:t>
            </a:r>
            <a:r>
              <a:rPr lang="en-IN" sz="2400" b="1" dirty="0">
                <a:solidFill>
                  <a:srgbClr val="7030A0"/>
                </a:solidFill>
                <a:latin typeface="Bookman Old Style" pitchFamily="18" charset="0"/>
              </a:rPr>
              <a:t>peter </a:t>
            </a:r>
            <a:r>
              <a:rPr lang="en-IN" sz="2400" dirty="0">
                <a:latin typeface="Bookman Old Style" pitchFamily="18" charset="0"/>
              </a:rPr>
              <a:t>gave a central position to the entrepreneur who believed that an entrepreneur was a dynamic agent of change; that an entrepreneur was a catalyst who transformed increasingly physical, natural and human resources into correspondingly production possibilities. </a:t>
            </a:r>
          </a:p>
          <a:p>
            <a:pPr algn="just">
              <a:buFont typeface="Wingdings" pitchFamily="2" charset="2"/>
              <a:buChar char="q"/>
            </a:pPr>
            <a:endParaRPr lang="en-IN" sz="2400" dirty="0" smtClean="0">
              <a:latin typeface="Bookman Old Style" pitchFamily="18" charset="0"/>
            </a:endParaRPr>
          </a:p>
          <a:p>
            <a:pPr algn="just">
              <a:buFont typeface="Wingdings" pitchFamily="2" charset="2"/>
              <a:buChar char="q"/>
            </a:pPr>
            <a:r>
              <a:rPr lang="en-IN" sz="2400" dirty="0" smtClean="0">
                <a:latin typeface="Bookman Old Style" pitchFamily="18" charset="0"/>
              </a:rPr>
              <a:t>Since </a:t>
            </a:r>
            <a:r>
              <a:rPr lang="en-IN" sz="2400" dirty="0">
                <a:latin typeface="Bookman Old Style" pitchFamily="18" charset="0"/>
              </a:rPr>
              <a:t>then the term entrepreneur is used in various ways and various views</a:t>
            </a:r>
            <a:r>
              <a:rPr lang="en-IN" sz="2400" dirty="0" smtClean="0">
                <a:latin typeface="Bookman Old Style" pitchFamily="18" charset="0"/>
              </a:rPr>
              <a:t>.</a:t>
            </a:r>
            <a:endParaRPr lang="en-IN"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Video on Entrepreneurship</a:t>
            </a:r>
            <a:endParaRPr lang="en-IN" dirty="0"/>
          </a:p>
        </p:txBody>
      </p:sp>
      <p:pic>
        <p:nvPicPr>
          <p:cNvPr id="4" name="Entrepreneurship.mp4">
            <a:hlinkClick r:id="" action="ppaction://media"/>
          </p:cNvPr>
          <p:cNvPicPr>
            <a:picLocks noGrp="1" noRot="1" noChangeAspect="1"/>
          </p:cNvPicPr>
          <p:nvPr>
            <p:ph idx="1"/>
            <a:videoFile r:link="rId1"/>
          </p:nvPr>
        </p:nvPicPr>
        <p:blipFill>
          <a:blip r:embed="rId3" cstate="print"/>
          <a:stretch>
            <a:fillRect/>
          </a:stretch>
        </p:blipFill>
        <p:spPr>
          <a:xfrm>
            <a:off x="921808" y="1124744"/>
            <a:ext cx="7250592" cy="5437944"/>
          </a:xfrm>
          <a:prstGeom prst="rect">
            <a:avLst/>
          </a:prstGeom>
        </p:spPr>
      </p:pic>
    </p:spTree>
  </p:cSld>
  <p:clrMapOvr>
    <a:masterClrMapping/>
  </p:clrMapOvr>
  <p:transition spd="med">
    <p:strips dir="rd"/>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endCondLst>
                    <p:cond evt="onNext" delay="0">
                      <p:tgtEl>
                        <p:sldTgt/>
                      </p:tgtEl>
                    </p:cond>
                    <p:cond evt="onPrev" delay="0">
                      <p:tgtEl>
                        <p:sldTgt/>
                      </p:tgtEl>
                    </p:cond>
                  </p:endCondLst>
                </p:cTn>
                <p:tgtEl>
                  <p:spTgt spid="4"/>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60648"/>
            <a:ext cx="6912768" cy="576064"/>
          </a:xfrm>
        </p:spPr>
        <p:style>
          <a:lnRef idx="2">
            <a:schemeClr val="accent6">
              <a:shade val="50000"/>
            </a:schemeClr>
          </a:lnRef>
          <a:fillRef idx="1">
            <a:schemeClr val="accent6"/>
          </a:fillRef>
          <a:effectRef idx="0">
            <a:schemeClr val="accent6"/>
          </a:effectRef>
          <a:fontRef idx="minor">
            <a:schemeClr val="lt1"/>
          </a:fontRef>
        </p:style>
        <p:txBody>
          <a:bodyPr>
            <a:normAutofit fontScale="90000"/>
          </a:bodyPr>
          <a:lstStyle/>
          <a:p>
            <a:r>
              <a:rPr lang="en-IN" b="1"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latin typeface="Bookman Old Style" pitchFamily="18" charset="0"/>
              </a:rPr>
              <a:t>Meaning of Entrepreneur</a:t>
            </a:r>
            <a:endParaRPr lang="en-IN" b="1"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Bookman Old Style" pitchFamily="18" charset="0"/>
            </a:endParaRPr>
          </a:p>
        </p:txBody>
      </p:sp>
      <p:sp>
        <p:nvSpPr>
          <p:cNvPr id="3" name="Content Placeholder 2"/>
          <p:cNvSpPr>
            <a:spLocks noGrp="1"/>
          </p:cNvSpPr>
          <p:nvPr>
            <p:ph idx="1"/>
          </p:nvPr>
        </p:nvSpPr>
        <p:spPr>
          <a:xfrm>
            <a:off x="251520" y="1052736"/>
            <a:ext cx="8589640" cy="54006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just">
              <a:buFont typeface="Wingdings" pitchFamily="2" charset="2"/>
              <a:buChar char="v"/>
            </a:pPr>
            <a:r>
              <a:rPr lang="en-IN" sz="2800" dirty="0" smtClean="0">
                <a:solidFill>
                  <a:schemeClr val="bg1"/>
                </a:solidFill>
                <a:latin typeface="Bookman Old Style" pitchFamily="18" charset="0"/>
              </a:rPr>
              <a:t>Entrepreneur is a person who tries to create something new, searches new opportunities, </a:t>
            </a:r>
            <a:r>
              <a:rPr lang="en-IN" sz="2800" dirty="0" smtClean="0">
                <a:solidFill>
                  <a:srgbClr val="C00000"/>
                </a:solidFill>
                <a:latin typeface="Bookman Old Style" pitchFamily="18" charset="0"/>
              </a:rPr>
              <a:t>bears risk,</a:t>
            </a:r>
            <a:r>
              <a:rPr lang="en-IN" sz="2800" dirty="0" smtClean="0">
                <a:solidFill>
                  <a:schemeClr val="bg1"/>
                </a:solidFill>
                <a:latin typeface="Bookman Old Style" pitchFamily="18" charset="0"/>
              </a:rPr>
              <a:t> unites various factors of production like </a:t>
            </a:r>
            <a:r>
              <a:rPr lang="en-IN" sz="2800" dirty="0" smtClean="0">
                <a:solidFill>
                  <a:srgbClr val="C00000"/>
                </a:solidFill>
                <a:latin typeface="Bookman Old Style" pitchFamily="18" charset="0"/>
              </a:rPr>
              <a:t>land, labour and capital </a:t>
            </a:r>
            <a:r>
              <a:rPr lang="en-IN" sz="2800" dirty="0" smtClean="0">
                <a:solidFill>
                  <a:schemeClr val="bg1"/>
                </a:solidFill>
                <a:latin typeface="Bookman Old Style" pitchFamily="18" charset="0"/>
              </a:rPr>
              <a:t>carries innovations and from his skill and farsightedness faces unforeseen circumstances and thereby earns profits.</a:t>
            </a:r>
          </a:p>
          <a:p>
            <a:pPr algn="just">
              <a:buNone/>
            </a:pPr>
            <a:endParaRPr lang="en-IN" sz="2800" dirty="0" smtClean="0">
              <a:solidFill>
                <a:schemeClr val="bg1"/>
              </a:solidFill>
              <a:latin typeface="Bookman Old Style" pitchFamily="18" charset="0"/>
            </a:endParaRPr>
          </a:p>
          <a:p>
            <a:pPr algn="just">
              <a:buFont typeface="Wingdings" pitchFamily="2" charset="2"/>
              <a:buChar char="v"/>
            </a:pPr>
            <a:r>
              <a:rPr lang="en-IN" sz="2800" dirty="0" smtClean="0">
                <a:solidFill>
                  <a:schemeClr val="bg1"/>
                </a:solidFill>
                <a:latin typeface="Bookman Old Style" pitchFamily="18" charset="0"/>
              </a:rPr>
              <a:t>Entrepreneurs are the pioneers who are instrumental in the economic development, growth and development of and prosperity of a country.</a:t>
            </a:r>
            <a:endParaRPr lang="en-IN" sz="2800" dirty="0">
              <a:solidFill>
                <a:schemeClr val="bg1"/>
              </a:solidFill>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491880" y="274638"/>
            <a:ext cx="2088232" cy="418058"/>
          </a:xfrm>
          <a:solidFill>
            <a:srgbClr val="92D050"/>
          </a:solidFill>
          <a:ln>
            <a:solidFill>
              <a:srgbClr val="FF0000"/>
            </a:solidFill>
          </a:ln>
        </p:spPr>
        <p:style>
          <a:lnRef idx="2">
            <a:schemeClr val="dk1"/>
          </a:lnRef>
          <a:fillRef idx="1">
            <a:schemeClr val="lt1"/>
          </a:fillRef>
          <a:effectRef idx="0">
            <a:schemeClr val="dk1"/>
          </a:effectRef>
          <a:fontRef idx="minor">
            <a:schemeClr val="dk1"/>
          </a:fontRef>
        </p:style>
        <p:txBody>
          <a:bodyPr>
            <a:normAutofit fontScale="90000"/>
          </a:bodyPr>
          <a:lstStyle/>
          <a:p>
            <a:r>
              <a:rPr lang="en-IN" sz="3100" dirty="0" smtClean="0">
                <a:latin typeface="Maiandra GD" pitchFamily="34" charset="0"/>
              </a:rPr>
              <a:t>Defi</a:t>
            </a:r>
            <a:r>
              <a:rPr lang="en-IN" sz="2700" dirty="0" smtClean="0">
                <a:latin typeface="Maiandra GD" pitchFamily="34" charset="0"/>
              </a:rPr>
              <a:t>n</a:t>
            </a:r>
            <a:r>
              <a:rPr lang="en-IN" sz="3100" dirty="0" smtClean="0">
                <a:latin typeface="Maiandra GD" pitchFamily="34" charset="0"/>
              </a:rPr>
              <a:t>ition</a:t>
            </a:r>
            <a:r>
              <a:rPr lang="en-IN" dirty="0" smtClean="0">
                <a:latin typeface="Maiandra GD" pitchFamily="34" charset="0"/>
              </a:rPr>
              <a:t> </a:t>
            </a:r>
            <a:endParaRPr lang="en-IN" dirty="0">
              <a:latin typeface="Maiandra GD" pitchFamily="34" charset="0"/>
            </a:endParaRPr>
          </a:p>
        </p:txBody>
      </p:sp>
      <p:sp>
        <p:nvSpPr>
          <p:cNvPr id="3" name="Content Placeholder 2"/>
          <p:cNvSpPr>
            <a:spLocks noGrp="1"/>
          </p:cNvSpPr>
          <p:nvPr>
            <p:ph idx="1"/>
          </p:nvPr>
        </p:nvSpPr>
        <p:spPr>
          <a:xfrm>
            <a:off x="251520" y="764704"/>
            <a:ext cx="8640960" cy="5904656"/>
          </a:xfrm>
        </p:spPr>
        <p:style>
          <a:lnRef idx="1">
            <a:schemeClr val="dk1"/>
          </a:lnRef>
          <a:fillRef idx="2">
            <a:schemeClr val="dk1"/>
          </a:fillRef>
          <a:effectRef idx="1">
            <a:schemeClr val="dk1"/>
          </a:effectRef>
          <a:fontRef idx="minor">
            <a:schemeClr val="dk1"/>
          </a:fontRef>
        </p:style>
        <p:txBody>
          <a:bodyPr numCol="1">
            <a:noAutofit/>
          </a:bodyPr>
          <a:lstStyle/>
          <a:p>
            <a:pPr algn="just">
              <a:lnSpc>
                <a:spcPct val="170000"/>
              </a:lnSpc>
              <a:buNone/>
            </a:pPr>
            <a:r>
              <a:rPr lang="en-IN" sz="1400" dirty="0" smtClean="0">
                <a:solidFill>
                  <a:schemeClr val="bg2">
                    <a:lumMod val="10000"/>
                  </a:schemeClr>
                </a:solidFill>
                <a:latin typeface="Bookman Old Style" pitchFamily="18" charset="0"/>
              </a:rPr>
              <a:t>There are various views about entrepreneur which are broadly classified into three groups, namely </a:t>
            </a:r>
            <a:r>
              <a:rPr lang="en-IN" sz="1400" b="1" dirty="0" smtClean="0">
                <a:solidFill>
                  <a:srgbClr val="FF0000"/>
                </a:solidFill>
                <a:latin typeface="Bookman Old Style" pitchFamily="18" charset="0"/>
              </a:rPr>
              <a:t>risk bearer, organizer and innovator</a:t>
            </a:r>
            <a:r>
              <a:rPr lang="en-IN" sz="1400" dirty="0" smtClean="0">
                <a:solidFill>
                  <a:srgbClr val="FF0000"/>
                </a:solidFill>
                <a:latin typeface="Bookman Old Style" pitchFamily="18" charset="0"/>
              </a:rPr>
              <a:t>. </a:t>
            </a:r>
          </a:p>
          <a:p>
            <a:pPr algn="just">
              <a:lnSpc>
                <a:spcPct val="170000"/>
              </a:lnSpc>
              <a:buFont typeface="Wingdings" pitchFamily="2" charset="2"/>
              <a:buChar char="Ø"/>
            </a:pPr>
            <a:r>
              <a:rPr lang="en-IN" sz="1400" b="1" dirty="0" smtClean="0">
                <a:solidFill>
                  <a:srgbClr val="FF0000"/>
                </a:solidFill>
                <a:latin typeface="Bookman Old Style" pitchFamily="18" charset="0"/>
              </a:rPr>
              <a:t>Entrepreneur as Risk Bear </a:t>
            </a:r>
            <a:r>
              <a:rPr lang="en-IN" sz="1400" b="1" dirty="0" smtClean="0">
                <a:solidFill>
                  <a:schemeClr val="bg2">
                    <a:lumMod val="10000"/>
                  </a:schemeClr>
                </a:solidFill>
                <a:latin typeface="Bookman Old Style" pitchFamily="18" charset="0"/>
              </a:rPr>
              <a:t>: </a:t>
            </a:r>
          </a:p>
          <a:p>
            <a:pPr marL="514350" indent="-514350" algn="just">
              <a:buAutoNum type="arabicPeriod"/>
            </a:pPr>
            <a:r>
              <a:rPr lang="en-IN" sz="1400" b="1" dirty="0" smtClean="0">
                <a:solidFill>
                  <a:srgbClr val="7030A0"/>
                </a:solidFill>
                <a:latin typeface="Bookman Old Style" pitchFamily="18" charset="0"/>
              </a:rPr>
              <a:t>Richard </a:t>
            </a:r>
            <a:r>
              <a:rPr lang="en-IN" sz="1400" b="1" dirty="0" err="1" smtClean="0">
                <a:solidFill>
                  <a:srgbClr val="7030A0"/>
                </a:solidFill>
                <a:latin typeface="Bookman Old Style" pitchFamily="18" charset="0"/>
              </a:rPr>
              <a:t>Cantilon</a:t>
            </a:r>
            <a:r>
              <a:rPr lang="en-IN" sz="1400" b="1" dirty="0" smtClean="0">
                <a:solidFill>
                  <a:srgbClr val="7030A0"/>
                </a:solidFill>
                <a:latin typeface="Bookman Old Style" pitchFamily="18" charset="0"/>
              </a:rPr>
              <a:t> </a:t>
            </a:r>
            <a:r>
              <a:rPr lang="en-IN" sz="1400" dirty="0" smtClean="0">
                <a:solidFill>
                  <a:schemeClr val="bg2">
                    <a:lumMod val="10000"/>
                  </a:schemeClr>
                </a:solidFill>
                <a:latin typeface="Bookman Old Style" pitchFamily="18" charset="0"/>
              </a:rPr>
              <a:t>– </a:t>
            </a:r>
          </a:p>
          <a:p>
            <a:pPr marL="514350" indent="-514350" algn="just">
              <a:lnSpc>
                <a:spcPct val="150000"/>
              </a:lnSpc>
            </a:pPr>
            <a:r>
              <a:rPr lang="en-IN" sz="1400" dirty="0" smtClean="0">
                <a:solidFill>
                  <a:schemeClr val="bg2">
                    <a:lumMod val="10000"/>
                  </a:schemeClr>
                </a:solidFill>
                <a:latin typeface="Bookman Old Style" pitchFamily="18" charset="0"/>
              </a:rPr>
              <a:t>Entrepreneur as an agent who buys factors as production at certain prices in order to combine them into a product with a view to selling it at uncertain prices in future. </a:t>
            </a:r>
          </a:p>
          <a:p>
            <a:pPr marL="514350" indent="-514350" algn="just">
              <a:lnSpc>
                <a:spcPct val="150000"/>
              </a:lnSpc>
            </a:pPr>
            <a:r>
              <a:rPr lang="en-IN" sz="1400" dirty="0" smtClean="0">
                <a:solidFill>
                  <a:schemeClr val="bg2">
                    <a:lumMod val="10000"/>
                  </a:schemeClr>
                </a:solidFill>
                <a:latin typeface="Bookman Old Style" pitchFamily="18" charset="0"/>
              </a:rPr>
              <a:t>Illustrated a farmer who pays contractual incomes, which are certain to land owners and labourers and sells at prices that are ‘uncertain’.</a:t>
            </a:r>
          </a:p>
          <a:p>
            <a:pPr marL="514350" indent="-514350" algn="just">
              <a:lnSpc>
                <a:spcPct val="150000"/>
              </a:lnSpc>
            </a:pPr>
            <a:r>
              <a:rPr lang="en-IN" sz="1400" dirty="0" smtClean="0">
                <a:solidFill>
                  <a:schemeClr val="bg2">
                    <a:lumMod val="10000"/>
                  </a:schemeClr>
                </a:solidFill>
                <a:latin typeface="Bookman Old Style" pitchFamily="18" charset="0"/>
              </a:rPr>
              <a:t>Includes, merchants also who make certain payments in expectation of uncertain receipts. </a:t>
            </a:r>
          </a:p>
          <a:p>
            <a:pPr marL="514350" indent="-514350" algn="just">
              <a:lnSpc>
                <a:spcPct val="150000"/>
              </a:lnSpc>
            </a:pPr>
            <a:r>
              <a:rPr lang="en-IN" sz="1400" dirty="0" smtClean="0">
                <a:solidFill>
                  <a:schemeClr val="bg2">
                    <a:lumMod val="10000"/>
                  </a:schemeClr>
                </a:solidFill>
                <a:latin typeface="Bookman Old Style" pitchFamily="18" charset="0"/>
              </a:rPr>
              <a:t>Hence both of them are risk-bearing agents of production. </a:t>
            </a:r>
          </a:p>
          <a:p>
            <a:pPr marL="514350" indent="-514350" algn="just">
              <a:lnSpc>
                <a:spcPct val="170000"/>
              </a:lnSpc>
              <a:buAutoNum type="arabicPeriod" startAt="2"/>
            </a:pPr>
            <a:r>
              <a:rPr lang="en-IN" sz="1400" b="1" dirty="0" smtClean="0">
                <a:solidFill>
                  <a:srgbClr val="7030A0"/>
                </a:solidFill>
                <a:latin typeface="Bookman Old Style" pitchFamily="18" charset="0"/>
              </a:rPr>
              <a:t>F.H. Knight </a:t>
            </a:r>
          </a:p>
          <a:p>
            <a:pPr marL="514350" indent="-514350" algn="just">
              <a:lnSpc>
                <a:spcPct val="170000"/>
              </a:lnSpc>
              <a:tabLst>
                <a:tab pos="449263" algn="l"/>
              </a:tabLst>
            </a:pPr>
            <a:r>
              <a:rPr lang="en-IN" sz="1400" dirty="0">
                <a:solidFill>
                  <a:schemeClr val="bg2">
                    <a:lumMod val="10000"/>
                  </a:schemeClr>
                </a:solidFill>
                <a:latin typeface="Bookman Old Style" pitchFamily="18" charset="0"/>
              </a:rPr>
              <a:t> </a:t>
            </a:r>
            <a:r>
              <a:rPr lang="en-IN" sz="1400" dirty="0" smtClean="0">
                <a:solidFill>
                  <a:schemeClr val="bg2">
                    <a:lumMod val="10000"/>
                  </a:schemeClr>
                </a:solidFill>
                <a:latin typeface="Bookman Old Style" pitchFamily="18" charset="0"/>
              </a:rPr>
              <a:t>Entrepreneur to be a specialized group of persons who bears uncertainly. </a:t>
            </a:r>
          </a:p>
          <a:p>
            <a:pPr marL="514350" indent="-514350" algn="just">
              <a:lnSpc>
                <a:spcPct val="170000"/>
              </a:lnSpc>
              <a:tabLst>
                <a:tab pos="449263" algn="l"/>
              </a:tabLst>
            </a:pPr>
            <a:r>
              <a:rPr lang="en-IN" sz="1400" dirty="0" smtClean="0">
                <a:solidFill>
                  <a:schemeClr val="bg2">
                    <a:lumMod val="10000"/>
                  </a:schemeClr>
                </a:solidFill>
                <a:latin typeface="Bookman Old Style" pitchFamily="18" charset="0"/>
              </a:rPr>
              <a:t>Uncertainty is defined as risk, which cannot be insured against and is incalculable. </a:t>
            </a:r>
          </a:p>
          <a:p>
            <a:pPr marL="514350" indent="-514350" algn="just">
              <a:lnSpc>
                <a:spcPct val="170000"/>
              </a:lnSpc>
              <a:tabLst>
                <a:tab pos="449263" algn="l"/>
              </a:tabLst>
            </a:pPr>
            <a:r>
              <a:rPr lang="en-IN" sz="1400" dirty="0" smtClean="0">
                <a:solidFill>
                  <a:schemeClr val="bg2">
                    <a:lumMod val="10000"/>
                  </a:schemeClr>
                </a:solidFill>
                <a:latin typeface="Bookman Old Style" pitchFamily="18" charset="0"/>
              </a:rPr>
              <a:t>He made distinction between certainty and risk. </a:t>
            </a:r>
          </a:p>
          <a:p>
            <a:pPr marL="514350" indent="-514350" algn="just">
              <a:lnSpc>
                <a:spcPct val="170000"/>
              </a:lnSpc>
              <a:tabLst>
                <a:tab pos="449263" algn="l"/>
              </a:tabLst>
            </a:pPr>
            <a:r>
              <a:rPr lang="en-IN" sz="1400" dirty="0" smtClean="0">
                <a:solidFill>
                  <a:schemeClr val="bg2">
                    <a:lumMod val="10000"/>
                  </a:schemeClr>
                </a:solidFill>
                <a:latin typeface="Bookman Old Style" pitchFamily="18" charset="0"/>
              </a:rPr>
              <a:t>A risk can be reduced through the insurance principle, where the distribution of outcome in a group of instance is known, whereas uncertainty cannot be calculated</a:t>
            </a:r>
            <a:endParaRPr lang="en-IN" sz="1400" dirty="0">
              <a:solidFill>
                <a:schemeClr val="bg2">
                  <a:lumMod val="10000"/>
                </a:schemeClr>
              </a:solidFill>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634082"/>
          </a:xfrm>
        </p:spPr>
        <p:txBody>
          <a:bodyPr>
            <a:noAutofit/>
          </a:bodyPr>
          <a:lstStyle/>
          <a:p>
            <a:pPr algn="l"/>
            <a:r>
              <a:rPr lang="en-IN" sz="3200" dirty="0" smtClean="0">
                <a:latin typeface="Maiandra GD" pitchFamily="34" charset="0"/>
              </a:rPr>
              <a:t>Contd...</a:t>
            </a:r>
            <a:endParaRPr lang="en-IN" sz="3200" dirty="0">
              <a:latin typeface="Maiandra GD" pitchFamily="34" charset="0"/>
            </a:endParaRPr>
          </a:p>
        </p:txBody>
      </p:sp>
      <p:sp>
        <p:nvSpPr>
          <p:cNvPr id="3" name="Content Placeholder 2"/>
          <p:cNvSpPr>
            <a:spLocks noGrp="1"/>
          </p:cNvSpPr>
          <p:nvPr>
            <p:ph idx="1"/>
          </p:nvPr>
        </p:nvSpPr>
        <p:spPr>
          <a:xfrm>
            <a:off x="179512" y="620688"/>
            <a:ext cx="8784976" cy="6048672"/>
          </a:xfrm>
        </p:spPr>
        <p:style>
          <a:lnRef idx="1">
            <a:schemeClr val="dk1"/>
          </a:lnRef>
          <a:fillRef idx="2">
            <a:schemeClr val="dk1"/>
          </a:fillRef>
          <a:effectRef idx="1">
            <a:schemeClr val="dk1"/>
          </a:effectRef>
          <a:fontRef idx="minor">
            <a:schemeClr val="dk1"/>
          </a:fontRef>
        </p:style>
        <p:txBody>
          <a:bodyPr>
            <a:normAutofit fontScale="40000" lnSpcReduction="20000"/>
          </a:bodyPr>
          <a:lstStyle/>
          <a:p>
            <a:pPr algn="just">
              <a:lnSpc>
                <a:spcPct val="120000"/>
              </a:lnSpc>
              <a:buNone/>
            </a:pPr>
            <a:r>
              <a:rPr lang="en-IN" sz="4000" b="1" dirty="0" smtClean="0">
                <a:solidFill>
                  <a:srgbClr val="FF0000"/>
                </a:solidFill>
                <a:latin typeface="Bookman Old Style" pitchFamily="18" charset="0"/>
              </a:rPr>
              <a:t>Entrepreneur as an Organizer :</a:t>
            </a:r>
            <a:r>
              <a:rPr lang="en-IN" sz="4000" dirty="0" smtClean="0">
                <a:latin typeface="Bookman Old Style" pitchFamily="18" charset="0"/>
              </a:rPr>
              <a:t> </a:t>
            </a:r>
          </a:p>
          <a:p>
            <a:pPr marL="514350" indent="-514350" algn="just">
              <a:lnSpc>
                <a:spcPct val="120000"/>
              </a:lnSpc>
              <a:buAutoNum type="arabicPeriod"/>
            </a:pPr>
            <a:r>
              <a:rPr lang="en-IN" b="1" dirty="0" smtClean="0">
                <a:solidFill>
                  <a:srgbClr val="7030A0"/>
                </a:solidFill>
                <a:latin typeface="Bookman Old Style" pitchFamily="18" charset="0"/>
              </a:rPr>
              <a:t>J Baptist </a:t>
            </a:r>
            <a:r>
              <a:rPr lang="en-IN" dirty="0" smtClean="0">
                <a:latin typeface="Bookman Old Style" pitchFamily="18" charset="0"/>
              </a:rPr>
              <a:t>– </a:t>
            </a:r>
          </a:p>
          <a:p>
            <a:pPr marL="269875" indent="-269875" algn="just">
              <a:lnSpc>
                <a:spcPct val="220000"/>
              </a:lnSpc>
              <a:buFont typeface="Wingdings" pitchFamily="2" charset="2"/>
              <a:buChar char="§"/>
            </a:pPr>
            <a:r>
              <a:rPr lang="en-IN" sz="3400" dirty="0" smtClean="0">
                <a:latin typeface="Bookman Old Style" pitchFamily="18" charset="0"/>
              </a:rPr>
              <a:t>An entrepreneur is one who combines the land of one, the labour of another and capital of yet another, and thus produces a product. </a:t>
            </a:r>
          </a:p>
          <a:p>
            <a:pPr marL="269875" indent="-269875" algn="just">
              <a:lnSpc>
                <a:spcPct val="220000"/>
              </a:lnSpc>
              <a:buFont typeface="Wingdings" pitchFamily="2" charset="2"/>
              <a:buChar char="§"/>
            </a:pPr>
            <a:r>
              <a:rPr lang="en-IN" sz="3400" dirty="0" smtClean="0">
                <a:latin typeface="Bookman Old Style" pitchFamily="18" charset="0"/>
              </a:rPr>
              <a:t>By selling the product in the market, he pays interest on capital, rent on land and wages to </a:t>
            </a:r>
            <a:r>
              <a:rPr lang="en-IN" sz="3400" dirty="0" err="1" smtClean="0">
                <a:latin typeface="Bookman Old Style" pitchFamily="18" charset="0"/>
              </a:rPr>
              <a:t>laborers</a:t>
            </a:r>
            <a:r>
              <a:rPr lang="en-IN" sz="3400" dirty="0" smtClean="0">
                <a:latin typeface="Bookman Old Style" pitchFamily="18" charset="0"/>
              </a:rPr>
              <a:t> and what remains is his/her profit”. </a:t>
            </a:r>
          </a:p>
          <a:p>
            <a:pPr marL="269875" indent="-269875" algn="just">
              <a:lnSpc>
                <a:spcPct val="220000"/>
              </a:lnSpc>
              <a:buFont typeface="Wingdings" pitchFamily="2" charset="2"/>
              <a:buChar char="§"/>
            </a:pPr>
            <a:r>
              <a:rPr lang="en-IN" sz="3400" dirty="0" smtClean="0">
                <a:latin typeface="Bookman Old Style" pitchFamily="18" charset="0"/>
              </a:rPr>
              <a:t>Say made distinction between the role of capitalist as a financer and the entrepreneur as an organizer. </a:t>
            </a:r>
          </a:p>
          <a:p>
            <a:pPr marL="269875" indent="-269875" algn="just">
              <a:lnSpc>
                <a:spcPct val="220000"/>
              </a:lnSpc>
              <a:buFont typeface="Wingdings" pitchFamily="2" charset="2"/>
              <a:buChar char="§"/>
            </a:pPr>
            <a:r>
              <a:rPr lang="en-IN" sz="3400" dirty="0" smtClean="0">
                <a:latin typeface="Bookman Old Style" pitchFamily="18" charset="0"/>
              </a:rPr>
              <a:t>This concept of entrepreneur is associated with the functions of coordination, organization and supervision. </a:t>
            </a:r>
          </a:p>
          <a:p>
            <a:pPr marL="269875" indent="-269875" algn="just">
              <a:lnSpc>
                <a:spcPct val="220000"/>
              </a:lnSpc>
              <a:buNone/>
            </a:pPr>
            <a:r>
              <a:rPr lang="en-IN" sz="3400" b="1" dirty="0" smtClean="0">
                <a:solidFill>
                  <a:srgbClr val="FF0000"/>
                </a:solidFill>
                <a:latin typeface="Bookman Old Style" pitchFamily="18" charset="0"/>
              </a:rPr>
              <a:t>Entrepreneur as an Innovator :</a:t>
            </a:r>
            <a:r>
              <a:rPr lang="en-IN" sz="3400" dirty="0" smtClean="0">
                <a:latin typeface="Bookman Old Style" pitchFamily="18" charset="0"/>
              </a:rPr>
              <a:t> </a:t>
            </a:r>
          </a:p>
          <a:p>
            <a:pPr marL="269875" indent="-269875" algn="just">
              <a:lnSpc>
                <a:spcPct val="220000"/>
              </a:lnSpc>
              <a:buNone/>
            </a:pPr>
            <a:r>
              <a:rPr lang="en-IN" sz="3400" b="1" dirty="0" smtClean="0">
                <a:solidFill>
                  <a:srgbClr val="7030A0"/>
                </a:solidFill>
                <a:latin typeface="Bookman Old Style" pitchFamily="18" charset="0"/>
              </a:rPr>
              <a:t>Joseph A. Schumpeter Peter </a:t>
            </a:r>
            <a:r>
              <a:rPr lang="en-IN" sz="3400" dirty="0" smtClean="0">
                <a:latin typeface="Bookman Old Style" pitchFamily="18" charset="0"/>
              </a:rPr>
              <a:t>in 1934 assigned a crucial role of ‘innovation’ to the entrepreneur. </a:t>
            </a:r>
          </a:p>
          <a:p>
            <a:pPr marL="269875" indent="-269875" algn="just">
              <a:lnSpc>
                <a:spcPct val="220000"/>
              </a:lnSpc>
            </a:pPr>
            <a:r>
              <a:rPr lang="en-IN" sz="3400" dirty="0" smtClean="0">
                <a:latin typeface="Bookman Old Style" pitchFamily="18" charset="0"/>
              </a:rPr>
              <a:t>He considered economic development as a dynamic change brought by entrepreneur by instituting new combinations of factors of production, i.e. Innovations.</a:t>
            </a:r>
            <a:endParaRPr lang="en-IN" sz="3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136904" cy="648072"/>
          </a:xfrm>
          <a:ln w="76200">
            <a:solidFill>
              <a:schemeClr val="tx1"/>
            </a:solidFill>
          </a:ln>
        </p:spPr>
        <p:txBody>
          <a:bodyPr>
            <a:normAutofit fontScale="90000"/>
          </a:bodyPr>
          <a:lstStyle/>
          <a:p>
            <a:r>
              <a:rPr lang="en-IN"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aiandra GD" pitchFamily="34" charset="0"/>
              </a:rPr>
              <a:t>Some of Entrepreneurs </a:t>
            </a:r>
            <a:endParaRPr lang="en-IN"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aiandra GD" pitchFamily="34" charset="0"/>
            </a:endParaRPr>
          </a:p>
        </p:txBody>
      </p:sp>
      <p:pic>
        <p:nvPicPr>
          <p:cNvPr id="4" name="Content Placeholder 3" descr="picturemessage_wzsntbt5.boy_-768x440.png"/>
          <p:cNvPicPr>
            <a:picLocks noGrp="1" noChangeAspect="1"/>
          </p:cNvPicPr>
          <p:nvPr>
            <p:ph idx="1"/>
          </p:nvPr>
        </p:nvPicPr>
        <p:blipFill>
          <a:blip r:embed="rId2" cstate="print"/>
          <a:stretch>
            <a:fillRect/>
          </a:stretch>
        </p:blipFill>
        <p:spPr>
          <a:xfrm>
            <a:off x="395536" y="1052736"/>
            <a:ext cx="8514181" cy="5290991"/>
          </a:xfrm>
        </p:spPr>
      </p:pic>
      <p:grpSp>
        <p:nvGrpSpPr>
          <p:cNvPr id="3" name="Group 16"/>
          <p:cNvGrpSpPr/>
          <p:nvPr/>
        </p:nvGrpSpPr>
        <p:grpSpPr>
          <a:xfrm>
            <a:off x="323528" y="980728"/>
            <a:ext cx="8424936" cy="513348"/>
            <a:chOff x="323528" y="980728"/>
            <a:chExt cx="8424936" cy="513348"/>
          </a:xfrm>
        </p:grpSpPr>
        <p:sp>
          <p:nvSpPr>
            <p:cNvPr id="6" name="TextBox 5"/>
            <p:cNvSpPr txBox="1"/>
            <p:nvPr/>
          </p:nvSpPr>
          <p:spPr>
            <a:xfrm>
              <a:off x="1979712" y="980728"/>
              <a:ext cx="136815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FF0000"/>
                  </a:solidFill>
                  <a:latin typeface="Maiandra GD" pitchFamily="34" charset="0"/>
                </a:rPr>
                <a:t>Microsoft</a:t>
              </a:r>
              <a:endParaRPr lang="en-IN" dirty="0">
                <a:solidFill>
                  <a:srgbClr val="FF0000"/>
                </a:solidFill>
                <a:latin typeface="Maiandra GD" pitchFamily="34" charset="0"/>
              </a:endParaRPr>
            </a:p>
          </p:txBody>
        </p:sp>
        <p:sp>
          <p:nvSpPr>
            <p:cNvPr id="7" name="TextBox 6"/>
            <p:cNvSpPr txBox="1"/>
            <p:nvPr/>
          </p:nvSpPr>
          <p:spPr>
            <a:xfrm>
              <a:off x="3707904" y="980728"/>
              <a:ext cx="136815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dirty="0" err="1" smtClean="0">
                  <a:solidFill>
                    <a:srgbClr val="FF0000"/>
                  </a:solidFill>
                  <a:latin typeface="Maiandra GD" pitchFamily="34" charset="0"/>
                </a:rPr>
                <a:t>Facebook</a:t>
              </a:r>
              <a:endParaRPr lang="en-IN" dirty="0">
                <a:solidFill>
                  <a:srgbClr val="FF0000"/>
                </a:solidFill>
                <a:latin typeface="Maiandra GD" pitchFamily="34" charset="0"/>
              </a:endParaRPr>
            </a:p>
          </p:txBody>
        </p:sp>
        <p:sp>
          <p:nvSpPr>
            <p:cNvPr id="8" name="TextBox 7"/>
            <p:cNvSpPr txBox="1"/>
            <p:nvPr/>
          </p:nvSpPr>
          <p:spPr>
            <a:xfrm>
              <a:off x="5364088" y="1052736"/>
              <a:ext cx="158417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dirty="0" err="1" smtClean="0">
                  <a:solidFill>
                    <a:srgbClr val="FF0000"/>
                  </a:solidFill>
                  <a:latin typeface="Maiandra GD" pitchFamily="34" charset="0"/>
                </a:rPr>
                <a:t>Alibaba</a:t>
              </a:r>
              <a:endParaRPr lang="en-IN" dirty="0">
                <a:solidFill>
                  <a:srgbClr val="FF0000"/>
                </a:solidFill>
                <a:latin typeface="Maiandra GD" pitchFamily="34" charset="0"/>
              </a:endParaRPr>
            </a:p>
          </p:txBody>
        </p:sp>
        <p:sp>
          <p:nvSpPr>
            <p:cNvPr id="9" name="TextBox 8"/>
            <p:cNvSpPr txBox="1"/>
            <p:nvPr/>
          </p:nvSpPr>
          <p:spPr>
            <a:xfrm>
              <a:off x="7380312" y="1124744"/>
              <a:ext cx="136815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dirty="0" smtClean="0">
                  <a:solidFill>
                    <a:srgbClr val="FF0000"/>
                  </a:solidFill>
                  <a:latin typeface="Maiandra GD" pitchFamily="34" charset="0"/>
                </a:rPr>
                <a:t>Oracle</a:t>
              </a:r>
              <a:endParaRPr lang="en-IN" dirty="0">
                <a:solidFill>
                  <a:srgbClr val="FF0000"/>
                </a:solidFill>
                <a:latin typeface="Maiandra GD" pitchFamily="34" charset="0"/>
              </a:endParaRPr>
            </a:p>
          </p:txBody>
        </p:sp>
        <p:sp>
          <p:nvSpPr>
            <p:cNvPr id="10" name="TextBox 9"/>
            <p:cNvSpPr txBox="1"/>
            <p:nvPr/>
          </p:nvSpPr>
          <p:spPr>
            <a:xfrm>
              <a:off x="323528" y="980728"/>
              <a:ext cx="108012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FF0000"/>
                  </a:solidFill>
                  <a:latin typeface="Maiandra GD" pitchFamily="34" charset="0"/>
                </a:rPr>
                <a:t>Amazon</a:t>
              </a:r>
              <a:endParaRPr lang="en-IN" dirty="0">
                <a:solidFill>
                  <a:srgbClr val="FF0000"/>
                </a:solidFill>
                <a:latin typeface="Maiandra GD" pitchFamily="34" charset="0"/>
              </a:endParaRPr>
            </a:p>
          </p:txBody>
        </p:sp>
      </p:grpSp>
      <p:grpSp>
        <p:nvGrpSpPr>
          <p:cNvPr id="5" name="Group 15"/>
          <p:cNvGrpSpPr/>
          <p:nvPr/>
        </p:nvGrpSpPr>
        <p:grpSpPr>
          <a:xfrm>
            <a:off x="467544" y="5980837"/>
            <a:ext cx="8676456" cy="830997"/>
            <a:chOff x="791072" y="5980837"/>
            <a:chExt cx="8352928" cy="830997"/>
          </a:xfrm>
        </p:grpSpPr>
        <p:sp>
          <p:nvSpPr>
            <p:cNvPr id="11" name="TextBox 10"/>
            <p:cNvSpPr txBox="1"/>
            <p:nvPr/>
          </p:nvSpPr>
          <p:spPr>
            <a:xfrm>
              <a:off x="791072" y="6165304"/>
              <a:ext cx="648072"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FF0000"/>
                  </a:solidFill>
                  <a:latin typeface="Maiandra GD" pitchFamily="34" charset="0"/>
                </a:rPr>
                <a:t>Tesla</a:t>
              </a:r>
              <a:endParaRPr lang="en-IN" dirty="0">
                <a:solidFill>
                  <a:srgbClr val="FF0000"/>
                </a:solidFill>
                <a:latin typeface="Maiandra GD" pitchFamily="34" charset="0"/>
              </a:endParaRPr>
            </a:p>
          </p:txBody>
        </p:sp>
        <p:sp>
          <p:nvSpPr>
            <p:cNvPr id="12" name="TextBox 11"/>
            <p:cNvSpPr txBox="1"/>
            <p:nvPr/>
          </p:nvSpPr>
          <p:spPr>
            <a:xfrm>
              <a:off x="2375248" y="6165304"/>
              <a:ext cx="93610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FF0000"/>
                  </a:solidFill>
                  <a:latin typeface="Maiandra GD" pitchFamily="34" charset="0"/>
                </a:rPr>
                <a:t>Google</a:t>
              </a:r>
              <a:endParaRPr lang="en-IN" dirty="0">
                <a:solidFill>
                  <a:srgbClr val="FF0000"/>
                </a:solidFill>
                <a:latin typeface="Maiandra GD" pitchFamily="34" charset="0"/>
              </a:endParaRPr>
            </a:p>
          </p:txBody>
        </p:sp>
        <p:sp>
          <p:nvSpPr>
            <p:cNvPr id="13" name="TextBox 12"/>
            <p:cNvSpPr txBox="1"/>
            <p:nvPr/>
          </p:nvSpPr>
          <p:spPr>
            <a:xfrm>
              <a:off x="3671392" y="6093296"/>
              <a:ext cx="2088232" cy="33855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1600" dirty="0">
                  <a:latin typeface="Maiandra GD" pitchFamily="34" charset="0"/>
                </a:rPr>
                <a:t>Berkshire Hathaway</a:t>
              </a:r>
              <a:endParaRPr lang="en-IN" sz="1600" dirty="0">
                <a:solidFill>
                  <a:srgbClr val="FF0000"/>
                </a:solidFill>
                <a:latin typeface="Maiandra GD" pitchFamily="34" charset="0"/>
              </a:endParaRPr>
            </a:p>
          </p:txBody>
        </p:sp>
        <p:sp>
          <p:nvSpPr>
            <p:cNvPr id="14" name="TextBox 13"/>
            <p:cNvSpPr txBox="1"/>
            <p:nvPr/>
          </p:nvSpPr>
          <p:spPr>
            <a:xfrm>
              <a:off x="5831632" y="6021288"/>
              <a:ext cx="1440160"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i-FI" sz="1200" dirty="0">
                  <a:latin typeface="Maiandra GD" pitchFamily="34" charset="0"/>
                </a:rPr>
                <a:t>LVMH Moet Hennessy </a:t>
              </a:r>
              <a:r>
                <a:rPr lang="fi-FI" sz="1200" dirty="0" smtClean="0">
                  <a:latin typeface="Maiandra GD" pitchFamily="34" charset="0"/>
                </a:rPr>
                <a:t>Louis Vuitton</a:t>
              </a:r>
              <a:endParaRPr lang="en-IN" sz="1200" dirty="0">
                <a:solidFill>
                  <a:srgbClr val="FF0000"/>
                </a:solidFill>
                <a:latin typeface="Maiandra GD" pitchFamily="34" charset="0"/>
              </a:endParaRPr>
            </a:p>
          </p:txBody>
        </p:sp>
        <p:sp>
          <p:nvSpPr>
            <p:cNvPr id="15" name="TextBox 14"/>
            <p:cNvSpPr txBox="1"/>
            <p:nvPr/>
          </p:nvSpPr>
          <p:spPr>
            <a:xfrm>
              <a:off x="7415808" y="5980837"/>
              <a:ext cx="1728192"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1600" dirty="0" err="1">
                  <a:latin typeface="Maiandra GD" pitchFamily="34" charset="0"/>
                </a:rPr>
                <a:t>Telmex</a:t>
              </a:r>
              <a:r>
                <a:rPr lang="en-IN" sz="1600" dirty="0">
                  <a:latin typeface="Maiandra GD" pitchFamily="34" charset="0"/>
                </a:rPr>
                <a:t>, </a:t>
              </a:r>
              <a:r>
                <a:rPr lang="en-IN" sz="1600" dirty="0" err="1">
                  <a:latin typeface="Maiandra GD" pitchFamily="34" charset="0"/>
                </a:rPr>
                <a:t>América</a:t>
              </a:r>
              <a:r>
                <a:rPr lang="en-IN" sz="1600" dirty="0">
                  <a:latin typeface="Maiandra GD" pitchFamily="34" charset="0"/>
                </a:rPr>
                <a:t> </a:t>
              </a:r>
              <a:r>
                <a:rPr lang="en-IN" sz="1600" dirty="0" err="1">
                  <a:latin typeface="Maiandra GD" pitchFamily="34" charset="0"/>
                </a:rPr>
                <a:t>Móvil</a:t>
              </a:r>
              <a:r>
                <a:rPr lang="en-IN" sz="1600" dirty="0">
                  <a:latin typeface="Maiandra GD" pitchFamily="34" charset="0"/>
                </a:rPr>
                <a:t>, and </a:t>
              </a:r>
              <a:r>
                <a:rPr lang="en-IN" sz="1600" dirty="0" err="1">
                  <a:latin typeface="Maiandra GD" pitchFamily="34" charset="0"/>
                </a:rPr>
                <a:t>Grupo</a:t>
              </a:r>
              <a:r>
                <a:rPr lang="en-IN" sz="1600" dirty="0">
                  <a:latin typeface="Maiandra GD" pitchFamily="34" charset="0"/>
                </a:rPr>
                <a:t> </a:t>
              </a:r>
              <a:r>
                <a:rPr lang="en-IN" sz="1600" dirty="0" err="1">
                  <a:latin typeface="Maiandra GD" pitchFamily="34" charset="0"/>
                </a:rPr>
                <a:t>Carso</a:t>
              </a:r>
              <a:endParaRPr lang="en-IN" sz="1600" dirty="0">
                <a:solidFill>
                  <a:srgbClr val="FF0000"/>
                </a:solidFill>
                <a:latin typeface="Maiandra GD" pitchFamily="34" charset="0"/>
              </a:endParaRPr>
            </a:p>
          </p:txBody>
        </p:sp>
      </p:grpSp>
    </p:spTree>
  </p:cSld>
  <p:clrMapOvr>
    <a:masterClrMapping/>
  </p:clrMapOvr>
  <p:transition spd="med">
    <p:strips dir="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IN" dirty="0" smtClean="0">
                <a:latin typeface="Maiandra GD" pitchFamily="34" charset="0"/>
              </a:rPr>
              <a:t>Definitions by different authors</a:t>
            </a:r>
            <a:endParaRPr lang="en-IN" dirty="0">
              <a:latin typeface="Maiandra GD" pitchFamily="34" charset="0"/>
            </a:endParaRPr>
          </a:p>
        </p:txBody>
      </p:sp>
      <p:sp>
        <p:nvSpPr>
          <p:cNvPr id="3" name="Content Placeholder 2"/>
          <p:cNvSpPr>
            <a:spLocks noGrp="1"/>
          </p:cNvSpPr>
          <p:nvPr>
            <p:ph idx="1"/>
          </p:nvPr>
        </p:nvSpPr>
        <p:spPr>
          <a:xfrm>
            <a:off x="323528" y="980728"/>
            <a:ext cx="8568952" cy="5472608"/>
          </a:xfrm>
        </p:spPr>
        <p:txBody>
          <a:bodyPr>
            <a:normAutofit fontScale="92500" lnSpcReduction="10000"/>
          </a:bodyPr>
          <a:lstStyle/>
          <a:p>
            <a:pPr marL="514350" indent="-514350" algn="just">
              <a:lnSpc>
                <a:spcPct val="110000"/>
              </a:lnSpc>
              <a:buFont typeface="+mj-lt"/>
              <a:buAutoNum type="arabicPeriod"/>
            </a:pPr>
            <a:r>
              <a:rPr lang="en-IN" sz="2000" b="1" dirty="0" smtClean="0">
                <a:solidFill>
                  <a:srgbClr val="7030A0"/>
                </a:solidFill>
                <a:latin typeface="Bookman Old Style" pitchFamily="18" charset="0"/>
              </a:rPr>
              <a:t>F.A. Walker </a:t>
            </a:r>
            <a:r>
              <a:rPr lang="en-IN" sz="2000" dirty="0" smtClean="0">
                <a:latin typeface="Bookman Old Style" pitchFamily="18" charset="0"/>
              </a:rPr>
              <a:t>: “Entrepreneur is one who is endowed with more than average capacities in the task of organizing and coordinating the factors of production, i.e. land, labour capital and enterprises”.</a:t>
            </a:r>
          </a:p>
          <a:p>
            <a:pPr marL="514350" indent="-514350" algn="just">
              <a:lnSpc>
                <a:spcPct val="110000"/>
              </a:lnSpc>
              <a:buFont typeface="+mj-lt"/>
              <a:buAutoNum type="arabicPeriod"/>
            </a:pPr>
            <a:r>
              <a:rPr lang="en-IN" sz="2000" b="1" dirty="0" smtClean="0">
                <a:solidFill>
                  <a:srgbClr val="7030A0"/>
                </a:solidFill>
                <a:latin typeface="Bookman Old Style" pitchFamily="18" charset="0"/>
              </a:rPr>
              <a:t>Marx </a:t>
            </a:r>
            <a:r>
              <a:rPr lang="en-IN" sz="2000" dirty="0" smtClean="0">
                <a:latin typeface="Bookman Old Style" pitchFamily="18" charset="0"/>
              </a:rPr>
              <a:t>regarded entrepreneur as social parasite. </a:t>
            </a:r>
            <a:endParaRPr lang="en-IN" sz="2000" dirty="0">
              <a:latin typeface="Bookman Old Style" pitchFamily="18" charset="0"/>
            </a:endParaRPr>
          </a:p>
          <a:p>
            <a:pPr marL="514350" indent="-514350" algn="just">
              <a:lnSpc>
                <a:spcPct val="110000"/>
              </a:lnSpc>
              <a:buFont typeface="+mj-lt"/>
              <a:buAutoNum type="arabicPeriod"/>
            </a:pPr>
            <a:r>
              <a:rPr lang="en-IN" sz="2000" b="1" dirty="0" err="1" smtClean="0">
                <a:solidFill>
                  <a:srgbClr val="7030A0"/>
                </a:solidFill>
                <a:latin typeface="Bookman Old Style" pitchFamily="18" charset="0"/>
              </a:rPr>
              <a:t>Gilbraith</a:t>
            </a:r>
            <a:r>
              <a:rPr lang="en-IN" sz="2000" dirty="0" smtClean="0">
                <a:latin typeface="Bookman Old Style" pitchFamily="18" charset="0"/>
              </a:rPr>
              <a:t> : “An entrepreneur must accept the challenge and should be willing hard to achieve something</a:t>
            </a:r>
            <a:r>
              <a:rPr lang="en-IN" dirty="0" smtClean="0"/>
              <a:t>”.</a:t>
            </a:r>
          </a:p>
          <a:p>
            <a:pPr marL="514350" indent="-514350" algn="just">
              <a:lnSpc>
                <a:spcPct val="110000"/>
              </a:lnSpc>
              <a:buFont typeface="+mj-lt"/>
              <a:buAutoNum type="arabicPeriod"/>
            </a:pPr>
            <a:r>
              <a:rPr lang="en-IN" sz="2100" b="1" dirty="0" smtClean="0">
                <a:solidFill>
                  <a:srgbClr val="7030A0"/>
                </a:solidFill>
                <a:latin typeface="Bookman Old Style" pitchFamily="18" charset="0"/>
              </a:rPr>
              <a:t>Peter F. </a:t>
            </a:r>
            <a:r>
              <a:rPr lang="en-IN" sz="2100" b="1" dirty="0" err="1" smtClean="0">
                <a:solidFill>
                  <a:srgbClr val="7030A0"/>
                </a:solidFill>
                <a:latin typeface="Bookman Old Style" pitchFamily="18" charset="0"/>
              </a:rPr>
              <a:t>Drucker</a:t>
            </a:r>
            <a:r>
              <a:rPr lang="en-IN" sz="2100" b="1" dirty="0" smtClean="0">
                <a:solidFill>
                  <a:srgbClr val="7030A0"/>
                </a:solidFill>
                <a:latin typeface="Bookman Old Style" pitchFamily="18" charset="0"/>
              </a:rPr>
              <a:t> - </a:t>
            </a:r>
            <a:r>
              <a:rPr lang="en-IN" sz="2100" dirty="0" smtClean="0">
                <a:latin typeface="Bookman Old Style" pitchFamily="18" charset="0"/>
              </a:rPr>
              <a:t>an entrepreneur as one who always searches for change, responds to it and exploits it as an opportunity. Innovation is the basic tool of entrepreneurs, the means by which they exploit change as an opportunity for a different business or service.</a:t>
            </a:r>
          </a:p>
          <a:p>
            <a:pPr marL="514350" indent="-514350" algn="just">
              <a:lnSpc>
                <a:spcPct val="110000"/>
              </a:lnSpc>
              <a:buFont typeface="+mj-lt"/>
              <a:buAutoNum type="arabicPeriod"/>
            </a:pPr>
            <a:endParaRPr lang="en-IN" sz="2100" dirty="0" smtClean="0">
              <a:latin typeface="Bookman Old Style" pitchFamily="18" charset="0"/>
            </a:endParaRPr>
          </a:p>
          <a:p>
            <a:pPr marL="514350" indent="-514350" algn="just">
              <a:lnSpc>
                <a:spcPct val="110000"/>
              </a:lnSpc>
              <a:buFont typeface="+mj-lt"/>
              <a:buAutoNum type="arabicPeriod"/>
            </a:pPr>
            <a:r>
              <a:rPr lang="en-IN" sz="2100" b="1" dirty="0" smtClean="0">
                <a:solidFill>
                  <a:srgbClr val="7030A0"/>
                </a:solidFill>
                <a:latin typeface="Bookman Old Style" pitchFamily="18" charset="0"/>
              </a:rPr>
              <a:t>E.E. Hagen </a:t>
            </a:r>
            <a:r>
              <a:rPr lang="en-IN" sz="2100" dirty="0" smtClean="0">
                <a:latin typeface="Bookman Old Style" pitchFamily="18" charset="0"/>
              </a:rPr>
              <a:t>: “An entrepreneur is an economic man who tries to maximize his profits by innovation, involve problem solving and gets satisfaction from using his capabilities on attacking problems.</a:t>
            </a:r>
          </a:p>
          <a:p>
            <a:pPr marL="514350" indent="-514350" algn="just">
              <a:buNone/>
            </a:pPr>
            <a:endParaRPr lang="en-IN" sz="21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76672"/>
            <a:ext cx="8640960" cy="6192688"/>
          </a:xfrm>
        </p:spPr>
        <p:txBody>
          <a:bodyPr>
            <a:normAutofit lnSpcReduction="10000"/>
          </a:bodyPr>
          <a:lstStyle/>
          <a:p>
            <a:pPr algn="just">
              <a:buNone/>
            </a:pPr>
            <a:r>
              <a:rPr lang="en-IN" sz="2000" b="1" dirty="0" smtClean="0">
                <a:solidFill>
                  <a:srgbClr val="7030A0"/>
                </a:solidFill>
                <a:latin typeface="Bookman Old Style" pitchFamily="18" charset="0"/>
              </a:rPr>
              <a:t>6</a:t>
            </a:r>
            <a:r>
              <a:rPr lang="en-IN" sz="2000" dirty="0" smtClean="0">
                <a:latin typeface="Bookman Old Style" pitchFamily="18" charset="0"/>
              </a:rPr>
              <a:t>. </a:t>
            </a:r>
            <a:r>
              <a:rPr lang="en-IN" sz="2000" b="1" dirty="0" smtClean="0">
                <a:solidFill>
                  <a:srgbClr val="7030A0"/>
                </a:solidFill>
                <a:latin typeface="Bookman Old Style" pitchFamily="18" charset="0"/>
              </a:rPr>
              <a:t>Mark </a:t>
            </a:r>
            <a:r>
              <a:rPr lang="en-IN" sz="2000" b="1" dirty="0" err="1" smtClean="0">
                <a:solidFill>
                  <a:srgbClr val="7030A0"/>
                </a:solidFill>
                <a:latin typeface="Bookman Old Style" pitchFamily="18" charset="0"/>
              </a:rPr>
              <a:t>Casson</a:t>
            </a:r>
            <a:r>
              <a:rPr lang="en-IN" sz="2000" dirty="0" smtClean="0">
                <a:latin typeface="Bookman Old Style" pitchFamily="18" charset="0"/>
              </a:rPr>
              <a:t> : “An entrepreneur is a person who specializes in taking judgement decision about the coordination of scarce resources”. </a:t>
            </a:r>
          </a:p>
          <a:p>
            <a:pPr algn="just">
              <a:buNone/>
            </a:pPr>
            <a:endParaRPr lang="en-IN" sz="2000" dirty="0" smtClean="0">
              <a:latin typeface="Bookman Old Style" pitchFamily="18" charset="0"/>
            </a:endParaRPr>
          </a:p>
          <a:p>
            <a:pPr algn="just">
              <a:buNone/>
            </a:pPr>
            <a:r>
              <a:rPr lang="en-IN" sz="2000" b="1" dirty="0" smtClean="0">
                <a:solidFill>
                  <a:srgbClr val="7030A0"/>
                </a:solidFill>
                <a:latin typeface="Bookman Old Style" pitchFamily="18" charset="0"/>
              </a:rPr>
              <a:t>7</a:t>
            </a:r>
            <a:r>
              <a:rPr lang="en-IN" sz="2000" dirty="0" smtClean="0">
                <a:latin typeface="Bookman Old Style" pitchFamily="18" charset="0"/>
              </a:rPr>
              <a:t>. </a:t>
            </a:r>
            <a:r>
              <a:rPr lang="en-IN" sz="2000" b="1" dirty="0" smtClean="0">
                <a:solidFill>
                  <a:srgbClr val="7030A0"/>
                </a:solidFill>
                <a:latin typeface="Bookman Old Style" pitchFamily="18" charset="0"/>
              </a:rPr>
              <a:t>Frank Young : </a:t>
            </a:r>
            <a:r>
              <a:rPr lang="en-IN" sz="2000" dirty="0" smtClean="0">
                <a:latin typeface="Bookman Old Style" pitchFamily="18" charset="0"/>
              </a:rPr>
              <a:t>entrepreneur as a change agent. </a:t>
            </a:r>
          </a:p>
          <a:p>
            <a:pPr algn="just">
              <a:buNone/>
            </a:pPr>
            <a:endParaRPr lang="en-IN" sz="2000" dirty="0" smtClean="0">
              <a:latin typeface="Bookman Old Style" pitchFamily="18" charset="0"/>
            </a:endParaRPr>
          </a:p>
          <a:p>
            <a:pPr algn="just">
              <a:buNone/>
            </a:pPr>
            <a:r>
              <a:rPr lang="en-IN" sz="2000" b="1" dirty="0" smtClean="0">
                <a:solidFill>
                  <a:srgbClr val="7030A0"/>
                </a:solidFill>
                <a:latin typeface="Bookman Old Style" pitchFamily="18" charset="0"/>
              </a:rPr>
              <a:t>8</a:t>
            </a:r>
            <a:r>
              <a:rPr lang="en-IN" sz="2000" dirty="0" smtClean="0">
                <a:latin typeface="Bookman Old Style" pitchFamily="18" charset="0"/>
              </a:rPr>
              <a:t>. </a:t>
            </a:r>
            <a:r>
              <a:rPr lang="en-IN" sz="2000" b="1" dirty="0" smtClean="0">
                <a:solidFill>
                  <a:srgbClr val="7030A0"/>
                </a:solidFill>
                <a:latin typeface="Bookman Old Style" pitchFamily="18" charset="0"/>
              </a:rPr>
              <a:t>Max Weber : </a:t>
            </a:r>
            <a:r>
              <a:rPr lang="en-IN" sz="2000" dirty="0" smtClean="0">
                <a:latin typeface="Bookman Old Style" pitchFamily="18" charset="0"/>
              </a:rPr>
              <a:t>“Entrepreneurs are a product of particular social condition in which they are brought up and it is the society which shapes individuals as entrepreneurs”. </a:t>
            </a:r>
          </a:p>
          <a:p>
            <a:pPr algn="just">
              <a:buNone/>
            </a:pPr>
            <a:endParaRPr lang="en-IN" sz="2000" dirty="0" smtClean="0">
              <a:latin typeface="Bookman Old Style" pitchFamily="18" charset="0"/>
            </a:endParaRPr>
          </a:p>
          <a:p>
            <a:pPr algn="just">
              <a:buNone/>
            </a:pPr>
            <a:r>
              <a:rPr lang="en-IN" sz="2000" b="1" dirty="0" smtClean="0">
                <a:solidFill>
                  <a:srgbClr val="7030A0"/>
                </a:solidFill>
                <a:latin typeface="Bookman Old Style" pitchFamily="18" charset="0"/>
              </a:rPr>
              <a:t>9.International Labour Organization (ILO) </a:t>
            </a:r>
            <a:r>
              <a:rPr lang="en-IN" sz="2000" dirty="0" smtClean="0">
                <a:latin typeface="Bookman Old Style" pitchFamily="18" charset="0"/>
              </a:rPr>
              <a:t>defines “entrepreneurs as those people who have the ability to see and evaluate business opportunities, together with the necessary resources to take advantage of them and to initiate appropriate action to ensure success”. </a:t>
            </a:r>
          </a:p>
          <a:p>
            <a:pPr algn="just">
              <a:buNone/>
            </a:pPr>
            <a:endParaRPr lang="en-IN" sz="2000" b="1" dirty="0" smtClean="0">
              <a:solidFill>
                <a:srgbClr val="7030A0"/>
              </a:solidFill>
              <a:latin typeface="Bookman Old Style" pitchFamily="18" charset="0"/>
            </a:endParaRPr>
          </a:p>
          <a:p>
            <a:pPr algn="just">
              <a:buNone/>
            </a:pPr>
            <a:r>
              <a:rPr lang="en-IN" sz="2000" b="1" dirty="0" smtClean="0">
                <a:solidFill>
                  <a:srgbClr val="7030A0"/>
                </a:solidFill>
                <a:latin typeface="Bookman Old Style" pitchFamily="18" charset="0"/>
              </a:rPr>
              <a:t>10. </a:t>
            </a:r>
            <a:r>
              <a:rPr lang="en-IN" sz="2000" b="1" dirty="0" err="1" smtClean="0">
                <a:solidFill>
                  <a:srgbClr val="7030A0"/>
                </a:solidFill>
                <a:latin typeface="Bookman Old Style" pitchFamily="18" charset="0"/>
              </a:rPr>
              <a:t>Akhouri</a:t>
            </a:r>
            <a:r>
              <a:rPr lang="en-IN" sz="2000" dirty="0" smtClean="0">
                <a:latin typeface="Bookman Old Style" pitchFamily="18" charset="0"/>
              </a:rPr>
              <a:t> – “Entrepreneur as a character who combines </a:t>
            </a:r>
            <a:r>
              <a:rPr lang="en-IN" sz="2000" dirty="0" err="1" smtClean="0">
                <a:latin typeface="Bookman Old Style" pitchFamily="18" charset="0"/>
              </a:rPr>
              <a:t>innovativess</a:t>
            </a:r>
            <a:r>
              <a:rPr lang="en-IN" sz="2000" dirty="0" smtClean="0">
                <a:latin typeface="Bookman Old Style" pitchFamily="18" charset="0"/>
              </a:rPr>
              <a:t>, readiness to take risk, sensing opportunities, identifying and mobilizing potential resources, concern for excellence and who is persistent in achieving the goal”</a:t>
            </a:r>
          </a:p>
          <a:p>
            <a:pPr algn="just"/>
            <a:endParaRPr lang="en-IN" sz="20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enovo\Desktop\Why-people-become-entrepreneurs-16x9.png"/>
          <p:cNvPicPr>
            <a:picLocks noGrp="1" noChangeAspect="1" noChangeArrowheads="1"/>
          </p:cNvPicPr>
          <p:nvPr>
            <p:ph idx="1"/>
          </p:nvPr>
        </p:nvPicPr>
        <p:blipFill>
          <a:blip r:embed="rId2" cstate="print"/>
          <a:srcRect/>
          <a:stretch>
            <a:fillRect/>
          </a:stretch>
        </p:blipFill>
        <p:spPr bwMode="auto">
          <a:xfrm>
            <a:off x="192380" y="332655"/>
            <a:ext cx="8700100" cy="6261275"/>
          </a:xfrm>
          <a:prstGeom prst="rect">
            <a:avLst/>
          </a:prstGeom>
          <a:noFill/>
        </p:spPr>
      </p:pic>
    </p:spTree>
  </p:cSld>
  <p:clrMapOvr>
    <a:masterClrMapping/>
  </p:clrMapOvr>
  <p:transition spd="med">
    <p:strips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IN" sz="4000" dirty="0" smtClean="0">
                <a:latin typeface="Maiandra GD" pitchFamily="34" charset="0"/>
              </a:rPr>
              <a:t>Video on valuable lessons </a:t>
            </a:r>
            <a:endParaRPr lang="en-IN" sz="4000" dirty="0">
              <a:latin typeface="Maiandra GD" pitchFamily="34" charset="0"/>
            </a:endParaRPr>
          </a:p>
        </p:txBody>
      </p:sp>
      <p:pic>
        <p:nvPicPr>
          <p:cNvPr id="4" name="Top 5 Entrepreneurship Lessons From Most Successful Entrepreneurs _ Life Lessons _ Startup Stories.mp4">
            <a:hlinkClick r:id="" action="ppaction://media"/>
          </p:cNvPr>
          <p:cNvPicPr>
            <a:picLocks noGrp="1" noRot="1" noChangeAspect="1"/>
          </p:cNvPicPr>
          <p:nvPr>
            <p:ph idx="1"/>
            <a:videoFile r:link="rId1"/>
          </p:nvPr>
        </p:nvPicPr>
        <p:blipFill>
          <a:blip r:embed="rId3" cstate="print"/>
          <a:stretch>
            <a:fillRect/>
          </a:stretch>
        </p:blipFill>
        <p:spPr>
          <a:xfrm>
            <a:off x="611560" y="892058"/>
            <a:ext cx="7560840" cy="5670630"/>
          </a:xfrm>
          <a:prstGeom prst="rect">
            <a:avLst/>
          </a:prstGeom>
        </p:spPr>
      </p:pic>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490066"/>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r>
              <a:rPr lang="en-IN" dirty="0" smtClean="0">
                <a:solidFill>
                  <a:srgbClr val="7030A0"/>
                </a:solidFill>
                <a:latin typeface="Maiandra GD" pitchFamily="34" charset="0"/>
              </a:rPr>
              <a:t>Characteristics of Entrepreneur</a:t>
            </a:r>
            <a:endParaRPr lang="en-IN" dirty="0">
              <a:solidFill>
                <a:srgbClr val="7030A0"/>
              </a:solidFill>
              <a:latin typeface="Maiandra GD" pitchFamily="34" charset="0"/>
            </a:endParaRPr>
          </a:p>
        </p:txBody>
      </p:sp>
      <p:pic>
        <p:nvPicPr>
          <p:cNvPr id="4" name="Content Placeholder 3" descr="entrepreneur-characteristics.jpg"/>
          <p:cNvPicPr>
            <a:picLocks noGrp="1" noChangeAspect="1"/>
          </p:cNvPicPr>
          <p:nvPr>
            <p:ph idx="1"/>
          </p:nvPr>
        </p:nvPicPr>
        <p:blipFill>
          <a:blip r:embed="rId2" cstate="print"/>
          <a:srcRect b="3750"/>
          <a:stretch>
            <a:fillRect/>
          </a:stretch>
        </p:blipFill>
        <p:spPr>
          <a:xfrm>
            <a:off x="323528" y="836713"/>
            <a:ext cx="8496944" cy="5544615"/>
          </a:xfrm>
        </p:spPr>
      </p:pic>
    </p:spTree>
  </p:cSld>
  <p:clrMapOvr>
    <a:masterClrMapping/>
  </p:clrMapOvr>
  <p:transition spd="med">
    <p:strips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smtClean="0">
                <a:solidFill>
                  <a:srgbClr val="FF0000"/>
                </a:solidFill>
                <a:latin typeface="Maiandra GD" pitchFamily="34" charset="0"/>
              </a:rPr>
              <a:t>CHARACTERISTICS OF ENTREPRENEUR : </a:t>
            </a:r>
            <a:endParaRPr lang="en-US" sz="3200" dirty="0">
              <a:solidFill>
                <a:srgbClr val="FF0000"/>
              </a:solidFill>
              <a:latin typeface="Maiandra GD" pitchFamily="34" charset="0"/>
            </a:endParaRPr>
          </a:p>
        </p:txBody>
      </p:sp>
      <p:sp>
        <p:nvSpPr>
          <p:cNvPr id="3" name="Content Placeholder 2"/>
          <p:cNvSpPr>
            <a:spLocks noGrp="1"/>
          </p:cNvSpPr>
          <p:nvPr>
            <p:ph idx="1"/>
          </p:nvPr>
        </p:nvSpPr>
        <p:spPr>
          <a:xfrm>
            <a:off x="457200" y="1371600"/>
            <a:ext cx="8229600" cy="5009728"/>
          </a:xfrm>
        </p:spPr>
        <p:style>
          <a:lnRef idx="1">
            <a:schemeClr val="dk1"/>
          </a:lnRef>
          <a:fillRef idx="2">
            <a:schemeClr val="dk1"/>
          </a:fillRef>
          <a:effectRef idx="1">
            <a:schemeClr val="dk1"/>
          </a:effectRef>
          <a:fontRef idx="minor">
            <a:schemeClr val="dk1"/>
          </a:fontRef>
        </p:style>
        <p:txBody>
          <a:bodyPr>
            <a:normAutofit/>
          </a:bodyPr>
          <a:lstStyle/>
          <a:p>
            <a:pPr marL="514350" indent="-514350" algn="just">
              <a:lnSpc>
                <a:spcPct val="150000"/>
              </a:lnSpc>
              <a:buAutoNum type="arabicPeriod"/>
            </a:pPr>
            <a:r>
              <a:rPr lang="en-US" sz="2400" b="1" dirty="0" smtClean="0">
                <a:solidFill>
                  <a:srgbClr val="7030A0"/>
                </a:solidFill>
                <a:latin typeface="Book Antiqua" pitchFamily="18" charset="0"/>
              </a:rPr>
              <a:t>Entrepreneur is an agent:</a:t>
            </a:r>
          </a:p>
          <a:p>
            <a:pPr marL="514350" indent="-514350" algn="just">
              <a:lnSpc>
                <a:spcPct val="150000"/>
              </a:lnSpc>
              <a:buFont typeface="Wingdings" pitchFamily="2" charset="2"/>
              <a:buChar char="Ø"/>
            </a:pPr>
            <a:r>
              <a:rPr lang="en-US" sz="2400" dirty="0" smtClean="0">
                <a:latin typeface="Book Antiqua" pitchFamily="18" charset="0"/>
              </a:rPr>
              <a:t> An entrepreneur is perceived as an economic agent who assembles materials for producing goods at a cost that ensures profits and re-accumulation of capital. </a:t>
            </a:r>
          </a:p>
          <a:p>
            <a:pPr marL="514350" indent="-514350" algn="just">
              <a:lnSpc>
                <a:spcPct val="150000"/>
              </a:lnSpc>
              <a:buFont typeface="Wingdings" pitchFamily="2" charset="2"/>
              <a:buChar char="Ø"/>
            </a:pPr>
            <a:r>
              <a:rPr lang="en-US" sz="2400" dirty="0" smtClean="0">
                <a:latin typeface="Book Antiqua" pitchFamily="18" charset="0"/>
              </a:rPr>
              <a:t>Also acts as a change agent who brings about changes in the structure and formation of the organization, market and the arena of goods and services. </a:t>
            </a:r>
            <a:endParaRPr lang="en-US" sz="2400" dirty="0">
              <a:latin typeface="Book Antiqua" pitchFamily="18" charset="0"/>
            </a:endParaRP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20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91264" cy="6336704"/>
          </a:xfrm>
        </p:spPr>
        <p:style>
          <a:lnRef idx="1">
            <a:schemeClr val="dk1"/>
          </a:lnRef>
          <a:fillRef idx="2">
            <a:schemeClr val="dk1"/>
          </a:fillRef>
          <a:effectRef idx="1">
            <a:schemeClr val="dk1"/>
          </a:effectRef>
          <a:fontRef idx="minor">
            <a:schemeClr val="dk1"/>
          </a:fontRef>
        </p:style>
        <p:txBody>
          <a:bodyPr>
            <a:noAutofit/>
          </a:bodyPr>
          <a:lstStyle/>
          <a:p>
            <a:pPr algn="just">
              <a:buNone/>
            </a:pPr>
            <a:r>
              <a:rPr lang="en-US" sz="2400" dirty="0" smtClean="0">
                <a:solidFill>
                  <a:srgbClr val="7030A0"/>
                </a:solidFill>
                <a:latin typeface="Book Antiqua" pitchFamily="18" charset="0"/>
              </a:rPr>
              <a:t>2. Entrepreneur is a risk-taker</a:t>
            </a:r>
            <a:endParaRPr lang="en-US" sz="2400" dirty="0" smtClean="0">
              <a:solidFill>
                <a:srgbClr val="00B0F0"/>
              </a:solidFill>
              <a:latin typeface="Book Antiqua" pitchFamily="18" charset="0"/>
            </a:endParaRPr>
          </a:p>
          <a:p>
            <a:pPr algn="just">
              <a:buFont typeface="Wingdings" pitchFamily="2" charset="2"/>
              <a:buChar char="Ø"/>
            </a:pPr>
            <a:r>
              <a:rPr lang="en-US" sz="2400" dirty="0" smtClean="0">
                <a:latin typeface="Book Antiqua" pitchFamily="18" charset="0"/>
              </a:rPr>
              <a:t> A risk-taking ability is essential for an entrepreneur. </a:t>
            </a:r>
          </a:p>
          <a:p>
            <a:pPr algn="just">
              <a:buNone/>
            </a:pPr>
            <a:endParaRPr lang="en-US" sz="2400" dirty="0" smtClean="0">
              <a:latin typeface="Book Antiqua" pitchFamily="18" charset="0"/>
            </a:endParaRPr>
          </a:p>
          <a:p>
            <a:pPr algn="just">
              <a:buFont typeface="Wingdings" pitchFamily="2" charset="2"/>
              <a:buChar char="Ø"/>
            </a:pPr>
            <a:r>
              <a:rPr lang="en-US" sz="2400" dirty="0" smtClean="0">
                <a:solidFill>
                  <a:schemeClr val="tx1"/>
                </a:solidFill>
                <a:latin typeface="Book Antiqua" pitchFamily="18" charset="0"/>
              </a:rPr>
              <a:t>Without the will to explore the unknown, one cannot discover something unique. </a:t>
            </a:r>
          </a:p>
          <a:p>
            <a:pPr algn="just">
              <a:buFont typeface="Wingdings" pitchFamily="2" charset="2"/>
              <a:buChar char="Ø"/>
            </a:pPr>
            <a:endParaRPr lang="en-US" sz="2400" dirty="0" smtClean="0">
              <a:solidFill>
                <a:schemeClr val="tx1"/>
              </a:solidFill>
              <a:latin typeface="Book Antiqua" pitchFamily="18" charset="0"/>
            </a:endParaRPr>
          </a:p>
          <a:p>
            <a:pPr algn="just">
              <a:buFont typeface="Wingdings" pitchFamily="2" charset="2"/>
              <a:buChar char="Ø"/>
            </a:pPr>
            <a:r>
              <a:rPr lang="en-US" sz="2400" dirty="0" smtClean="0">
                <a:solidFill>
                  <a:schemeClr val="tx1"/>
                </a:solidFill>
                <a:latin typeface="Book Antiqua" pitchFamily="18" charset="0"/>
              </a:rPr>
              <a:t>And </a:t>
            </a:r>
            <a:r>
              <a:rPr lang="en-US" sz="2400" dirty="0" smtClean="0">
                <a:latin typeface="Book Antiqua" pitchFamily="18" charset="0"/>
              </a:rPr>
              <a:t>this uniqueness might make all the difference.</a:t>
            </a:r>
          </a:p>
          <a:p>
            <a:pPr algn="just">
              <a:buNone/>
            </a:pPr>
            <a:endParaRPr lang="en-US" sz="2400" dirty="0" smtClean="0">
              <a:latin typeface="Book Antiqua" pitchFamily="18" charset="0"/>
            </a:endParaRPr>
          </a:p>
          <a:p>
            <a:pPr algn="just">
              <a:buFont typeface="Wingdings" pitchFamily="2" charset="2"/>
              <a:buChar char="Ø"/>
            </a:pPr>
            <a:r>
              <a:rPr lang="en-US" sz="2400" dirty="0" smtClean="0">
                <a:latin typeface="Book Antiqua" pitchFamily="18" charset="0"/>
              </a:rPr>
              <a:t> Entrepreneurs have a differentiated approach towards risks. </a:t>
            </a:r>
          </a:p>
          <a:p>
            <a:pPr algn="just">
              <a:buFont typeface="Wingdings" pitchFamily="2" charset="2"/>
              <a:buChar char="Ø"/>
            </a:pPr>
            <a:r>
              <a:rPr lang="en-US" sz="2400" dirty="0" smtClean="0">
                <a:latin typeface="Book Antiqua" pitchFamily="18" charset="0"/>
              </a:rPr>
              <a:t>Good entrepreneurs are always ready to invest their time and money. </a:t>
            </a:r>
          </a:p>
          <a:p>
            <a:pPr algn="just">
              <a:buNone/>
            </a:pPr>
            <a:endParaRPr lang="en-US" sz="2400" dirty="0" smtClean="0">
              <a:latin typeface="Book Antiqua" pitchFamily="18" charset="0"/>
            </a:endParaRPr>
          </a:p>
          <a:p>
            <a:pPr algn="just">
              <a:buFont typeface="Wingdings" pitchFamily="2" charset="2"/>
              <a:buChar char="Ø"/>
            </a:pPr>
            <a:r>
              <a:rPr lang="en-US" sz="2400" dirty="0" smtClean="0">
                <a:latin typeface="Book Antiqua" pitchFamily="18" charset="0"/>
              </a:rPr>
              <a:t>But, they always have a backup for every risk they take. </a:t>
            </a:r>
            <a:endParaRPr lang="en-US" sz="2400" dirty="0">
              <a:latin typeface="Book Antiqua" pitchFamily="18" charset="0"/>
            </a:endParaRP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20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20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264696"/>
          </a:xfrm>
        </p:spPr>
        <p:style>
          <a:lnRef idx="1">
            <a:schemeClr val="dk1"/>
          </a:lnRef>
          <a:fillRef idx="2">
            <a:schemeClr val="dk1"/>
          </a:fillRef>
          <a:effectRef idx="1">
            <a:schemeClr val="dk1"/>
          </a:effectRef>
          <a:fontRef idx="minor">
            <a:schemeClr val="dk1"/>
          </a:fontRef>
        </p:style>
        <p:txBody>
          <a:bodyPr>
            <a:noAutofit/>
          </a:bodyPr>
          <a:lstStyle/>
          <a:p>
            <a:pPr algn="just">
              <a:buNone/>
            </a:pPr>
            <a:r>
              <a:rPr lang="en-US" sz="2400" b="1" dirty="0" smtClean="0">
                <a:solidFill>
                  <a:srgbClr val="7030A0"/>
                </a:solidFill>
                <a:latin typeface="Bookman Old Style" pitchFamily="18" charset="0"/>
              </a:rPr>
              <a:t>3.Entrepreneur is a profit maker:</a:t>
            </a:r>
          </a:p>
          <a:p>
            <a:pPr algn="just">
              <a:buFont typeface="Wingdings" pitchFamily="2" charset="2"/>
              <a:buChar char="Ø"/>
            </a:pPr>
            <a:r>
              <a:rPr lang="en-US" sz="2400" dirty="0" smtClean="0">
                <a:latin typeface="Bookman Old Style" pitchFamily="18" charset="0"/>
              </a:rPr>
              <a:t> An entrepreneur is an individual who establishes and manages the business for the principle purpose of profit and growth. </a:t>
            </a:r>
          </a:p>
          <a:p>
            <a:pPr algn="just">
              <a:buNone/>
            </a:pPr>
            <a:endParaRPr lang="en-US" sz="2400" dirty="0" smtClean="0">
              <a:solidFill>
                <a:srgbClr val="00B0F0"/>
              </a:solidFill>
              <a:latin typeface="Bookman Old Style" pitchFamily="18" charset="0"/>
            </a:endParaRPr>
          </a:p>
          <a:p>
            <a:pPr algn="just">
              <a:buNone/>
            </a:pPr>
            <a:r>
              <a:rPr lang="en-US" sz="2400" b="1" dirty="0" smtClean="0">
                <a:solidFill>
                  <a:srgbClr val="7030A0"/>
                </a:solidFill>
                <a:latin typeface="Bookman Old Style" pitchFamily="18" charset="0"/>
              </a:rPr>
              <a:t>4. Entrepreneur is an achievement motivator</a:t>
            </a:r>
          </a:p>
          <a:p>
            <a:pPr algn="just">
              <a:buFont typeface="Wingdings" pitchFamily="2" charset="2"/>
              <a:buChar char="Ø"/>
            </a:pPr>
            <a:r>
              <a:rPr lang="en-US" sz="2400" dirty="0" smtClean="0">
                <a:latin typeface="Bookman Old Style" pitchFamily="18" charset="0"/>
              </a:rPr>
              <a:t> David C. McClelland has initiated this concept of the entrepreneur by calling him “as per sun with a strong desire for achievement.” </a:t>
            </a:r>
          </a:p>
          <a:p>
            <a:pPr algn="just">
              <a:buFont typeface="Wingdings" pitchFamily="2" charset="2"/>
              <a:buChar char="Ø"/>
            </a:pPr>
            <a:r>
              <a:rPr lang="en-US" sz="2400" dirty="0" smtClean="0">
                <a:latin typeface="Bookman Old Style" pitchFamily="18" charset="0"/>
              </a:rPr>
              <a:t>Meredith and others have expressed the same concept while they termed “entrepreneurs are action-oriented, highly’ motivated individuals.”</a:t>
            </a:r>
          </a:p>
          <a:p>
            <a:pPr algn="just">
              <a:buFont typeface="Wingdings" pitchFamily="2" charset="2"/>
              <a:buChar char="Ø"/>
            </a:pPr>
            <a:r>
              <a:rPr lang="en-US" sz="2400" dirty="0" smtClean="0">
                <a:latin typeface="Bookman Old Style" pitchFamily="18" charset="0"/>
              </a:rPr>
              <a:t>Therefore, entrepreneurs have to have a deep-rooted need for achieving their goals. </a:t>
            </a:r>
            <a:endParaRPr lang="en-US" sz="2400" dirty="0">
              <a:latin typeface="Bookman Old Style" pitchFamily="18" charset="0"/>
            </a:endParaRPr>
          </a:p>
        </p:txBody>
      </p:sp>
      <p:sp>
        <p:nvSpPr>
          <p:cNvPr id="4" name="TextBox 3"/>
          <p:cNvSpPr txBox="1"/>
          <p:nvPr/>
        </p:nvSpPr>
        <p:spPr>
          <a:xfrm>
            <a:off x="6172200" y="3505200"/>
            <a:ext cx="1981200" cy="381000"/>
          </a:xfrm>
          <a:prstGeom prst="rect">
            <a:avLst/>
          </a:prstGeom>
          <a:noFill/>
        </p:spPr>
        <p:txBody>
          <a:bodyPr wrap="square" rtlCol="0">
            <a:spAutoFit/>
          </a:bodyPr>
          <a:lstStyle/>
          <a:p>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7092280" y="1556792"/>
            <a:ext cx="1221160" cy="815564"/>
          </a:xfrm>
          <a:prstGeom prst="rect">
            <a:avLst/>
          </a:prstGeom>
          <a:noFill/>
          <a:ln w="9525">
            <a:noFill/>
            <a:miter lim="800000"/>
            <a:headEnd/>
            <a:tailEnd/>
          </a:ln>
          <a:effectLst/>
        </p:spPr>
      </p:pic>
    </p:spTree>
  </p:cSld>
  <p:clrMapOvr>
    <a:masterClrMapping/>
  </p:clrMapOvr>
  <p:transition spd="med">
    <p:strips dir="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439472" cy="6264696"/>
          </a:xfrm>
        </p:spPr>
        <p:style>
          <a:lnRef idx="1">
            <a:schemeClr val="dk1"/>
          </a:lnRef>
          <a:fillRef idx="2">
            <a:schemeClr val="dk1"/>
          </a:fillRef>
          <a:effectRef idx="1">
            <a:schemeClr val="dk1"/>
          </a:effectRef>
          <a:fontRef idx="minor">
            <a:schemeClr val="dk1"/>
          </a:fontRef>
        </p:style>
        <p:txBody>
          <a:bodyPr>
            <a:noAutofit/>
          </a:bodyPr>
          <a:lstStyle/>
          <a:p>
            <a:pPr>
              <a:buNone/>
            </a:pPr>
            <a:r>
              <a:rPr lang="en-US" sz="2800" b="1" dirty="0" smtClean="0">
                <a:solidFill>
                  <a:srgbClr val="7030A0"/>
                </a:solidFill>
                <a:latin typeface="Bookman Old Style" pitchFamily="18" charset="0"/>
              </a:rPr>
              <a:t>5. Passion:</a:t>
            </a:r>
          </a:p>
          <a:p>
            <a:pPr algn="just">
              <a:buFont typeface="Wingdings" pitchFamily="2" charset="2"/>
              <a:buChar char="Ø"/>
            </a:pPr>
            <a:r>
              <a:rPr lang="en-US" sz="2400" dirty="0" smtClean="0">
                <a:latin typeface="Bookman Old Style" pitchFamily="18" charset="0"/>
              </a:rPr>
              <a:t>Work should be your passion. So when you work, you enjoy what you’re doing and stay highly motivated. </a:t>
            </a:r>
          </a:p>
          <a:p>
            <a:pPr algn="just">
              <a:buFont typeface="Wingdings" pitchFamily="2" charset="2"/>
              <a:buChar char="Ø"/>
            </a:pPr>
            <a:r>
              <a:rPr lang="en-US" sz="2400" dirty="0" smtClean="0">
                <a:latin typeface="Bookman Old Style" pitchFamily="18" charset="0"/>
              </a:rPr>
              <a:t>Passion acts as a driving force, with which, you are motivated to strive for better. </a:t>
            </a:r>
          </a:p>
          <a:p>
            <a:pPr algn="just">
              <a:buNone/>
            </a:pPr>
            <a:endParaRPr lang="en-US" sz="2400" dirty="0" smtClean="0">
              <a:latin typeface="Bookman Old Style" pitchFamily="18" charset="0"/>
            </a:endParaRPr>
          </a:p>
          <a:p>
            <a:pPr algn="just">
              <a:buFont typeface="Wingdings" pitchFamily="2" charset="2"/>
              <a:buChar char="Ø"/>
            </a:pPr>
            <a:r>
              <a:rPr lang="en-US" sz="2400" dirty="0" smtClean="0">
                <a:latin typeface="Bookman Old Style" pitchFamily="18" charset="0"/>
              </a:rPr>
              <a:t>It also allows you the ability to put in those extra hours in the office which can or may make a difference.</a:t>
            </a:r>
          </a:p>
          <a:p>
            <a:pPr algn="just">
              <a:buNone/>
            </a:pPr>
            <a:endParaRPr lang="en-US" sz="2400" dirty="0" smtClean="0">
              <a:latin typeface="Bookman Old Style" pitchFamily="18" charset="0"/>
            </a:endParaRPr>
          </a:p>
          <a:p>
            <a:pPr algn="just">
              <a:buFont typeface="Wingdings" pitchFamily="2" charset="2"/>
              <a:buChar char="Ø"/>
            </a:pPr>
            <a:r>
              <a:rPr lang="en-US" sz="2400" dirty="0" smtClean="0">
                <a:latin typeface="Bookman Old Style" pitchFamily="18" charset="0"/>
              </a:rPr>
              <a:t> At the beginning of every entrepreneurial venture or any venture, there are hurdles but your passion ensures that you are able to overcome these roadblocks and forge ahead towards your goal. </a:t>
            </a:r>
            <a:endParaRPr lang="en-US"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695528"/>
          </a:xfrm>
        </p:spPr>
        <p:style>
          <a:lnRef idx="1">
            <a:schemeClr val="dk1"/>
          </a:lnRef>
          <a:fillRef idx="2">
            <a:schemeClr val="dk1"/>
          </a:fillRef>
          <a:effectRef idx="1">
            <a:schemeClr val="dk1"/>
          </a:effectRef>
          <a:fontRef idx="minor">
            <a:schemeClr val="dk1"/>
          </a:fontRef>
        </p:style>
        <p:txBody>
          <a:bodyPr>
            <a:noAutofit/>
          </a:bodyPr>
          <a:lstStyle/>
          <a:p>
            <a:pPr algn="just">
              <a:buNone/>
            </a:pPr>
            <a:r>
              <a:rPr lang="en-US" sz="2800" b="1" dirty="0" smtClean="0">
                <a:solidFill>
                  <a:srgbClr val="7030A0"/>
                </a:solidFill>
                <a:latin typeface="Bookman Old Style" pitchFamily="18" charset="0"/>
              </a:rPr>
              <a:t>6. Creativity:</a:t>
            </a:r>
          </a:p>
          <a:p>
            <a:pPr algn="just">
              <a:lnSpc>
                <a:spcPct val="150000"/>
              </a:lnSpc>
              <a:buFont typeface="Wingdings" pitchFamily="2" charset="2"/>
              <a:buChar char="Ø"/>
            </a:pPr>
            <a:r>
              <a:rPr lang="en-US" sz="2800" dirty="0" smtClean="0">
                <a:latin typeface="Bookman Old Style" pitchFamily="18" charset="0"/>
              </a:rPr>
              <a:t> </a:t>
            </a:r>
            <a:r>
              <a:rPr lang="en-US" sz="2000" dirty="0" smtClean="0">
                <a:latin typeface="Bookman Old Style" pitchFamily="18" charset="0"/>
              </a:rPr>
              <a:t>Creativity gives birth to something new. </a:t>
            </a:r>
          </a:p>
          <a:p>
            <a:pPr algn="just">
              <a:lnSpc>
                <a:spcPct val="150000"/>
              </a:lnSpc>
              <a:buFont typeface="Wingdings" pitchFamily="2" charset="2"/>
              <a:buChar char="Ø"/>
            </a:pPr>
            <a:r>
              <a:rPr lang="en-US" sz="2000" dirty="0" smtClean="0">
                <a:latin typeface="Bookman Old Style" pitchFamily="18" charset="0"/>
              </a:rPr>
              <a:t>For without creativity, there is no innovation possible. </a:t>
            </a:r>
          </a:p>
          <a:p>
            <a:pPr algn="just">
              <a:lnSpc>
                <a:spcPct val="150000"/>
              </a:lnSpc>
              <a:buFont typeface="Wingdings" pitchFamily="2" charset="2"/>
              <a:buChar char="Ø"/>
            </a:pPr>
            <a:r>
              <a:rPr lang="en-US" sz="2000" dirty="0" smtClean="0">
                <a:latin typeface="Bookman Old Style" pitchFamily="18" charset="0"/>
              </a:rPr>
              <a:t>Entrepreneurs usually have the knack to pin down a lot of ideas and act on them.</a:t>
            </a:r>
          </a:p>
          <a:p>
            <a:pPr algn="just">
              <a:lnSpc>
                <a:spcPct val="150000"/>
              </a:lnSpc>
              <a:buFont typeface="Wingdings" pitchFamily="2" charset="2"/>
              <a:buChar char="Ø"/>
            </a:pPr>
            <a:r>
              <a:rPr lang="en-US" sz="2000" dirty="0" smtClean="0">
                <a:latin typeface="Bookman Old Style" pitchFamily="18" charset="0"/>
              </a:rPr>
              <a:t> Not necessarily every idea might be a hit. </a:t>
            </a:r>
          </a:p>
          <a:p>
            <a:pPr algn="just">
              <a:lnSpc>
                <a:spcPct val="150000"/>
              </a:lnSpc>
              <a:buFont typeface="Wingdings" pitchFamily="2" charset="2"/>
              <a:buChar char="Ø"/>
            </a:pPr>
            <a:r>
              <a:rPr lang="en-US" sz="2000" dirty="0" smtClean="0">
                <a:latin typeface="Bookman Old Style" pitchFamily="18" charset="0"/>
              </a:rPr>
              <a:t>But the experience obtained is gold. </a:t>
            </a:r>
          </a:p>
          <a:p>
            <a:pPr algn="just">
              <a:lnSpc>
                <a:spcPct val="150000"/>
              </a:lnSpc>
              <a:buFont typeface="Wingdings" pitchFamily="2" charset="2"/>
              <a:buChar char="Ø"/>
            </a:pPr>
            <a:r>
              <a:rPr lang="en-US" sz="2000" dirty="0" smtClean="0">
                <a:latin typeface="Bookman Old Style" pitchFamily="18" charset="0"/>
              </a:rPr>
              <a:t>Creativity helps in coming up with new solutions for the problems at hand and allows one to think of solutions that are out of the box. </a:t>
            </a:r>
            <a:endParaRPr lang="en-US" sz="20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style>
          <a:lnRef idx="1">
            <a:schemeClr val="dk1"/>
          </a:lnRef>
          <a:fillRef idx="2">
            <a:schemeClr val="dk1"/>
          </a:fillRef>
          <a:effectRef idx="1">
            <a:schemeClr val="dk1"/>
          </a:effectRef>
          <a:fontRef idx="minor">
            <a:schemeClr val="dk1"/>
          </a:fontRef>
        </p:style>
        <p:txBody>
          <a:bodyPr>
            <a:normAutofit/>
          </a:bodyPr>
          <a:lstStyle/>
          <a:p>
            <a:pPr>
              <a:buNone/>
            </a:pPr>
            <a:r>
              <a:rPr lang="en-US" sz="2000" b="1" dirty="0" smtClean="0">
                <a:solidFill>
                  <a:srgbClr val="7030A0"/>
                </a:solidFill>
                <a:latin typeface="Bookman Old Style" pitchFamily="18" charset="0"/>
              </a:rPr>
              <a:t>7. Professionalism: </a:t>
            </a:r>
          </a:p>
          <a:p>
            <a:pPr algn="just">
              <a:buFont typeface="Wingdings" pitchFamily="2" charset="2"/>
              <a:buChar char="Ø"/>
            </a:pPr>
            <a:r>
              <a:rPr lang="en-US" sz="2000" dirty="0" smtClean="0">
                <a:latin typeface="Bookman Old Style" pitchFamily="18" charset="0"/>
              </a:rPr>
              <a:t>Professionalism is a quality which all good entrepreneurs must possess. </a:t>
            </a:r>
          </a:p>
          <a:p>
            <a:pPr algn="just">
              <a:buFont typeface="Wingdings" pitchFamily="2" charset="2"/>
              <a:buChar char="Ø"/>
            </a:pPr>
            <a:r>
              <a:rPr lang="en-US" sz="2000" dirty="0" smtClean="0">
                <a:latin typeface="Bookman Old Style" pitchFamily="18" charset="0"/>
              </a:rPr>
              <a:t>An entrepreneurs mannerisms and behavior with their employees and clientele goes a long way in developing the culture of the organization.</a:t>
            </a:r>
          </a:p>
          <a:p>
            <a:pPr algn="just">
              <a:buNone/>
            </a:pPr>
            <a:r>
              <a:rPr lang="en-US" sz="2000" dirty="0" smtClean="0">
                <a:latin typeface="Bookman Old Style" pitchFamily="18" charset="0"/>
              </a:rPr>
              <a:t> </a:t>
            </a:r>
          </a:p>
          <a:p>
            <a:pPr algn="just">
              <a:buNone/>
            </a:pPr>
            <a:r>
              <a:rPr lang="en-US" sz="2000" b="1" dirty="0" smtClean="0">
                <a:solidFill>
                  <a:srgbClr val="7030A0"/>
                </a:solidFill>
                <a:latin typeface="Bookman Old Style" pitchFamily="18" charset="0"/>
              </a:rPr>
              <a:t>8. Knowledge: </a:t>
            </a:r>
          </a:p>
          <a:p>
            <a:pPr algn="just">
              <a:buFont typeface="Wingdings" pitchFamily="2" charset="2"/>
              <a:buChar char="Ø"/>
            </a:pPr>
            <a:r>
              <a:rPr lang="en-US" sz="2000" dirty="0" smtClean="0">
                <a:latin typeface="Bookman Old Style" pitchFamily="18" charset="0"/>
              </a:rPr>
              <a:t>Knowledge is the key to success. </a:t>
            </a:r>
          </a:p>
          <a:p>
            <a:pPr algn="just">
              <a:buFont typeface="Wingdings" pitchFamily="2" charset="2"/>
              <a:buChar char="Ø"/>
            </a:pPr>
            <a:r>
              <a:rPr lang="en-US" sz="2000" dirty="0" smtClean="0">
                <a:latin typeface="Bookman Old Style" pitchFamily="18" charset="0"/>
              </a:rPr>
              <a:t>An entrepreneur should possess complete knowledge of his </a:t>
            </a:r>
            <a:r>
              <a:rPr lang="en-US" sz="2000" b="1" dirty="0" smtClean="0">
                <a:latin typeface="Bookman Old Style" pitchFamily="18" charset="0"/>
              </a:rPr>
              <a:t>niche </a:t>
            </a:r>
            <a:r>
              <a:rPr lang="en-US" sz="2000" dirty="0" smtClean="0">
                <a:latin typeface="Bookman Old Style" pitchFamily="18" charset="0"/>
              </a:rPr>
              <a:t>or </a:t>
            </a:r>
            <a:r>
              <a:rPr lang="en-US" sz="2000" b="1" dirty="0" smtClean="0">
                <a:latin typeface="Bookman Old Style" pitchFamily="18" charset="0"/>
              </a:rPr>
              <a:t>industry</a:t>
            </a:r>
            <a:r>
              <a:rPr lang="en-US" sz="2000" dirty="0" smtClean="0">
                <a:latin typeface="Bookman Old Style" pitchFamily="18" charset="0"/>
              </a:rPr>
              <a:t>. </a:t>
            </a:r>
          </a:p>
          <a:p>
            <a:pPr algn="just">
              <a:buFont typeface="Wingdings" pitchFamily="2" charset="2"/>
              <a:buChar char="Ø"/>
            </a:pPr>
            <a:r>
              <a:rPr lang="en-US" sz="2000" dirty="0" smtClean="0">
                <a:latin typeface="Bookman Old Style" pitchFamily="18" charset="0"/>
              </a:rPr>
              <a:t>For only with knowledge can a difficulty be solved or a crisis is tackled.</a:t>
            </a:r>
          </a:p>
          <a:p>
            <a:pPr algn="just">
              <a:buFont typeface="Wingdings" pitchFamily="2" charset="2"/>
              <a:buChar char="Ø"/>
            </a:pPr>
            <a:r>
              <a:rPr lang="en-US" sz="2000" dirty="0" smtClean="0">
                <a:latin typeface="Bookman Old Style" pitchFamily="18" charset="0"/>
              </a:rPr>
              <a:t> He should know what his strengths &amp; weaknesses are so that they can be worked on and can result in a healthier organization. </a:t>
            </a:r>
            <a:endParaRPr lang="en-US" sz="20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43736"/>
          </a:xfrm>
        </p:spPr>
        <p:style>
          <a:lnRef idx="1">
            <a:schemeClr val="dk1"/>
          </a:lnRef>
          <a:fillRef idx="2">
            <a:schemeClr val="dk1"/>
          </a:fillRef>
          <a:effectRef idx="1">
            <a:schemeClr val="dk1"/>
          </a:effectRef>
          <a:fontRef idx="minor">
            <a:schemeClr val="dk1"/>
          </a:fontRef>
        </p:style>
        <p:txBody>
          <a:bodyPr>
            <a:normAutofit fontScale="92500" lnSpcReduction="10000"/>
          </a:bodyPr>
          <a:lstStyle/>
          <a:p>
            <a:pPr>
              <a:buNone/>
            </a:pPr>
            <a:r>
              <a:rPr lang="en-US" sz="2400" b="1" dirty="0" smtClean="0">
                <a:solidFill>
                  <a:srgbClr val="7030A0"/>
                </a:solidFill>
                <a:latin typeface="Bookman Old Style" pitchFamily="18" charset="0"/>
              </a:rPr>
              <a:t>9. Open-mindedness towards learning, people, and even failure:</a:t>
            </a:r>
          </a:p>
          <a:p>
            <a:pPr algn="just">
              <a:lnSpc>
                <a:spcPct val="150000"/>
              </a:lnSpc>
              <a:buFont typeface="Wingdings" pitchFamily="2" charset="2"/>
              <a:buChar char="Ø"/>
            </a:pPr>
            <a:r>
              <a:rPr lang="en-US" sz="2400" dirty="0" smtClean="0">
                <a:latin typeface="Bookman Old Style" pitchFamily="18" charset="0"/>
              </a:rPr>
              <a:t> An entrepreneur must be accepting.</a:t>
            </a:r>
          </a:p>
          <a:p>
            <a:pPr algn="just">
              <a:lnSpc>
                <a:spcPct val="150000"/>
              </a:lnSpc>
              <a:buFont typeface="Wingdings" pitchFamily="2" charset="2"/>
              <a:buChar char="Ø"/>
            </a:pPr>
            <a:r>
              <a:rPr lang="en-US" sz="2400" dirty="0" smtClean="0">
                <a:latin typeface="Bookman Old Style" pitchFamily="18" charset="0"/>
              </a:rPr>
              <a:t>The true realization of which scenario or event can be a useful opportunity is necessary. </a:t>
            </a:r>
          </a:p>
          <a:p>
            <a:pPr algn="just">
              <a:lnSpc>
                <a:spcPct val="150000"/>
              </a:lnSpc>
              <a:buFont typeface="Wingdings" pitchFamily="2" charset="2"/>
              <a:buChar char="Ø"/>
            </a:pPr>
            <a:r>
              <a:rPr lang="en-US" sz="2400" dirty="0" smtClean="0">
                <a:latin typeface="Bookman Old Style" pitchFamily="18" charset="0"/>
              </a:rPr>
              <a:t>To recognize such openings, an open-minded attitude is required. </a:t>
            </a:r>
          </a:p>
          <a:p>
            <a:pPr algn="just">
              <a:lnSpc>
                <a:spcPct val="150000"/>
              </a:lnSpc>
              <a:buFont typeface="Wingdings" pitchFamily="2" charset="2"/>
              <a:buChar char="Ø"/>
            </a:pPr>
            <a:r>
              <a:rPr lang="en-US" sz="2400" dirty="0" smtClean="0">
                <a:latin typeface="Bookman Old Style" pitchFamily="18" charset="0"/>
              </a:rPr>
              <a:t>An entrepreneur should be determined. </a:t>
            </a:r>
          </a:p>
          <a:p>
            <a:pPr algn="just">
              <a:lnSpc>
                <a:spcPct val="150000"/>
              </a:lnSpc>
              <a:buFont typeface="Wingdings" pitchFamily="2" charset="2"/>
              <a:buChar char="Ø"/>
            </a:pPr>
            <a:r>
              <a:rPr lang="en-US" sz="2400" dirty="0" smtClean="0">
                <a:latin typeface="Bookman Old Style" pitchFamily="18" charset="0"/>
              </a:rPr>
              <a:t>He should face his losses with a positive attitude and his wins, humbly. </a:t>
            </a:r>
          </a:p>
          <a:p>
            <a:pPr algn="just">
              <a:lnSpc>
                <a:spcPct val="150000"/>
              </a:lnSpc>
              <a:buFont typeface="Wingdings" pitchFamily="2" charset="2"/>
              <a:buChar char="Ø"/>
            </a:pPr>
            <a:r>
              <a:rPr lang="en-US" sz="2400" dirty="0" smtClean="0">
                <a:latin typeface="Bookman Old Style" pitchFamily="18" charset="0"/>
              </a:rPr>
              <a:t>Any good businessman will know not to frown on a defeat. </a:t>
            </a:r>
            <a:endParaRPr lang="en-US"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style>
          <a:lnRef idx="1">
            <a:schemeClr val="dk1"/>
          </a:lnRef>
          <a:fillRef idx="2">
            <a:schemeClr val="dk1"/>
          </a:fillRef>
          <a:effectRef idx="1">
            <a:schemeClr val="dk1"/>
          </a:effectRef>
          <a:fontRef idx="minor">
            <a:schemeClr val="dk1"/>
          </a:fontRef>
        </p:style>
        <p:txBody>
          <a:bodyPr>
            <a:normAutofit/>
          </a:bodyPr>
          <a:lstStyle/>
          <a:p>
            <a:pPr>
              <a:buNone/>
            </a:pPr>
            <a:r>
              <a:rPr lang="en-US" sz="2800" b="1" dirty="0" smtClean="0">
                <a:solidFill>
                  <a:srgbClr val="7030A0"/>
                </a:solidFill>
                <a:latin typeface="Bookman Old Style" pitchFamily="18" charset="0"/>
              </a:rPr>
              <a:t>10. Entrepreneur is a reward receiver:</a:t>
            </a:r>
          </a:p>
          <a:p>
            <a:pPr algn="just">
              <a:buFont typeface="Wingdings" pitchFamily="2" charset="2"/>
              <a:buChar char="Ø"/>
            </a:pPr>
            <a:r>
              <a:rPr lang="en-US" sz="2800" dirty="0" smtClean="0">
                <a:latin typeface="Bookman Old Style" pitchFamily="18" charset="0"/>
              </a:rPr>
              <a:t> An entrepreneur is a person who creates something new of value by devoting time and efforts and in turn receives monetary and personal rewards. </a:t>
            </a:r>
            <a:endParaRPr lang="en-US" sz="28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Book Antiqua" pitchFamily="18" charset="0"/>
              </a:rPr>
              <a:t>Competencies of Entrepreneur</a:t>
            </a:r>
            <a:endParaRPr lang="en-US" dirty="0">
              <a:solidFill>
                <a:srgbClr val="FF0000"/>
              </a:solidFill>
              <a:latin typeface="Book Antiqua" pitchFamily="18" charset="0"/>
            </a:endParaRPr>
          </a:p>
        </p:txBody>
      </p:sp>
      <p:sp>
        <p:nvSpPr>
          <p:cNvPr id="3" name="Content Placeholder 2"/>
          <p:cNvSpPr>
            <a:spLocks noGrp="1"/>
          </p:cNvSpPr>
          <p:nvPr>
            <p:ph idx="1"/>
          </p:nvPr>
        </p:nvSpPr>
        <p:spPr>
          <a:xfrm>
            <a:off x="457200" y="1600200"/>
            <a:ext cx="8229600" cy="4925144"/>
          </a:xfrm>
        </p:spPr>
        <p:style>
          <a:lnRef idx="1">
            <a:schemeClr val="accent5"/>
          </a:lnRef>
          <a:fillRef idx="2">
            <a:schemeClr val="accent5"/>
          </a:fillRef>
          <a:effectRef idx="1">
            <a:schemeClr val="accent5"/>
          </a:effectRef>
          <a:fontRef idx="minor">
            <a:schemeClr val="dk1"/>
          </a:fontRef>
        </p:style>
        <p:txBody>
          <a:bodyPr>
            <a:normAutofit/>
          </a:bodyPr>
          <a:lstStyle/>
          <a:p>
            <a:pPr algn="just">
              <a:buFont typeface="Wingdings" pitchFamily="2" charset="2"/>
              <a:buChar char="q"/>
            </a:pPr>
            <a:r>
              <a:rPr lang="en-US" sz="2800" dirty="0" smtClean="0">
                <a:latin typeface="Bookman Old Style" pitchFamily="18" charset="0"/>
              </a:rPr>
              <a:t>A competence is an underlying characteristics of a person, which results is effective and/or superior performance in a job.</a:t>
            </a:r>
          </a:p>
          <a:p>
            <a:pPr algn="just">
              <a:buFont typeface="Wingdings" pitchFamily="2" charset="2"/>
              <a:buChar char="q"/>
            </a:pPr>
            <a:r>
              <a:rPr lang="en-US" sz="2800" dirty="0" smtClean="0">
                <a:latin typeface="Bookman Old Style" pitchFamily="18" charset="0"/>
              </a:rPr>
              <a:t>In simple terms, a competence is a combination of body of knowledge, set of skills and cluster of appropriate motives/traits that an individual possesses to perform a given task.</a:t>
            </a:r>
            <a:endParaRPr lang="en-US" sz="28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20688"/>
            <a:ext cx="8229600" cy="5721499"/>
          </a:xfrm>
        </p:spPr>
        <p:style>
          <a:lnRef idx="0">
            <a:schemeClr val="accent1"/>
          </a:lnRef>
          <a:fillRef idx="3">
            <a:schemeClr val="accent1"/>
          </a:fillRef>
          <a:effectRef idx="3">
            <a:schemeClr val="accent1"/>
          </a:effectRef>
          <a:fontRef idx="minor">
            <a:schemeClr val="lt1"/>
          </a:fontRef>
        </p:style>
        <p:txBody>
          <a:bodyPr>
            <a:normAutofit/>
          </a:bodyPr>
          <a:lstStyle/>
          <a:p>
            <a:pPr marL="514350" indent="-514350" algn="just">
              <a:buFont typeface="+mj-lt"/>
              <a:buAutoNum type="arabicPeriod"/>
            </a:pPr>
            <a:r>
              <a:rPr lang="en-US" sz="2400" dirty="0" smtClean="0">
                <a:solidFill>
                  <a:srgbClr val="FFFF00"/>
                </a:solidFill>
                <a:latin typeface="Bookman Old Style" pitchFamily="18" charset="0"/>
              </a:rPr>
              <a:t>What is Body of Knowledge: </a:t>
            </a:r>
            <a:r>
              <a:rPr lang="en-US" sz="2400" dirty="0" smtClean="0">
                <a:latin typeface="Bookman Old Style" pitchFamily="18" charset="0"/>
              </a:rPr>
              <a:t>Knowledge means collections of information and retention of facts that an individual stores in some parts of his brain.</a:t>
            </a:r>
          </a:p>
          <a:p>
            <a:pPr marL="514350" indent="-514350" algn="just">
              <a:buNone/>
            </a:pPr>
            <a:endParaRPr lang="en-US" sz="2400" dirty="0" smtClean="0">
              <a:latin typeface="Bookman Old Style" pitchFamily="18" charset="0"/>
            </a:endParaRPr>
          </a:p>
          <a:p>
            <a:pPr marL="514350" indent="-514350" algn="just">
              <a:buFont typeface="+mj-lt"/>
              <a:buAutoNum type="arabicPeriod"/>
            </a:pPr>
            <a:r>
              <a:rPr lang="en-US" sz="2400" dirty="0" smtClean="0">
                <a:solidFill>
                  <a:srgbClr val="FFFF00"/>
                </a:solidFill>
                <a:latin typeface="Bookman Old Style" pitchFamily="18" charset="0"/>
              </a:rPr>
              <a:t>What is a Skill:</a:t>
            </a:r>
            <a:r>
              <a:rPr lang="en-US" sz="2400" dirty="0" smtClean="0">
                <a:solidFill>
                  <a:srgbClr val="FF0000"/>
                </a:solidFill>
                <a:latin typeface="Bookman Old Style" pitchFamily="18" charset="0"/>
              </a:rPr>
              <a:t> </a:t>
            </a:r>
            <a:r>
              <a:rPr lang="en-US" sz="2400" dirty="0" smtClean="0">
                <a:latin typeface="Bookman Old Style" pitchFamily="18" charset="0"/>
              </a:rPr>
              <a:t>Skill is the ability to demonstrate a system and sequence of behaviour that are functionally related to attaining a performance goal.</a:t>
            </a:r>
          </a:p>
          <a:p>
            <a:pPr marL="514350" indent="-514350" algn="just">
              <a:buNone/>
            </a:pPr>
            <a:endParaRPr lang="en-US" sz="2400" dirty="0" smtClean="0">
              <a:latin typeface="Bookman Old Style" pitchFamily="18" charset="0"/>
            </a:endParaRPr>
          </a:p>
          <a:p>
            <a:pPr marL="514350" indent="-514350" algn="just">
              <a:buAutoNum type="arabicPeriod"/>
            </a:pPr>
            <a:r>
              <a:rPr lang="en-US" sz="2400" dirty="0" smtClean="0">
                <a:solidFill>
                  <a:srgbClr val="FFFF00"/>
                </a:solidFill>
                <a:latin typeface="Bookman Old Style" pitchFamily="18" charset="0"/>
              </a:rPr>
              <a:t>Motives and Traits: </a:t>
            </a:r>
            <a:r>
              <a:rPr lang="en-US" sz="2400" dirty="0" smtClean="0">
                <a:latin typeface="Bookman Old Style" pitchFamily="18" charset="0"/>
              </a:rPr>
              <a:t>A motive is a recurrent concern for a goal state or condition appearing in </a:t>
            </a:r>
            <a:r>
              <a:rPr lang="en-US" sz="2400" dirty="0" err="1" smtClean="0">
                <a:latin typeface="Bookman Old Style" pitchFamily="18" charset="0"/>
              </a:rPr>
              <a:t>fantacy</a:t>
            </a:r>
            <a:r>
              <a:rPr lang="en-US" sz="2400" dirty="0" smtClean="0">
                <a:latin typeface="Bookman Old Style" pitchFamily="18" charset="0"/>
              </a:rPr>
              <a:t>, which drives, directs and selects </a:t>
            </a:r>
            <a:r>
              <a:rPr lang="en-US" sz="2400" dirty="0" err="1" smtClean="0">
                <a:latin typeface="Bookman Old Style" pitchFamily="18" charset="0"/>
              </a:rPr>
              <a:t>behaviour</a:t>
            </a:r>
            <a:r>
              <a:rPr lang="en-US" sz="2400" dirty="0" smtClean="0">
                <a:latin typeface="Bookman Old Style" pitchFamily="18" charset="0"/>
              </a:rPr>
              <a:t> of the individual.</a:t>
            </a:r>
            <a:endParaRPr lang="en-US"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dirty="0" smtClean="0">
                <a:solidFill>
                  <a:srgbClr val="FF0000"/>
                </a:solidFill>
                <a:latin typeface="Maiandra GD" pitchFamily="34" charset="0"/>
              </a:rPr>
              <a:t>Following is a list of major competencies that contribute towards top performance:</a:t>
            </a:r>
            <a:endParaRPr lang="en-US" sz="3200" dirty="0">
              <a:solidFill>
                <a:srgbClr val="FF0000"/>
              </a:solidFill>
              <a:latin typeface="Maiandra GD" pitchFamily="34" charset="0"/>
            </a:endParaRPr>
          </a:p>
        </p:txBody>
      </p:sp>
      <p:sp>
        <p:nvSpPr>
          <p:cNvPr id="3" name="Content Placeholder 2"/>
          <p:cNvSpPr>
            <a:spLocks noGrp="1"/>
          </p:cNvSpPr>
          <p:nvPr>
            <p:ph idx="1"/>
          </p:nvPr>
        </p:nvSpPr>
        <p:spPr>
          <a:xfrm>
            <a:off x="457200" y="1268760"/>
            <a:ext cx="8229600" cy="5184576"/>
          </a:xfrm>
        </p:spPr>
        <p:style>
          <a:lnRef idx="0">
            <a:schemeClr val="accent5"/>
          </a:lnRef>
          <a:fillRef idx="3">
            <a:schemeClr val="accent5"/>
          </a:fillRef>
          <a:effectRef idx="3">
            <a:schemeClr val="accent5"/>
          </a:effectRef>
          <a:fontRef idx="minor">
            <a:schemeClr val="lt1"/>
          </a:fontRef>
        </p:style>
        <p:txBody>
          <a:bodyPr>
            <a:normAutofit/>
          </a:bodyPr>
          <a:lstStyle/>
          <a:p>
            <a:pPr marL="514350" indent="-514350" algn="just">
              <a:buFont typeface="+mj-lt"/>
              <a:buAutoNum type="arabicPeriod"/>
            </a:pPr>
            <a:r>
              <a:rPr lang="en-US" sz="4000" dirty="0" smtClean="0">
                <a:solidFill>
                  <a:srgbClr val="FFFF00"/>
                </a:solidFill>
                <a:latin typeface="Bookman Old Style" pitchFamily="18" charset="0"/>
              </a:rPr>
              <a:t>Initiative:</a:t>
            </a:r>
            <a:r>
              <a:rPr lang="en-US" dirty="0" smtClean="0">
                <a:solidFill>
                  <a:srgbClr val="FFFF00"/>
                </a:solidFill>
                <a:latin typeface="Bookman Old Style" pitchFamily="18" charset="0"/>
              </a:rPr>
              <a:t> </a:t>
            </a:r>
          </a:p>
          <a:p>
            <a:pPr marL="514350" indent="-514350" algn="just">
              <a:buFont typeface="Wingdings" pitchFamily="2" charset="2"/>
              <a:buChar char="Ø"/>
            </a:pPr>
            <a:r>
              <a:rPr lang="en-US" dirty="0" smtClean="0">
                <a:latin typeface="Bookman Old Style" pitchFamily="18" charset="0"/>
              </a:rPr>
              <a:t>All entrepreneur takes action that go beyond job requirements or the demand of the situation. </a:t>
            </a:r>
          </a:p>
          <a:p>
            <a:pPr marL="514350" indent="-514350" algn="just">
              <a:buFont typeface="Wingdings" pitchFamily="2" charset="2"/>
              <a:buChar char="Ø"/>
            </a:pPr>
            <a:r>
              <a:rPr lang="en-US" dirty="0" smtClean="0">
                <a:latin typeface="Bookman Old Style" pitchFamily="18" charset="0"/>
              </a:rPr>
              <a:t>Does things before being asked or forced by, the events. </a:t>
            </a:r>
          </a:p>
          <a:p>
            <a:pPr marL="514350" indent="-514350" algn="just">
              <a:buFont typeface="Wingdings" pitchFamily="2" charset="2"/>
              <a:buChar char="Ø"/>
            </a:pPr>
            <a:r>
              <a:rPr lang="en-US" dirty="0" smtClean="0">
                <a:latin typeface="Bookman Old Style" pitchFamily="18" charset="0"/>
              </a:rPr>
              <a:t>Acts to extend the business into new areas, products; or services.</a:t>
            </a:r>
            <a:endParaRPr lang="en-US"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16352"/>
          </a:xfrm>
        </p:spPr>
        <p:style>
          <a:lnRef idx="0">
            <a:schemeClr val="accent1"/>
          </a:lnRef>
          <a:fillRef idx="3">
            <a:schemeClr val="accent1"/>
          </a:fillRef>
          <a:effectRef idx="3">
            <a:schemeClr val="accent1"/>
          </a:effectRef>
          <a:fontRef idx="minor">
            <a:schemeClr val="lt1"/>
          </a:fontRef>
        </p:style>
        <p:txBody>
          <a:bodyPr/>
          <a:lstStyle/>
          <a:p>
            <a:pPr algn="just">
              <a:buNone/>
            </a:pPr>
            <a:r>
              <a:rPr lang="en-US" dirty="0" smtClean="0">
                <a:solidFill>
                  <a:srgbClr val="FFFF00"/>
                </a:solidFill>
                <a:latin typeface="Bookman Old Style" pitchFamily="18" charset="0"/>
              </a:rPr>
              <a:t>2.</a:t>
            </a:r>
            <a:r>
              <a:rPr lang="en-US" sz="4000" dirty="0" smtClean="0">
                <a:solidFill>
                  <a:srgbClr val="FFFF00"/>
                </a:solidFill>
                <a:latin typeface="Bookman Old Style" pitchFamily="18" charset="0"/>
              </a:rPr>
              <a:t>Sees and Acts on Opportunities</a:t>
            </a:r>
            <a:endParaRPr lang="en-US" sz="4000" dirty="0" smtClean="0">
              <a:solidFill>
                <a:srgbClr val="00B050"/>
              </a:solidFill>
              <a:latin typeface="Bookman Old Style" pitchFamily="18" charset="0"/>
            </a:endParaRPr>
          </a:p>
          <a:p>
            <a:pPr algn="just">
              <a:buFont typeface="Wingdings" pitchFamily="2" charset="2"/>
              <a:buChar char="Ø"/>
            </a:pPr>
            <a:r>
              <a:rPr lang="en-US" dirty="0" smtClean="0">
                <a:latin typeface="Bookman Old Style" pitchFamily="18" charset="0"/>
              </a:rPr>
              <a:t>Looks for and takes action on opportunities. </a:t>
            </a:r>
          </a:p>
          <a:p>
            <a:pPr marL="514350" indent="-514350" algn="just">
              <a:buFont typeface="Wingdings" pitchFamily="2" charset="2"/>
              <a:buChar char="Ø"/>
            </a:pPr>
            <a:r>
              <a:rPr lang="en-US" dirty="0" smtClean="0">
                <a:latin typeface="Bookman Old Style" pitchFamily="18" charset="0"/>
              </a:rPr>
              <a:t>Sees and acts on opportunities for business, educational or personal growth. </a:t>
            </a:r>
          </a:p>
          <a:p>
            <a:pPr marL="514350" indent="-514350" algn="just">
              <a:buFont typeface="Wingdings" pitchFamily="2" charset="2"/>
              <a:buChar char="Ø"/>
            </a:pPr>
            <a:r>
              <a:rPr lang="en-US" dirty="0" smtClean="0">
                <a:latin typeface="Bookman Old Style" pitchFamily="18" charset="0"/>
              </a:rPr>
              <a:t>Seizes unusual opportunities to obtain financing, equipment, land, work space or assistance</a:t>
            </a:r>
            <a:endParaRPr lang="en-US"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style>
          <a:lnRef idx="0">
            <a:schemeClr val="accent4"/>
          </a:lnRef>
          <a:fillRef idx="3">
            <a:schemeClr val="accent4"/>
          </a:fillRef>
          <a:effectRef idx="3">
            <a:schemeClr val="accent4"/>
          </a:effectRef>
          <a:fontRef idx="minor">
            <a:schemeClr val="lt1"/>
          </a:fontRef>
        </p:style>
        <p:txBody>
          <a:bodyPr/>
          <a:lstStyle/>
          <a:p>
            <a:pPr algn="just">
              <a:buNone/>
            </a:pPr>
            <a:r>
              <a:rPr lang="en-US" sz="4000" dirty="0" smtClean="0">
                <a:solidFill>
                  <a:srgbClr val="00B050"/>
                </a:solidFill>
                <a:latin typeface="Bookman Old Style" pitchFamily="18" charset="0"/>
              </a:rPr>
              <a:t>3.Persistence(Resolution): </a:t>
            </a:r>
          </a:p>
          <a:p>
            <a:pPr algn="just">
              <a:buNone/>
            </a:pPr>
            <a:r>
              <a:rPr lang="en-US" sz="4000" dirty="0" smtClean="0">
                <a:solidFill>
                  <a:srgbClr val="00B050"/>
                </a:solidFill>
                <a:latin typeface="Bookman Old Style" pitchFamily="18" charset="0"/>
              </a:rPr>
              <a:t>	</a:t>
            </a:r>
            <a:r>
              <a:rPr lang="en-US" dirty="0" smtClean="0">
                <a:latin typeface="Bookman Old Style" pitchFamily="18" charset="0"/>
              </a:rPr>
              <a:t>Takes repeated action to overcome obstacle that get in the way of reaching goals. </a:t>
            </a:r>
          </a:p>
          <a:p>
            <a:pPr algn="just">
              <a:buFont typeface="Wingdings" pitchFamily="2" charset="2"/>
              <a:buChar char="Ø"/>
            </a:pPr>
            <a:r>
              <a:rPr lang="en-US" dirty="0" smtClean="0">
                <a:latin typeface="Bookman Old Style" pitchFamily="18" charset="0"/>
              </a:rPr>
              <a:t>Takes repeated or different actions to overcome obstacles.</a:t>
            </a:r>
          </a:p>
          <a:p>
            <a:pPr algn="just">
              <a:buFont typeface="Wingdings" pitchFamily="2" charset="2"/>
              <a:buChar char="Ø"/>
            </a:pPr>
            <a:r>
              <a:rPr lang="en-US" dirty="0" smtClean="0">
                <a:latin typeface="Bookman Old Style" pitchFamily="18" charset="0"/>
              </a:rPr>
              <a:t>Takes action in the face of a significant obstacle.</a:t>
            </a:r>
            <a:endParaRPr lang="en-US"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255096"/>
          </a:xfrm>
        </p:spPr>
        <p:style>
          <a:lnRef idx="0">
            <a:schemeClr val="accent2"/>
          </a:lnRef>
          <a:fillRef idx="3">
            <a:schemeClr val="accent2"/>
          </a:fillRef>
          <a:effectRef idx="3">
            <a:schemeClr val="accent2"/>
          </a:effectRef>
          <a:fontRef idx="minor">
            <a:schemeClr val="lt1"/>
          </a:fontRef>
        </p:style>
        <p:txBody>
          <a:bodyPr>
            <a:normAutofit/>
          </a:bodyPr>
          <a:lstStyle/>
          <a:p>
            <a:pPr algn="just">
              <a:buNone/>
            </a:pPr>
            <a:r>
              <a:rPr lang="en-US" sz="4000" dirty="0" smtClean="0">
                <a:solidFill>
                  <a:srgbClr val="00B050"/>
                </a:solidFill>
              </a:rPr>
              <a:t>4. Information Seeking: </a:t>
            </a:r>
            <a:r>
              <a:rPr lang="en-US" dirty="0" smtClean="0"/>
              <a:t>Takes action on own-to get information to help reach objectives or clarify problems. </a:t>
            </a:r>
          </a:p>
          <a:p>
            <a:pPr algn="just">
              <a:buFont typeface="Wingdings" pitchFamily="2" charset="2"/>
              <a:buChar char="Ø"/>
            </a:pPr>
            <a:r>
              <a:rPr lang="en-US" dirty="0" smtClean="0"/>
              <a:t>Personally undertaking a research or analysis to find out answer of some problem.</a:t>
            </a:r>
          </a:p>
          <a:p>
            <a:pPr algn="just">
              <a:buFont typeface="Wingdings" pitchFamily="2" charset="2"/>
              <a:buChar char="Ø"/>
            </a:pPr>
            <a:r>
              <a:rPr lang="en-US" dirty="0" smtClean="0"/>
              <a:t>Seeking information to clarify what is needed.</a:t>
            </a:r>
          </a:p>
          <a:p>
            <a:pPr algn="just">
              <a:buFont typeface="Wingdings" pitchFamily="2" charset="2"/>
              <a:buChar char="Ø"/>
            </a:pPr>
            <a:r>
              <a:rPr lang="en-US" dirty="0" smtClean="0"/>
              <a:t>Using contacts&amp; networks to obtain desired information.</a:t>
            </a:r>
          </a:p>
          <a:p>
            <a:pPr algn="just">
              <a:buNone/>
            </a:pPr>
            <a:endParaRPr lang="en-US" dirty="0"/>
          </a:p>
        </p:txBody>
      </p:sp>
    </p:spTree>
  </p:cSld>
  <p:clrMapOvr>
    <a:masterClrMapping/>
  </p:clrMapOvr>
  <p:transition spd="med">
    <p:strips dir="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style>
          <a:lnRef idx="1">
            <a:schemeClr val="dk1"/>
          </a:lnRef>
          <a:fillRef idx="2">
            <a:schemeClr val="dk1"/>
          </a:fillRef>
          <a:effectRef idx="1">
            <a:schemeClr val="dk1"/>
          </a:effectRef>
          <a:fontRef idx="minor">
            <a:schemeClr val="dk1"/>
          </a:fontRef>
        </p:style>
        <p:txBody>
          <a:bodyPr/>
          <a:lstStyle/>
          <a:p>
            <a:pPr>
              <a:buNone/>
            </a:pPr>
            <a:r>
              <a:rPr lang="en-US" dirty="0" smtClean="0">
                <a:solidFill>
                  <a:srgbClr val="C00000"/>
                </a:solidFill>
                <a:latin typeface="Bookman Old Style" pitchFamily="18" charset="0"/>
              </a:rPr>
              <a:t>5. Concern for High Quality of Work: </a:t>
            </a:r>
            <a:r>
              <a:rPr lang="en-US" dirty="0" smtClean="0">
                <a:latin typeface="Bookman Old Style" pitchFamily="18" charset="0"/>
              </a:rPr>
              <a:t>Do things that meet or beat existing standards of excellence. </a:t>
            </a:r>
          </a:p>
          <a:p>
            <a:pPr algn="just">
              <a:buFont typeface="Wingdings" pitchFamily="2" charset="2"/>
              <a:buChar char="Ø"/>
            </a:pPr>
            <a:r>
              <a:rPr lang="en-US" dirty="0" smtClean="0">
                <a:latin typeface="Bookman Old Style" pitchFamily="18" charset="0"/>
              </a:rPr>
              <a:t>Stating a desire to produce work of high quality. </a:t>
            </a:r>
          </a:p>
          <a:p>
            <a:pPr algn="just">
              <a:buFont typeface="Wingdings" pitchFamily="2" charset="2"/>
              <a:buChar char="Ø"/>
            </a:pPr>
            <a:r>
              <a:rPr lang="en-US" dirty="0" smtClean="0">
                <a:latin typeface="Bookman Old Style" pitchFamily="18" charset="0"/>
              </a:rPr>
              <a:t>Compares own work or own company's work favourably to that of others.</a:t>
            </a:r>
            <a:endParaRPr lang="en-US"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style>
          <a:lnRef idx="0">
            <a:schemeClr val="accent2"/>
          </a:lnRef>
          <a:fillRef idx="3">
            <a:schemeClr val="accent2"/>
          </a:fillRef>
          <a:effectRef idx="3">
            <a:schemeClr val="accent2"/>
          </a:effectRef>
          <a:fontRef idx="minor">
            <a:schemeClr val="lt1"/>
          </a:fontRef>
        </p:style>
        <p:txBody>
          <a:bodyPr>
            <a:normAutofit/>
          </a:bodyPr>
          <a:lstStyle/>
          <a:p>
            <a:pPr algn="just">
              <a:buNone/>
            </a:pPr>
            <a:r>
              <a:rPr lang="en-US" sz="4000" dirty="0" smtClean="0">
                <a:solidFill>
                  <a:srgbClr val="00B050"/>
                </a:solidFill>
              </a:rPr>
              <a:t>6. Commitment to Work Contract: </a:t>
            </a:r>
            <a:r>
              <a:rPr lang="en-US" dirty="0" smtClean="0"/>
              <a:t>Places the highest priority on getting a job completed. </a:t>
            </a:r>
          </a:p>
          <a:p>
            <a:pPr algn="just">
              <a:buFont typeface="Wingdings" pitchFamily="2" charset="2"/>
              <a:buChar char="Ø"/>
            </a:pPr>
            <a:r>
              <a:rPr lang="en-US" dirty="0" smtClean="0"/>
              <a:t>Makes a personal sacrifice or expends extraordinary effort to complete a job.</a:t>
            </a:r>
          </a:p>
          <a:p>
            <a:pPr algn="just">
              <a:buFont typeface="Wingdings" pitchFamily="2" charset="2"/>
              <a:buChar char="Ø"/>
            </a:pPr>
            <a:r>
              <a:rPr lang="en-US" dirty="0" smtClean="0"/>
              <a:t> Accepts full responsibility for problems in completing a job for others.</a:t>
            </a:r>
          </a:p>
          <a:p>
            <a:pPr algn="just">
              <a:buFont typeface="Wingdings" pitchFamily="2" charset="2"/>
              <a:buChar char="Ø"/>
            </a:pPr>
            <a:r>
              <a:rPr lang="en-US" dirty="0" smtClean="0"/>
              <a:t> Expressing utmost concern for the customers.</a:t>
            </a:r>
          </a:p>
        </p:txBody>
      </p:sp>
    </p:spTree>
  </p:cSld>
  <p:clrMapOvr>
    <a:masterClrMapping/>
  </p:clrMapOvr>
  <p:transition spd="med">
    <p:strips dir="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48680"/>
            <a:ext cx="8229600" cy="5616624"/>
          </a:xfrm>
        </p:spPr>
        <p:style>
          <a:lnRef idx="0">
            <a:schemeClr val="accent1"/>
          </a:lnRef>
          <a:fillRef idx="3">
            <a:schemeClr val="accent1"/>
          </a:fillRef>
          <a:effectRef idx="3">
            <a:schemeClr val="accent1"/>
          </a:effectRef>
          <a:fontRef idx="minor">
            <a:schemeClr val="lt1"/>
          </a:fontRef>
        </p:style>
        <p:txBody>
          <a:bodyPr>
            <a:normAutofit/>
          </a:bodyPr>
          <a:lstStyle/>
          <a:p>
            <a:pPr>
              <a:buNone/>
            </a:pPr>
            <a:r>
              <a:rPr lang="en-US" sz="3600" dirty="0" smtClean="0">
                <a:solidFill>
                  <a:srgbClr val="C00000"/>
                </a:solidFill>
                <a:latin typeface="Bookman Old Style" pitchFamily="18" charset="0"/>
              </a:rPr>
              <a:t>7. Efficiency Orientation: </a:t>
            </a:r>
          </a:p>
          <a:p>
            <a:pPr>
              <a:buNone/>
            </a:pPr>
            <a:r>
              <a:rPr lang="en-US" sz="2800" dirty="0" smtClean="0">
                <a:latin typeface="Bookman Old Style" pitchFamily="18" charset="0"/>
              </a:rPr>
              <a:t>Finds ways to do things faster or with fewer resources or at a lower cost. </a:t>
            </a:r>
          </a:p>
          <a:p>
            <a:pPr algn="just">
              <a:buFont typeface="Wingdings" pitchFamily="2" charset="2"/>
              <a:buChar char="Ø"/>
            </a:pPr>
            <a:r>
              <a:rPr lang="en-US" sz="2800" dirty="0" smtClean="0">
                <a:latin typeface="Bookman Old Style" pitchFamily="18" charset="0"/>
              </a:rPr>
              <a:t>Looks for or finds ways to do things faster or at less cost. </a:t>
            </a:r>
          </a:p>
          <a:p>
            <a:pPr algn="just">
              <a:buFont typeface="Wingdings" pitchFamily="2" charset="2"/>
              <a:buChar char="Ø"/>
            </a:pPr>
            <a:r>
              <a:rPr lang="en-US" sz="2800" dirty="0" smtClean="0">
                <a:latin typeface="Bookman Old Style" pitchFamily="18" charset="0"/>
              </a:rPr>
              <a:t>Uses information or business tools in improve efficiency.</a:t>
            </a:r>
          </a:p>
          <a:p>
            <a:pPr algn="just">
              <a:buFont typeface="Wingdings" pitchFamily="2" charset="2"/>
              <a:buChar char="Ø"/>
            </a:pPr>
            <a:r>
              <a:rPr lang="en-US" sz="2800" dirty="0" smtClean="0">
                <a:latin typeface="Bookman Old Style" pitchFamily="18" charset="0"/>
              </a:rPr>
              <a:t> Expresses concern about costs vs. benefits of some improvement, change, or course of action.</a:t>
            </a:r>
            <a:endParaRPr lang="en-US" sz="28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04520"/>
          </a:xfrm>
        </p:spPr>
        <p:style>
          <a:lnRef idx="1">
            <a:schemeClr val="dk1"/>
          </a:lnRef>
          <a:fillRef idx="2">
            <a:schemeClr val="dk1"/>
          </a:fillRef>
          <a:effectRef idx="1">
            <a:schemeClr val="dk1"/>
          </a:effectRef>
          <a:fontRef idx="minor">
            <a:schemeClr val="dk1"/>
          </a:fontRef>
        </p:style>
        <p:txBody>
          <a:bodyPr>
            <a:normAutofit/>
          </a:bodyPr>
          <a:lstStyle/>
          <a:p>
            <a:pPr algn="just">
              <a:buNone/>
            </a:pPr>
            <a:r>
              <a:rPr lang="en-US" sz="3600" dirty="0" smtClean="0">
                <a:solidFill>
                  <a:srgbClr val="C00000"/>
                </a:solidFill>
                <a:latin typeface="Bookman Old Style" pitchFamily="18" charset="0"/>
              </a:rPr>
              <a:t>8. Systematic Planning</a:t>
            </a:r>
          </a:p>
          <a:p>
            <a:pPr algn="just">
              <a:buFont typeface="Wingdings" pitchFamily="2" charset="2"/>
              <a:buChar char="Ø"/>
            </a:pPr>
            <a:r>
              <a:rPr lang="en-US" sz="2800" dirty="0" smtClean="0">
                <a:latin typeface="Bookman Old Style" pitchFamily="18" charset="0"/>
              </a:rPr>
              <a:t>Develops and uses logical, step-by-step plans to reach goals.</a:t>
            </a:r>
          </a:p>
          <a:p>
            <a:pPr algn="just">
              <a:buFont typeface="Wingdings" pitchFamily="2" charset="2"/>
              <a:buChar char="Ø"/>
            </a:pPr>
            <a:r>
              <a:rPr lang="en-US" sz="2800" dirty="0" smtClean="0">
                <a:latin typeface="Bookman Old Style" pitchFamily="18" charset="0"/>
              </a:rPr>
              <a:t> Plans by breaking a large task down into sub-tasks.</a:t>
            </a:r>
          </a:p>
          <a:p>
            <a:pPr algn="just">
              <a:buFont typeface="Wingdings" pitchFamily="2" charset="2"/>
              <a:buChar char="Ø"/>
            </a:pPr>
            <a:r>
              <a:rPr lang="en-US" sz="2800" dirty="0" smtClean="0">
                <a:latin typeface="Bookman Old Style" pitchFamily="18" charset="0"/>
              </a:rPr>
              <a:t>Develops plans that anticipate obstacles.</a:t>
            </a:r>
          </a:p>
          <a:p>
            <a:pPr algn="just">
              <a:buFont typeface="Wingdings" pitchFamily="2" charset="2"/>
              <a:buChar char="Ø"/>
            </a:pPr>
            <a:r>
              <a:rPr lang="en-US" sz="2800" dirty="0" smtClean="0">
                <a:latin typeface="Bookman Old Style" pitchFamily="18" charset="0"/>
              </a:rPr>
              <a:t> Evaluates alternatives. </a:t>
            </a:r>
          </a:p>
          <a:p>
            <a:pPr algn="just">
              <a:buFont typeface="Wingdings" pitchFamily="2" charset="2"/>
              <a:buChar char="Ø"/>
            </a:pPr>
            <a:r>
              <a:rPr lang="en-US" sz="2800" dirty="0" smtClean="0">
                <a:latin typeface="Bookman Old Style" pitchFamily="18" charset="0"/>
              </a:rPr>
              <a:t>Takes a logical and systematic approach to activities.</a:t>
            </a:r>
            <a:endParaRPr lang="en-US" sz="28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192688"/>
          </a:xfrm>
        </p:spPr>
        <p:style>
          <a:lnRef idx="0">
            <a:schemeClr val="accent2"/>
          </a:lnRef>
          <a:fillRef idx="3">
            <a:schemeClr val="accent2"/>
          </a:fillRef>
          <a:effectRef idx="3">
            <a:schemeClr val="accent2"/>
          </a:effectRef>
          <a:fontRef idx="minor">
            <a:schemeClr val="lt1"/>
          </a:fontRef>
        </p:style>
        <p:txBody>
          <a:bodyPr>
            <a:noAutofit/>
          </a:bodyPr>
          <a:lstStyle/>
          <a:p>
            <a:pPr algn="just">
              <a:buNone/>
            </a:pPr>
            <a:r>
              <a:rPr lang="en-US" dirty="0" smtClean="0">
                <a:solidFill>
                  <a:srgbClr val="FFFF00"/>
                </a:solidFill>
                <a:latin typeface="Bookman Old Style" pitchFamily="18" charset="0"/>
              </a:rPr>
              <a:t>9.Problem Solving: </a:t>
            </a:r>
          </a:p>
          <a:p>
            <a:pPr algn="just">
              <a:buNone/>
            </a:pPr>
            <a:r>
              <a:rPr lang="en-US" sz="2400" dirty="0" smtClean="0">
                <a:latin typeface="Bookman Old Style" pitchFamily="18" charset="0"/>
              </a:rPr>
              <a:t>Identifies new and potentially unique ideas to reach goals.</a:t>
            </a:r>
          </a:p>
          <a:p>
            <a:pPr algn="just">
              <a:buFont typeface="Wingdings" pitchFamily="2" charset="2"/>
              <a:buChar char="Ø"/>
            </a:pPr>
            <a:r>
              <a:rPr lang="en-US" sz="2400" dirty="0" smtClean="0">
                <a:latin typeface="Bookman Old Style" pitchFamily="18" charset="0"/>
              </a:rPr>
              <a:t> Switches to an alternative strategy to reach a goal. </a:t>
            </a:r>
          </a:p>
          <a:p>
            <a:pPr algn="just">
              <a:buFont typeface="Wingdings" pitchFamily="2" charset="2"/>
              <a:buChar char="Ø"/>
            </a:pPr>
            <a:r>
              <a:rPr lang="en-US" sz="2400" dirty="0" smtClean="0">
                <a:latin typeface="Bookman Old Style" pitchFamily="18" charset="0"/>
              </a:rPr>
              <a:t>Generates new ideas. or innovative solutions.</a:t>
            </a:r>
          </a:p>
          <a:p>
            <a:pPr algn="just">
              <a:buNone/>
            </a:pPr>
            <a:endParaRPr lang="en-US" dirty="0" smtClean="0">
              <a:solidFill>
                <a:srgbClr val="FFFF00"/>
              </a:solidFill>
              <a:latin typeface="Bookman Old Style" pitchFamily="18" charset="0"/>
            </a:endParaRPr>
          </a:p>
          <a:p>
            <a:pPr algn="just">
              <a:buNone/>
            </a:pPr>
            <a:r>
              <a:rPr lang="en-US" dirty="0" smtClean="0">
                <a:solidFill>
                  <a:srgbClr val="FFFF00"/>
                </a:solidFill>
                <a:latin typeface="Bookman Old Style" pitchFamily="18" charset="0"/>
              </a:rPr>
              <a:t>10. Self-Confidence: </a:t>
            </a:r>
          </a:p>
          <a:p>
            <a:pPr algn="just">
              <a:buFont typeface="Wingdings" pitchFamily="2" charset="2"/>
              <a:buChar char="Ø"/>
            </a:pPr>
            <a:r>
              <a:rPr lang="en-US" sz="2400" dirty="0" smtClean="0">
                <a:latin typeface="Bookman Old Style" pitchFamily="18" charset="0"/>
              </a:rPr>
              <a:t>Has a strong belief in self and own abilities.</a:t>
            </a:r>
          </a:p>
          <a:p>
            <a:pPr algn="just">
              <a:buFont typeface="Wingdings" pitchFamily="2" charset="2"/>
              <a:buChar char="Ø"/>
            </a:pPr>
            <a:r>
              <a:rPr lang="en-US" sz="2400" dirty="0" smtClean="0">
                <a:latin typeface="Bookman Old Style" pitchFamily="18" charset="0"/>
              </a:rPr>
              <a:t> Expresses confidence in own ability to complete a task or meet a challenge. </a:t>
            </a:r>
          </a:p>
          <a:p>
            <a:pPr algn="just">
              <a:buFont typeface="Wingdings" pitchFamily="2" charset="2"/>
              <a:buChar char="Ø"/>
            </a:pPr>
            <a:r>
              <a:rPr lang="en-US" sz="2400" dirty="0" smtClean="0">
                <a:latin typeface="Bookman Old Style" pitchFamily="18" charset="0"/>
              </a:rPr>
              <a:t>Sticks with own </a:t>
            </a:r>
            <a:r>
              <a:rPr lang="en-US" sz="2400" dirty="0" err="1" smtClean="0">
                <a:latin typeface="Bookman Old Style" pitchFamily="18" charset="0"/>
              </a:rPr>
              <a:t>judgement</a:t>
            </a:r>
            <a:r>
              <a:rPr lang="en-US" sz="2400" dirty="0" smtClean="0">
                <a:latin typeface="Bookman Old Style" pitchFamily="18" charset="0"/>
              </a:rPr>
              <a:t> in the face or opposition or early lack of success.</a:t>
            </a:r>
          </a:p>
          <a:p>
            <a:pPr algn="just">
              <a:buFont typeface="Wingdings" pitchFamily="2" charset="2"/>
              <a:buChar char="Ø"/>
            </a:pPr>
            <a:r>
              <a:rPr lang="en-US" sz="2400" dirty="0" smtClean="0">
                <a:latin typeface="Bookman Old Style" pitchFamily="18" charset="0"/>
              </a:rPr>
              <a:t> Does something that he says is risky</a:t>
            </a:r>
            <a:endParaRPr lang="en-US"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6192688"/>
          </a:xfrm>
        </p:spPr>
        <p:style>
          <a:lnRef idx="1">
            <a:schemeClr val="accent1"/>
          </a:lnRef>
          <a:fillRef idx="2">
            <a:schemeClr val="accent1"/>
          </a:fillRef>
          <a:effectRef idx="1">
            <a:schemeClr val="accent1"/>
          </a:effectRef>
          <a:fontRef idx="minor">
            <a:schemeClr val="dk1"/>
          </a:fontRef>
        </p:style>
        <p:txBody>
          <a:bodyPr>
            <a:noAutofit/>
          </a:bodyPr>
          <a:lstStyle/>
          <a:p>
            <a:pPr algn="just">
              <a:buNone/>
            </a:pPr>
            <a:r>
              <a:rPr lang="en-US" sz="2200" dirty="0" smtClean="0">
                <a:solidFill>
                  <a:srgbClr val="C00000"/>
                </a:solidFill>
                <a:latin typeface="Bookman Old Style" pitchFamily="18" charset="0"/>
              </a:rPr>
              <a:t>11.Use of Influence Strategies: </a:t>
            </a:r>
          </a:p>
          <a:p>
            <a:pPr algn="just">
              <a:buNone/>
            </a:pPr>
            <a:r>
              <a:rPr lang="en-US" sz="2200" dirty="0" smtClean="0">
                <a:latin typeface="Bookman Old Style" pitchFamily="18" charset="0"/>
              </a:rPr>
              <a:t>Uses of variety of strategies to affect others. </a:t>
            </a:r>
          </a:p>
          <a:p>
            <a:pPr algn="just">
              <a:buFont typeface="Wingdings" pitchFamily="2" charset="2"/>
              <a:buChar char="Ø"/>
            </a:pPr>
            <a:r>
              <a:rPr lang="en-US" sz="2200" dirty="0" smtClean="0">
                <a:latin typeface="Bookman Old Style" pitchFamily="18" charset="0"/>
              </a:rPr>
              <a:t>Acts to develop business contacts.</a:t>
            </a:r>
          </a:p>
          <a:p>
            <a:pPr algn="just">
              <a:buFont typeface="Wingdings" pitchFamily="2" charset="2"/>
              <a:buChar char="Ø"/>
            </a:pPr>
            <a:r>
              <a:rPr lang="en-US" sz="2200" dirty="0" smtClean="0">
                <a:latin typeface="Bookman Old Style" pitchFamily="18" charset="0"/>
              </a:rPr>
              <a:t> Uses influential people as agents to accomplish own objectives.</a:t>
            </a:r>
          </a:p>
          <a:p>
            <a:pPr algn="just">
              <a:buFont typeface="Wingdings" pitchFamily="2" charset="2"/>
              <a:buChar char="Ø"/>
            </a:pPr>
            <a:r>
              <a:rPr lang="en-US" sz="2200" dirty="0" smtClean="0">
                <a:latin typeface="Bookman Old Style" pitchFamily="18" charset="0"/>
              </a:rPr>
              <a:t> Selectively limits the information given to other.</a:t>
            </a:r>
          </a:p>
          <a:p>
            <a:pPr algn="just">
              <a:buNone/>
            </a:pPr>
            <a:r>
              <a:rPr lang="en-US" sz="2200" dirty="0" smtClean="0">
                <a:solidFill>
                  <a:srgbClr val="C00000"/>
                </a:solidFill>
                <a:latin typeface="Bookman Old Style" pitchFamily="18" charset="0"/>
              </a:rPr>
              <a:t>12. Monitoring</a:t>
            </a:r>
          </a:p>
          <a:p>
            <a:pPr algn="just">
              <a:buFont typeface="Wingdings" pitchFamily="2" charset="2"/>
              <a:buChar char="Ø"/>
            </a:pPr>
            <a:r>
              <a:rPr lang="en-US" sz="2200" dirty="0" smtClean="0">
                <a:latin typeface="Bookman Old Style" pitchFamily="18" charset="0"/>
              </a:rPr>
              <a:t>Develops or uses procedures to ensure that work is completed or that work gets standards or quality.</a:t>
            </a:r>
          </a:p>
          <a:p>
            <a:pPr algn="just">
              <a:buFont typeface="Wingdings" pitchFamily="2" charset="2"/>
              <a:buChar char="Ø"/>
            </a:pPr>
            <a:r>
              <a:rPr lang="en-US" sz="2200" dirty="0" smtClean="0">
                <a:latin typeface="Bookman Old Style" pitchFamily="18" charset="0"/>
              </a:rPr>
              <a:t> Personally supervises all aspects of a project</a:t>
            </a:r>
          </a:p>
          <a:p>
            <a:pPr algn="just">
              <a:buNone/>
            </a:pPr>
            <a:r>
              <a:rPr lang="en-US" sz="2200" dirty="0" smtClean="0">
                <a:solidFill>
                  <a:srgbClr val="C00000"/>
                </a:solidFill>
                <a:latin typeface="Bookman Old Style" pitchFamily="18" charset="0"/>
              </a:rPr>
              <a:t>13. Concern for Employee Welfare:</a:t>
            </a:r>
          </a:p>
          <a:p>
            <a:pPr algn="just">
              <a:buFont typeface="Wingdings" pitchFamily="2" charset="2"/>
              <a:buChar char="Ø"/>
            </a:pPr>
            <a:r>
              <a:rPr lang="en-US" sz="2200" dirty="0" smtClean="0">
                <a:latin typeface="Bookman Old Style" pitchFamily="18" charset="0"/>
              </a:rPr>
              <a:t>Takes action to improve the welfare of employees. </a:t>
            </a:r>
          </a:p>
          <a:p>
            <a:pPr algn="just">
              <a:buFont typeface="Wingdings" pitchFamily="2" charset="2"/>
              <a:buChar char="Ø"/>
            </a:pPr>
            <a:r>
              <a:rPr lang="en-US" sz="2200" dirty="0" smtClean="0">
                <a:latin typeface="Bookman Old Style" pitchFamily="18" charset="0"/>
              </a:rPr>
              <a:t>Takes positive action in response to employees' personal concerns. </a:t>
            </a:r>
          </a:p>
          <a:p>
            <a:pPr algn="just">
              <a:buFont typeface="Wingdings" pitchFamily="2" charset="2"/>
              <a:buChar char="Ø"/>
            </a:pPr>
            <a:r>
              <a:rPr lang="en-US" sz="2200" dirty="0" smtClean="0">
                <a:latin typeface="Bookman Old Style" pitchFamily="18" charset="0"/>
              </a:rPr>
              <a:t>Expresses concern about the welfare of employees.</a:t>
            </a:r>
          </a:p>
          <a:p>
            <a:pPr algn="just">
              <a:buFont typeface="Wingdings" pitchFamily="2" charset="2"/>
              <a:buChar char="Ø"/>
            </a:pPr>
            <a:endParaRPr lang="en-US" sz="22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srcRect/>
          <a:stretch>
            <a:fillRect/>
          </a:stretch>
        </p:blipFill>
        <p:spPr bwMode="auto">
          <a:xfrm>
            <a:off x="323528" y="332656"/>
            <a:ext cx="8424936" cy="6336704"/>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style>
          <a:lnRef idx="2">
            <a:schemeClr val="accent4">
              <a:shade val="50000"/>
            </a:schemeClr>
          </a:lnRef>
          <a:fillRef idx="1">
            <a:schemeClr val="accent4"/>
          </a:fillRef>
          <a:effectRef idx="0">
            <a:schemeClr val="accent4"/>
          </a:effectRef>
          <a:fontRef idx="minor">
            <a:schemeClr val="lt1"/>
          </a:fontRef>
        </p:style>
        <p:txBody>
          <a:bodyPr>
            <a:normAutofit/>
          </a:bodyPr>
          <a:lstStyle/>
          <a:p>
            <a:r>
              <a:rPr lang="en-IN" dirty="0" smtClean="0">
                <a:latin typeface="Maiandra GD" pitchFamily="34" charset="0"/>
              </a:rPr>
              <a:t>Entrepreneurial traits/Qualities</a:t>
            </a:r>
            <a:endParaRPr lang="en-IN" dirty="0">
              <a:latin typeface="Maiandra GD" pitchFamily="34"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729200" y="1196975"/>
            <a:ext cx="7803239" cy="5184353"/>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229600" cy="1600200"/>
          </a:xfrm>
        </p:spPr>
        <p:txBody>
          <a:bodyPr>
            <a:noAutofit/>
          </a:bodyPr>
          <a:lstStyle/>
          <a:p>
            <a:pPr algn="just"/>
            <a:r>
              <a:rPr lang="en-US" sz="2400" dirty="0" smtClean="0">
                <a:latin typeface="Maiandra GD" pitchFamily="34" charset="0"/>
              </a:rPr>
              <a:t>Everybody has their own path to success. There are a few common traits and characteristics that all successful entrepreneurs have in common. </a:t>
            </a:r>
            <a:endParaRPr lang="en-US" sz="2400" dirty="0">
              <a:latin typeface="Maiandra GD" pitchFamily="34" charset="0"/>
            </a:endParaRPr>
          </a:p>
        </p:txBody>
      </p:sp>
      <p:sp>
        <p:nvSpPr>
          <p:cNvPr id="3" name="Content Placeholder 2"/>
          <p:cNvSpPr>
            <a:spLocks noGrp="1"/>
          </p:cNvSpPr>
          <p:nvPr>
            <p:ph idx="1"/>
          </p:nvPr>
        </p:nvSpPr>
        <p:spPr>
          <a:xfrm>
            <a:off x="381000" y="1828800"/>
            <a:ext cx="8229600" cy="4830763"/>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pPr marL="514350" indent="-514350" algn="just">
              <a:buFont typeface="+mj-lt"/>
              <a:buAutoNum type="arabicPeriod"/>
            </a:pPr>
            <a:r>
              <a:rPr lang="en-US" dirty="0" smtClean="0">
                <a:solidFill>
                  <a:srgbClr val="FF0000"/>
                </a:solidFill>
                <a:latin typeface="Bookman Old Style" pitchFamily="18" charset="0"/>
              </a:rPr>
              <a:t>Vision: </a:t>
            </a:r>
            <a:r>
              <a:rPr lang="en-US" dirty="0" smtClean="0">
                <a:latin typeface="Bookman Old Style" pitchFamily="18" charset="0"/>
              </a:rPr>
              <a:t>Successful entrepreneurs have a clear vision of what their business will be and can concisely articulate its purpose, goals and market position. </a:t>
            </a:r>
          </a:p>
          <a:p>
            <a:pPr marL="514350" indent="-514350" algn="just">
              <a:buNone/>
            </a:pPr>
            <a:r>
              <a:rPr lang="en-US" dirty="0" smtClean="0">
                <a:latin typeface="Bookman Old Style" pitchFamily="18" charset="0"/>
              </a:rPr>
              <a:t>       They have identified (and can succinctly describe) the who, what, where, when and why of their business. </a:t>
            </a:r>
          </a:p>
          <a:p>
            <a:pPr marL="514350" indent="-514350" algn="just">
              <a:buAutoNum type="arabicPeriod" startAt="2"/>
            </a:pPr>
            <a:r>
              <a:rPr lang="en-US" dirty="0" smtClean="0">
                <a:solidFill>
                  <a:srgbClr val="FF0000"/>
                </a:solidFill>
                <a:latin typeface="Bookman Old Style" pitchFamily="18" charset="0"/>
              </a:rPr>
              <a:t>Passion: </a:t>
            </a:r>
            <a:r>
              <a:rPr lang="en-US" dirty="0" smtClean="0">
                <a:latin typeface="Bookman Old Style" pitchFamily="18" charset="0"/>
              </a:rPr>
              <a:t>A successful entrepreneur is passionate about their business. It is hard work, and putting in long hours will be tough if you don’t love what you are doing. </a:t>
            </a:r>
          </a:p>
          <a:p>
            <a:pPr marL="514350" indent="-514350" algn="just">
              <a:buNone/>
            </a:pPr>
            <a:r>
              <a:rPr lang="en-US" dirty="0" smtClean="0">
                <a:latin typeface="Bookman Old Style" pitchFamily="18" charset="0"/>
              </a:rPr>
              <a:t>       People with passion know what it is that drives them to keep working to achieve their vision.</a:t>
            </a:r>
            <a:endParaRPr lang="en-US" dirty="0">
              <a:latin typeface="Bookman Old Style" pitchFamily="18" charset="0"/>
            </a:endParaRPr>
          </a:p>
        </p:txBody>
      </p:sp>
    </p:spTree>
  </p:cSld>
  <p:clrMapOvr>
    <a:masterClrMapping/>
  </p:clrMapOvr>
  <p:transition spd="med">
    <p:strips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style>
          <a:lnRef idx="1">
            <a:schemeClr val="dk1"/>
          </a:lnRef>
          <a:fillRef idx="2">
            <a:schemeClr val="dk1"/>
          </a:fillRef>
          <a:effectRef idx="1">
            <a:schemeClr val="dk1"/>
          </a:effectRef>
          <a:fontRef idx="minor">
            <a:schemeClr val="dk1"/>
          </a:fontRef>
        </p:style>
        <p:txBody>
          <a:bodyPr>
            <a:noAutofit/>
          </a:bodyPr>
          <a:lstStyle/>
          <a:p>
            <a:pPr marL="514350" indent="-514350" algn="just">
              <a:spcBef>
                <a:spcPts val="0"/>
              </a:spcBef>
              <a:buAutoNum type="arabicPeriod" startAt="3"/>
            </a:pPr>
            <a:r>
              <a:rPr lang="en-US" sz="2400" dirty="0" smtClean="0">
                <a:solidFill>
                  <a:srgbClr val="FF0000"/>
                </a:solidFill>
                <a:latin typeface="Bookman Old Style" pitchFamily="18" charset="0"/>
              </a:rPr>
              <a:t>Resolve: </a:t>
            </a:r>
            <a:r>
              <a:rPr lang="en-US" sz="2400" dirty="0" smtClean="0">
                <a:latin typeface="Bookman Old Style" pitchFamily="18" charset="0"/>
              </a:rPr>
              <a:t>Entrepreneurs remain tough when the going gets rough. They don’t give up easily.</a:t>
            </a:r>
          </a:p>
          <a:p>
            <a:pPr marL="514350" indent="-514350" algn="just">
              <a:spcBef>
                <a:spcPts val="0"/>
              </a:spcBef>
              <a:buNone/>
            </a:pPr>
            <a:r>
              <a:rPr lang="en-US" sz="2400" dirty="0" smtClean="0">
                <a:latin typeface="Bookman Old Style" pitchFamily="18" charset="0"/>
              </a:rPr>
              <a:t>      They can accept rejection and are willing to learn from their mistakes. </a:t>
            </a:r>
          </a:p>
          <a:p>
            <a:pPr marL="514350" indent="-514350" algn="just">
              <a:spcBef>
                <a:spcPts val="0"/>
              </a:spcBef>
              <a:buNone/>
            </a:pPr>
            <a:r>
              <a:rPr lang="en-US" sz="2400" dirty="0" smtClean="0">
                <a:latin typeface="Bookman Old Style" pitchFamily="18" charset="0"/>
              </a:rPr>
              <a:t>      They are willing and able to adapt and modify their plan in order to be successful the next time around. </a:t>
            </a:r>
          </a:p>
          <a:p>
            <a:pPr marL="514350" indent="-514350" algn="just">
              <a:spcBef>
                <a:spcPts val="0"/>
              </a:spcBef>
              <a:buAutoNum type="arabicPeriod" startAt="4"/>
            </a:pPr>
            <a:r>
              <a:rPr lang="en-US" sz="2400" dirty="0" smtClean="0">
                <a:solidFill>
                  <a:srgbClr val="FF0000"/>
                </a:solidFill>
                <a:latin typeface="Bookman Old Style" pitchFamily="18" charset="0"/>
              </a:rPr>
              <a:t>Willingness to work hard: </a:t>
            </a:r>
            <a:r>
              <a:rPr lang="en-US" sz="2400" dirty="0" smtClean="0">
                <a:latin typeface="Bookman Old Style" pitchFamily="18" charset="0"/>
              </a:rPr>
              <a:t>Being an entrepreneur is harder than being an employee. </a:t>
            </a:r>
          </a:p>
          <a:p>
            <a:pPr marL="514350" indent="-514350" algn="just">
              <a:spcBef>
                <a:spcPts val="0"/>
              </a:spcBef>
              <a:buNone/>
            </a:pPr>
            <a:r>
              <a:rPr lang="en-US" sz="2400" dirty="0" smtClean="0">
                <a:latin typeface="Bookman Old Style" pitchFamily="18" charset="0"/>
              </a:rPr>
              <a:t>     To be successful, the entrepreneur must be willing to put in the time and effort required, often for little or no pay at the beginning. </a:t>
            </a:r>
          </a:p>
          <a:p>
            <a:pPr marL="514350" indent="-514350" algn="just">
              <a:spcBef>
                <a:spcPts val="0"/>
              </a:spcBef>
              <a:buNone/>
            </a:pPr>
            <a:r>
              <a:rPr lang="en-US" sz="2400" dirty="0" smtClean="0">
                <a:latin typeface="Bookman Old Style" pitchFamily="18" charset="0"/>
              </a:rPr>
              <a:t>      Successful entrepreneurs recognize the risk and necessary work that achieving their goals will entail.</a:t>
            </a:r>
            <a:endParaRPr lang="en-US" sz="2400" dirty="0">
              <a:latin typeface="Bookman Old Style" pitchFamily="18" charset="0"/>
            </a:endParaRPr>
          </a:p>
        </p:txBody>
      </p:sp>
    </p:spTree>
  </p:cSld>
  <p:clrMapOvr>
    <a:masterClrMapping/>
  </p:clrMapOvr>
  <p:transition spd="med">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620688"/>
            <a:ext cx="8229600" cy="5668963"/>
          </a:xfrm>
        </p:spPr>
        <p:style>
          <a:lnRef idx="1">
            <a:schemeClr val="accent2"/>
          </a:lnRef>
          <a:fillRef idx="2">
            <a:schemeClr val="accent2"/>
          </a:fillRef>
          <a:effectRef idx="1">
            <a:schemeClr val="accent2"/>
          </a:effectRef>
          <a:fontRef idx="minor">
            <a:schemeClr val="dk1"/>
          </a:fontRef>
        </p:style>
        <p:txBody>
          <a:bodyPr>
            <a:normAutofit/>
          </a:bodyPr>
          <a:lstStyle/>
          <a:p>
            <a:pPr marL="324000" indent="0" algn="just">
              <a:buNone/>
            </a:pPr>
            <a:r>
              <a:rPr lang="en-US" sz="2400" dirty="0" smtClean="0">
                <a:solidFill>
                  <a:srgbClr val="FF0000"/>
                </a:solidFill>
                <a:latin typeface="Bookman Old Style" pitchFamily="18" charset="0"/>
              </a:rPr>
              <a:t>5. Confidence</a:t>
            </a:r>
            <a:r>
              <a:rPr lang="en-US" sz="2400" dirty="0" smtClean="0">
                <a:latin typeface="Bookman Old Style" pitchFamily="18" charset="0"/>
              </a:rPr>
              <a:t>: Successful entrepreneurs have           confidence in themselves and in their business. They must believe in their ability and in their idea. </a:t>
            </a:r>
          </a:p>
          <a:p>
            <a:pPr algn="just">
              <a:buNone/>
            </a:pPr>
            <a:r>
              <a:rPr lang="en-US" sz="2400" dirty="0" smtClean="0">
                <a:latin typeface="Bookman Old Style" pitchFamily="18" charset="0"/>
              </a:rPr>
              <a:t>    Every entrepreneur will face rejection along the way and successful entrepreneurs are those with the confidence to keep going and bounce back after a setback.</a:t>
            </a:r>
          </a:p>
          <a:p>
            <a:pPr algn="just">
              <a:buNone/>
            </a:pPr>
            <a:r>
              <a:rPr lang="en-US" sz="2400" dirty="0" smtClean="0">
                <a:solidFill>
                  <a:srgbClr val="FF0000"/>
                </a:solidFill>
                <a:latin typeface="Bookman Old Style" pitchFamily="18" charset="0"/>
              </a:rPr>
              <a:t> 6. Flexibility:  </a:t>
            </a:r>
            <a:r>
              <a:rPr lang="en-US" sz="2400" dirty="0" smtClean="0">
                <a:latin typeface="Bookman Old Style" pitchFamily="18" charset="0"/>
              </a:rPr>
              <a:t>Things do not always go as planned. A successful entrepreneur is flexible. </a:t>
            </a:r>
          </a:p>
          <a:p>
            <a:pPr algn="just">
              <a:buNone/>
            </a:pPr>
            <a:r>
              <a:rPr lang="en-US" sz="2400" dirty="0" smtClean="0">
                <a:latin typeface="Bookman Old Style" pitchFamily="18" charset="0"/>
              </a:rPr>
              <a:t>    They learn from their mistakes and are willing to adapt and change as they go along. They take advice from others and are open to trying new approaches</a:t>
            </a:r>
            <a:endParaRPr lang="en-US"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5767536"/>
          </a:xfrm>
        </p:spPr>
        <p:style>
          <a:lnRef idx="1">
            <a:schemeClr val="accent4"/>
          </a:lnRef>
          <a:fillRef idx="2">
            <a:schemeClr val="accent4"/>
          </a:fillRef>
          <a:effectRef idx="1">
            <a:schemeClr val="accent4"/>
          </a:effectRef>
          <a:fontRef idx="minor">
            <a:schemeClr val="dk1"/>
          </a:fontRef>
        </p:style>
        <p:txBody>
          <a:bodyPr>
            <a:normAutofit/>
          </a:bodyPr>
          <a:lstStyle/>
          <a:p>
            <a:pPr algn="just">
              <a:buNone/>
            </a:pPr>
            <a:r>
              <a:rPr lang="en-US" sz="2800" dirty="0" smtClean="0">
                <a:solidFill>
                  <a:srgbClr val="FF0000"/>
                </a:solidFill>
                <a:latin typeface="Bookman Old Style" pitchFamily="18" charset="0"/>
              </a:rPr>
              <a:t>7. Can sell: </a:t>
            </a:r>
            <a:r>
              <a:rPr lang="en-US" sz="2800" dirty="0" smtClean="0">
                <a:latin typeface="Bookman Old Style" pitchFamily="18" charset="0"/>
              </a:rPr>
              <a:t>An entrepreneur must be comfortable selling. Even with a sales team, the leader must be an expert at networking and be able to promote themselves and their business to bankers, customers, suppliers and staff.</a:t>
            </a:r>
          </a:p>
          <a:p>
            <a:pPr algn="just">
              <a:buNone/>
            </a:pPr>
            <a:r>
              <a:rPr lang="en-US" sz="2800" dirty="0" smtClean="0">
                <a:solidFill>
                  <a:srgbClr val="FF0000"/>
                </a:solidFill>
                <a:latin typeface="Bookman Old Style" pitchFamily="18" charset="0"/>
              </a:rPr>
              <a:t>8. Careful with money: </a:t>
            </a:r>
            <a:r>
              <a:rPr lang="en-US" sz="2800" dirty="0" smtClean="0">
                <a:latin typeface="Bookman Old Style" pitchFamily="18" charset="0"/>
              </a:rPr>
              <a:t>Successful entrepreneurs are good money managers. They prudently invest in overhead and always keep track of the money and manage their cash flow.</a:t>
            </a:r>
            <a:endParaRPr lang="en-US" sz="28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52120"/>
          </a:xfrm>
        </p:spPr>
        <p:style>
          <a:lnRef idx="1">
            <a:schemeClr val="accent5"/>
          </a:lnRef>
          <a:fillRef idx="2">
            <a:schemeClr val="accent5"/>
          </a:fillRef>
          <a:effectRef idx="1">
            <a:schemeClr val="accent5"/>
          </a:effectRef>
          <a:fontRef idx="minor">
            <a:schemeClr val="dk1"/>
          </a:fontRef>
        </p:style>
        <p:txBody>
          <a:bodyPr>
            <a:normAutofit/>
          </a:bodyPr>
          <a:lstStyle/>
          <a:p>
            <a:pPr algn="just">
              <a:buNone/>
            </a:pPr>
            <a:r>
              <a:rPr lang="en-US" sz="2400" dirty="0" smtClean="0">
                <a:solidFill>
                  <a:srgbClr val="FF0000"/>
                </a:solidFill>
                <a:latin typeface="Bookman Old Style" pitchFamily="18" charset="0"/>
              </a:rPr>
              <a:t>9. Willing to ask for and accept help:  </a:t>
            </a:r>
            <a:r>
              <a:rPr lang="en-US" sz="2400" dirty="0" smtClean="0">
                <a:latin typeface="Bookman Old Style" pitchFamily="18" charset="0"/>
              </a:rPr>
              <a:t>An entrepreneur needs to be a jack of all trades but the most successful entrepreneurs know their limitations, realize they can’t do everything and are willing to delegate to others. </a:t>
            </a:r>
          </a:p>
          <a:p>
            <a:pPr algn="just">
              <a:buNone/>
            </a:pPr>
            <a:r>
              <a:rPr lang="en-US" sz="2400" dirty="0" smtClean="0">
                <a:latin typeface="Bookman Old Style" pitchFamily="18" charset="0"/>
              </a:rPr>
              <a:t>    They are willing to ask for help. They seek out and pay for expert advice when needed. </a:t>
            </a:r>
          </a:p>
          <a:p>
            <a:pPr algn="just">
              <a:buNone/>
            </a:pPr>
            <a:r>
              <a:rPr lang="en-US" sz="2400" dirty="0" smtClean="0">
                <a:solidFill>
                  <a:srgbClr val="FF0000"/>
                </a:solidFill>
                <a:latin typeface="Bookman Old Style" pitchFamily="18" charset="0"/>
              </a:rPr>
              <a:t>10. Risk taking:  </a:t>
            </a:r>
            <a:r>
              <a:rPr lang="en-US" sz="2400" dirty="0" smtClean="0">
                <a:latin typeface="Bookman Old Style" pitchFamily="18" charset="0"/>
              </a:rPr>
              <a:t>No matter how successful your business, there will be bumps along the road. A successful entrepreneur is resilient and can bounce back from a setback. </a:t>
            </a:r>
          </a:p>
          <a:p>
            <a:pPr algn="just">
              <a:buNone/>
            </a:pPr>
            <a:r>
              <a:rPr lang="en-US" sz="2400" dirty="0" smtClean="0">
                <a:latin typeface="Bookman Old Style" pitchFamily="18" charset="0"/>
              </a:rPr>
              <a:t>    They use setbacks as an opportunity to learn and grow. They understand that failure is part of the game.</a:t>
            </a:r>
            <a:endParaRPr lang="en-US" sz="2400" dirty="0">
              <a:latin typeface="Bookman Old Style" pitchFamily="18" charset="0"/>
            </a:endParaRPr>
          </a:p>
        </p:txBody>
      </p:sp>
    </p:spTree>
  </p:cSld>
  <p:clrMapOvr>
    <a:masterClrMapping/>
  </p:clrMapOvr>
  <p:transition spd="med">
    <p:strips dir="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Grp="1" noChangeAspect="1" noChangeArrowheads="1"/>
          </p:cNvPicPr>
          <p:nvPr>
            <p:ph idx="1"/>
          </p:nvPr>
        </p:nvPicPr>
        <p:blipFill>
          <a:blip r:embed="rId3" cstate="print"/>
          <a:srcRect t="8700"/>
          <a:stretch>
            <a:fillRect/>
          </a:stretch>
        </p:blipFill>
        <p:spPr bwMode="auto">
          <a:xfrm>
            <a:off x="323528" y="908720"/>
            <a:ext cx="8640960" cy="5289451"/>
          </a:xfrm>
          <a:prstGeom prst="rect">
            <a:avLst/>
          </a:prstGeom>
          <a:noFill/>
          <a:ln w="9525">
            <a:noFill/>
            <a:miter lim="800000"/>
            <a:headEnd/>
            <a:tailEnd/>
          </a:ln>
        </p:spPr>
      </p:pic>
      <p:sp>
        <p:nvSpPr>
          <p:cNvPr id="3" name="TextBox 2"/>
          <p:cNvSpPr txBox="1"/>
          <p:nvPr/>
        </p:nvSpPr>
        <p:spPr>
          <a:xfrm>
            <a:off x="323528" y="332656"/>
            <a:ext cx="4248472" cy="461665"/>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IN" sz="2400" b="1" dirty="0" smtClean="0">
                <a:solidFill>
                  <a:srgbClr val="FFC000"/>
                </a:solidFill>
                <a:latin typeface="Maiandra GD" pitchFamily="34" charset="0"/>
              </a:rPr>
              <a:t>Advantages of Entrepreneur</a:t>
            </a:r>
            <a:endParaRPr lang="en-IN" sz="2400" b="1" dirty="0">
              <a:solidFill>
                <a:srgbClr val="FFC000"/>
              </a:solidFill>
              <a:latin typeface="Maiandra GD" pitchFamily="34" charset="0"/>
            </a:endParaRPr>
          </a:p>
        </p:txBody>
      </p:sp>
    </p:spTree>
  </p:cSld>
  <p:clrMapOvr>
    <a:masterClrMapping/>
  </p:clrMapOvr>
  <p:transition spd="med">
    <p:strips dir="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cstate="print"/>
          <a:srcRect/>
          <a:stretch>
            <a:fillRect/>
          </a:stretch>
        </p:blipFill>
        <p:spPr bwMode="auto">
          <a:xfrm>
            <a:off x="323528" y="332656"/>
            <a:ext cx="8496944" cy="6258644"/>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style>
          <a:lnRef idx="2">
            <a:schemeClr val="accent2"/>
          </a:lnRef>
          <a:fillRef idx="1">
            <a:schemeClr val="lt1"/>
          </a:fillRef>
          <a:effectRef idx="0">
            <a:schemeClr val="accent2"/>
          </a:effectRef>
          <a:fontRef idx="minor">
            <a:schemeClr val="dk1"/>
          </a:fontRef>
        </p:style>
        <p:txBody>
          <a:bodyPr/>
          <a:lstStyle/>
          <a:p>
            <a:r>
              <a:rPr lang="en-IN" dirty="0" smtClean="0"/>
              <a:t>Disadvantages of Entrepreneur</a:t>
            </a:r>
            <a:endParaRPr lang="en-IN"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467544" y="1556792"/>
            <a:ext cx="8424936" cy="5019838"/>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pic>
    </p:spTree>
  </p:cSld>
  <p:clrMapOvr>
    <a:masterClrMapping/>
  </p:clrMapOvr>
  <p:transition spd="med">
    <p:strips dir="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323528" y="274544"/>
            <a:ext cx="8496944" cy="5962768"/>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transition spd="med">
    <p:strips dir="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srcRect/>
          <a:stretch>
            <a:fillRect/>
          </a:stretch>
        </p:blipFill>
        <p:spPr bwMode="auto">
          <a:xfrm>
            <a:off x="395536" y="260648"/>
            <a:ext cx="8208912" cy="6192688"/>
          </a:xfrm>
          <a:prstGeom prst="rect">
            <a:avLst/>
          </a:prstGeom>
          <a:ln>
            <a:headEnd/>
            <a:tailEnd/>
          </a:ln>
        </p:spPr>
        <p:style>
          <a:lnRef idx="2">
            <a:schemeClr val="accent1"/>
          </a:lnRef>
          <a:fillRef idx="1">
            <a:schemeClr val="lt1"/>
          </a:fillRef>
          <a:effectRef idx="0">
            <a:schemeClr val="accent1"/>
          </a:effectRef>
          <a:fontRef idx="minor">
            <a:schemeClr val="dk1"/>
          </a:fontRef>
        </p:style>
      </p:pic>
    </p:spTree>
  </p:cSld>
  <p:clrMapOvr>
    <a:masterClrMapping/>
  </p:clrMapOvr>
  <p:transition spd="med">
    <p:strips dir="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cstate="print"/>
          <a:srcRect/>
          <a:stretch>
            <a:fillRect/>
          </a:stretch>
        </p:blipFill>
        <p:spPr bwMode="auto">
          <a:xfrm>
            <a:off x="395535" y="260648"/>
            <a:ext cx="8573667" cy="6192688"/>
          </a:xfrm>
          <a:prstGeom prst="rect">
            <a:avLst/>
          </a:prstGeom>
          <a:ln>
            <a:headEnd/>
            <a:tailEnd/>
          </a:ln>
        </p:spPr>
        <p:style>
          <a:lnRef idx="2">
            <a:schemeClr val="dk1"/>
          </a:lnRef>
          <a:fillRef idx="1">
            <a:schemeClr val="lt1"/>
          </a:fillRef>
          <a:effectRef idx="0">
            <a:schemeClr val="dk1"/>
          </a:effectRef>
          <a:fontRef idx="minor">
            <a:schemeClr val="dk1"/>
          </a:fontRef>
        </p:style>
      </p:pic>
    </p:spTree>
  </p:cSld>
  <p:clrMapOvr>
    <a:masterClrMapping/>
  </p:clrMapOvr>
  <p:transition spd="med">
    <p:strips dir="rd"/>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cstate="print"/>
          <a:srcRect/>
          <a:stretch>
            <a:fillRect/>
          </a:stretch>
        </p:blipFill>
        <p:spPr bwMode="auto">
          <a:xfrm>
            <a:off x="395536" y="548680"/>
            <a:ext cx="8352927" cy="5976664"/>
          </a:xfrm>
          <a:prstGeom prst="rect">
            <a:avLst/>
          </a:prstGeom>
          <a:ln>
            <a:headEnd/>
            <a:tailEnd/>
          </a:ln>
        </p:spPr>
        <p:style>
          <a:lnRef idx="2">
            <a:schemeClr val="dk1"/>
          </a:lnRef>
          <a:fillRef idx="1">
            <a:schemeClr val="lt1"/>
          </a:fillRef>
          <a:effectRef idx="0">
            <a:schemeClr val="dk1"/>
          </a:effectRef>
          <a:fontRef idx="minor">
            <a:schemeClr val="dk1"/>
          </a:fontRef>
        </p:style>
      </p:pic>
    </p:spTree>
  </p:cSld>
  <p:clrMapOvr>
    <a:masterClrMapping/>
  </p:clrMapOvr>
  <p:transition spd="med">
    <p:strips dir="rd"/>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59216" cy="562074"/>
          </a:xfrm>
        </p:spPr>
        <p:style>
          <a:lnRef idx="2">
            <a:schemeClr val="accent1"/>
          </a:lnRef>
          <a:fillRef idx="1">
            <a:schemeClr val="lt1"/>
          </a:fillRef>
          <a:effectRef idx="0">
            <a:schemeClr val="accent1"/>
          </a:effectRef>
          <a:fontRef idx="minor">
            <a:schemeClr val="dk1"/>
          </a:fontRef>
        </p:style>
        <p:txBody>
          <a:bodyPr>
            <a:noAutofit/>
          </a:bodyPr>
          <a:lstStyle/>
          <a:p>
            <a:r>
              <a:rPr lang="en-IN" sz="2400" b="1" dirty="0" smtClean="0">
                <a:latin typeface="Maiandra GD" pitchFamily="34" charset="0"/>
              </a:rPr>
              <a:t>Difference between Entrepreneur and Entrepreneurship</a:t>
            </a:r>
            <a:endParaRPr lang="en-IN" sz="2400" b="1" dirty="0">
              <a:latin typeface="Maiandra GD" pitchFamily="34"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251520" y="980728"/>
            <a:ext cx="8740198" cy="5544839"/>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normAutofit fontScale="90000"/>
          </a:bodyPr>
          <a:lstStyle/>
          <a:p>
            <a:r>
              <a:rPr lang="en-IN" dirty="0" smtClean="0">
                <a:solidFill>
                  <a:srgbClr val="7030A0"/>
                </a:solidFill>
                <a:latin typeface="Maiandra GD" pitchFamily="34" charset="0"/>
              </a:rPr>
              <a:t>Relation ship between Entrepreneur and Entrepreneurship</a:t>
            </a:r>
            <a:endParaRPr lang="en-IN" dirty="0">
              <a:solidFill>
                <a:srgbClr val="7030A0"/>
              </a:solidFill>
              <a:latin typeface="Maiandra GD" pitchFamily="34" charset="0"/>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1403648" y="1600200"/>
            <a:ext cx="6480719" cy="4525963"/>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08912" cy="850106"/>
          </a:xfrm>
        </p:spPr>
        <p:style>
          <a:lnRef idx="2">
            <a:schemeClr val="dk1"/>
          </a:lnRef>
          <a:fillRef idx="1">
            <a:schemeClr val="lt1"/>
          </a:fillRef>
          <a:effectRef idx="0">
            <a:schemeClr val="dk1"/>
          </a:effectRef>
          <a:fontRef idx="minor">
            <a:schemeClr val="dk1"/>
          </a:fontRef>
        </p:style>
        <p:txBody>
          <a:bodyPr>
            <a:normAutofit/>
          </a:bodyPr>
          <a:lstStyle/>
          <a:p>
            <a:r>
              <a:rPr lang="en-IN" dirty="0" smtClean="0">
                <a:solidFill>
                  <a:srgbClr val="7030A0"/>
                </a:solidFill>
                <a:latin typeface="Maiandra GD" pitchFamily="34" charset="0"/>
              </a:rPr>
              <a:t>Classification of Entrepreneurs </a:t>
            </a:r>
            <a:endParaRPr lang="en-IN" dirty="0">
              <a:solidFill>
                <a:srgbClr val="7030A0"/>
              </a:solidFill>
              <a:latin typeface="Maiandra GD" pitchFamily="34" charset="0"/>
            </a:endParaRPr>
          </a:p>
        </p:txBody>
      </p:sp>
      <p:pic>
        <p:nvPicPr>
          <p:cNvPr id="4" name="Content Placeholder 3" descr="types-of-entrepreneurs.png"/>
          <p:cNvPicPr>
            <a:picLocks noGrp="1" noChangeAspect="1"/>
          </p:cNvPicPr>
          <p:nvPr>
            <p:ph idx="1"/>
          </p:nvPr>
        </p:nvPicPr>
        <p:blipFill>
          <a:blip r:embed="rId2" cstate="print"/>
          <a:stretch>
            <a:fillRect/>
          </a:stretch>
        </p:blipFill>
        <p:spPr>
          <a:xfrm>
            <a:off x="467544" y="1196752"/>
            <a:ext cx="8208912" cy="5398654"/>
          </a:xfrm>
        </p:spPr>
        <p:style>
          <a:lnRef idx="2">
            <a:schemeClr val="dk1"/>
          </a:lnRef>
          <a:fillRef idx="1">
            <a:schemeClr val="lt1"/>
          </a:fillRef>
          <a:effectRef idx="0">
            <a:schemeClr val="dk1"/>
          </a:effectRef>
          <a:fontRef idx="minor">
            <a:schemeClr val="dk1"/>
          </a:fontRef>
        </p:style>
      </p:pic>
    </p:spTree>
  </p:cSld>
  <p:clrMapOvr>
    <a:masterClrMapping/>
  </p:clrMapOvr>
  <p:transition spd="med">
    <p:strips dir="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23528" y="260648"/>
          <a:ext cx="8568952" cy="63367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trips dir="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818656" cy="562074"/>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l"/>
            <a:r>
              <a:rPr lang="en-IN" sz="2400" dirty="0" smtClean="0">
                <a:solidFill>
                  <a:schemeClr val="bg1"/>
                </a:solidFill>
                <a:latin typeface="Maiandra GD" pitchFamily="34" charset="0"/>
              </a:rPr>
              <a:t>Based on Ownership</a:t>
            </a:r>
            <a:endParaRPr lang="en-IN" sz="2400" dirty="0">
              <a:solidFill>
                <a:schemeClr val="bg1"/>
              </a:solidFill>
              <a:latin typeface="Maiandra GD" pitchFamily="34" charset="0"/>
            </a:endParaRPr>
          </a:p>
        </p:txBody>
      </p:sp>
      <p:graphicFrame>
        <p:nvGraphicFramePr>
          <p:cNvPr id="4" name="Content Placeholder 3"/>
          <p:cNvGraphicFramePr>
            <a:graphicFrameLocks noGrp="1"/>
          </p:cNvGraphicFramePr>
          <p:nvPr>
            <p:ph idx="1"/>
          </p:nvPr>
        </p:nvGraphicFramePr>
        <p:xfrm>
          <a:off x="251520" y="764704"/>
          <a:ext cx="8496944" cy="5832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3"/>
          <p:cNvPicPr>
            <a:picLocks noChangeAspect="1" noChangeArrowheads="1"/>
          </p:cNvPicPr>
          <p:nvPr/>
        </p:nvPicPr>
        <p:blipFill>
          <a:blip r:embed="rId7" cstate="print"/>
          <a:srcRect/>
          <a:stretch>
            <a:fillRect/>
          </a:stretch>
        </p:blipFill>
        <p:spPr bwMode="auto">
          <a:xfrm>
            <a:off x="5652120" y="620688"/>
            <a:ext cx="2808312" cy="5832648"/>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6"/>
          <p:cNvPicPr>
            <a:picLocks noChangeAspect="1" noChangeArrowheads="1"/>
          </p:cNvPicPr>
          <p:nvPr/>
        </p:nvPicPr>
        <p:blipFill>
          <a:blip r:embed="rId2" cstate="print"/>
          <a:srcRect/>
          <a:stretch>
            <a:fillRect/>
          </a:stretch>
        </p:blipFill>
        <p:spPr bwMode="auto">
          <a:xfrm>
            <a:off x="0" y="476672"/>
            <a:ext cx="3136255" cy="5832475"/>
          </a:xfrm>
          <a:prstGeom prst="rect">
            <a:avLst/>
          </a:prstGeom>
          <a:noFill/>
          <a:ln w="9525">
            <a:noFill/>
            <a:miter lim="800000"/>
            <a:headEnd/>
            <a:tailEnd/>
          </a:ln>
        </p:spPr>
      </p:pic>
      <p:pic>
        <p:nvPicPr>
          <p:cNvPr id="13314" name="Picture 2"/>
          <p:cNvPicPr>
            <a:picLocks noChangeAspect="1" noChangeArrowheads="1"/>
          </p:cNvPicPr>
          <p:nvPr/>
        </p:nvPicPr>
        <p:blipFill>
          <a:blip r:embed="rId3" cstate="print"/>
          <a:srcRect/>
          <a:stretch>
            <a:fillRect/>
          </a:stretch>
        </p:blipFill>
        <p:spPr bwMode="auto">
          <a:xfrm>
            <a:off x="3203848" y="128588"/>
            <a:ext cx="5760640" cy="6600825"/>
          </a:xfrm>
          <a:prstGeom prst="rect">
            <a:avLst/>
          </a:prstGeom>
          <a:noFill/>
          <a:ln w="9525">
            <a:noFill/>
            <a:miter lim="800000"/>
            <a:headEnd/>
            <a:tailEnd/>
          </a:ln>
        </p:spPr>
      </p:pic>
    </p:spTree>
  </p:cSld>
  <p:clrMapOvr>
    <a:masterClrMapping/>
  </p:clrMapOvr>
  <p:transition spd="med">
    <p:strips dir="rd"/>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88640"/>
          <a:ext cx="8229600" cy="59375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323528" y="3717032"/>
            <a:ext cx="2520280" cy="26642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lgn="just"/>
            <a:r>
              <a:rPr lang="en-IN" b="1" dirty="0" smtClean="0">
                <a:solidFill>
                  <a:srgbClr val="FF0000"/>
                </a:solidFill>
              </a:rPr>
              <a:t>C</a:t>
            </a:r>
            <a:r>
              <a:rPr lang="en-IN" sz="1400" b="1" dirty="0" smtClean="0">
                <a:solidFill>
                  <a:srgbClr val="FF0000"/>
                </a:solidFill>
                <a:latin typeface="Bookman Old Style" pitchFamily="18" charset="0"/>
              </a:rPr>
              <a:t>hallengers: </a:t>
            </a:r>
            <a:r>
              <a:rPr lang="en-IN" sz="1400" dirty="0" smtClean="0">
                <a:latin typeface="Bookman Old Style" pitchFamily="18" charset="0"/>
              </a:rPr>
              <a:t>Challengers include entrepreneurs who seek new challenges in enterprise ventures, including manufacturing, distribution, and marketing. Once they achieve their set challenge, they begin to set and acquire new challenges</a:t>
            </a:r>
            <a:r>
              <a:rPr lang="en-IN" dirty="0" smtClean="0"/>
              <a:t>.</a:t>
            </a:r>
          </a:p>
          <a:p>
            <a:pPr algn="ctr"/>
            <a:endParaRPr lang="en-IN" dirty="0"/>
          </a:p>
        </p:txBody>
      </p:sp>
      <p:sp>
        <p:nvSpPr>
          <p:cNvPr id="8" name="Rectangle 7"/>
          <p:cNvSpPr/>
          <p:nvPr/>
        </p:nvSpPr>
        <p:spPr>
          <a:xfrm>
            <a:off x="3059832" y="3717032"/>
            <a:ext cx="2808312" cy="26642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lgn="just"/>
            <a:r>
              <a:rPr lang="en-IN" sz="1200" b="1" dirty="0" smtClean="0">
                <a:solidFill>
                  <a:srgbClr val="FF0000"/>
                </a:solidFill>
                <a:latin typeface="Bookman Old Style" pitchFamily="18" charset="0"/>
              </a:rPr>
              <a:t>Buyers: </a:t>
            </a:r>
            <a:r>
              <a:rPr lang="en-IN" sz="1200" dirty="0" smtClean="0">
                <a:latin typeface="Bookman Old Style" pitchFamily="18" charset="0"/>
              </a:rPr>
              <a:t>Buyers include entrepreneurs who do not like to take too much risk in completely new business establishments. These entrepreneurs mainly purchase on-going enterprises by paying a decent amount and start their operations. This ultimately reduces the risk of establishing a new enterprise as the existing enterprise typically has better business value and customer reach.</a:t>
            </a:r>
          </a:p>
          <a:p>
            <a:pPr algn="just"/>
            <a:endParaRPr lang="en-IN" sz="1200" dirty="0">
              <a:latin typeface="Bookman Old Style" pitchFamily="18" charset="0"/>
            </a:endParaRPr>
          </a:p>
        </p:txBody>
      </p:sp>
      <p:sp>
        <p:nvSpPr>
          <p:cNvPr id="9" name="Rectangle 8"/>
          <p:cNvSpPr/>
          <p:nvPr/>
        </p:nvSpPr>
        <p:spPr>
          <a:xfrm>
            <a:off x="6084168" y="3645024"/>
            <a:ext cx="2808312" cy="28083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lgn="just"/>
            <a:endParaRPr lang="en-IN" sz="1400" dirty="0" smtClean="0">
              <a:latin typeface="Bookman Old Style" pitchFamily="18" charset="0"/>
            </a:endParaRPr>
          </a:p>
          <a:p>
            <a:pPr lvl="0" algn="just"/>
            <a:r>
              <a:rPr lang="en-IN" sz="1400" b="1" dirty="0" smtClean="0">
                <a:solidFill>
                  <a:srgbClr val="FF0000"/>
                </a:solidFill>
                <a:latin typeface="Bookman Old Style" pitchFamily="18" charset="0"/>
              </a:rPr>
              <a:t>Life-Timers:</a:t>
            </a:r>
            <a:r>
              <a:rPr lang="en-IN" sz="1400" dirty="0" smtClean="0">
                <a:latin typeface="Bookman Old Style" pitchFamily="18" charset="0"/>
              </a:rPr>
              <a:t> Life-timers includes entrepreneurs who consider enterprises as an integral part of their lives. In particular, these entrepreneurs mainly learn skills from their elders and continue to operate family ventures further. These entrepreneurs usually consider their enterprises a family tradition.</a:t>
            </a:r>
          </a:p>
          <a:p>
            <a:pPr algn="ctr"/>
            <a:endParaRPr lang="en-IN" dirty="0"/>
          </a:p>
        </p:txBody>
      </p:sp>
    </p:spTree>
  </p:cSld>
  <p:clrMapOvr>
    <a:masterClrMapping/>
  </p:clrMapOvr>
  <p:transition spd="med">
    <p:strips dir="r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style>
          <a:lnRef idx="2">
            <a:schemeClr val="accent4">
              <a:shade val="50000"/>
            </a:schemeClr>
          </a:lnRef>
          <a:fillRef idx="1">
            <a:schemeClr val="accent4"/>
          </a:fillRef>
          <a:effectRef idx="0">
            <a:schemeClr val="accent4"/>
          </a:effectRef>
          <a:fontRef idx="minor">
            <a:schemeClr val="lt1"/>
          </a:fontRef>
        </p:style>
        <p:txBody>
          <a:bodyPr/>
          <a:lstStyle/>
          <a:p>
            <a:r>
              <a:rPr lang="en-IN" dirty="0" smtClean="0">
                <a:latin typeface="Maiandra GD" pitchFamily="34" charset="0"/>
              </a:rPr>
              <a:t>Functions of Entrepreneurs </a:t>
            </a:r>
            <a:endParaRPr lang="en-IN" dirty="0">
              <a:latin typeface="Maiandra GD" pitchFamily="34" charset="0"/>
            </a:endParaRPr>
          </a:p>
        </p:txBody>
      </p:sp>
      <p:sp>
        <p:nvSpPr>
          <p:cNvPr id="3" name="Content Placeholder 2"/>
          <p:cNvSpPr>
            <a:spLocks noGrp="1"/>
          </p:cNvSpPr>
          <p:nvPr>
            <p:ph idx="1"/>
          </p:nvPr>
        </p:nvSpPr>
        <p:spPr>
          <a:xfrm>
            <a:off x="457200" y="1196752"/>
            <a:ext cx="8229600" cy="5256584"/>
          </a:xfrm>
        </p:spPr>
        <p:txBody>
          <a:bodyPr>
            <a:normAutofit/>
          </a:bodyPr>
          <a:lstStyle/>
          <a:p>
            <a:pPr algn="just"/>
            <a:r>
              <a:rPr lang="en-IN" dirty="0" smtClean="0">
                <a:latin typeface="Bookman Old Style" pitchFamily="18" charset="0"/>
              </a:rPr>
              <a:t>In practice, an entrepreneur does perform all the functions necessary right from the genesis of a business idea up to the establishment of an enterprise.</a:t>
            </a:r>
          </a:p>
          <a:p>
            <a:pPr algn="just"/>
            <a:r>
              <a:rPr lang="en-IN" dirty="0" smtClean="0">
                <a:latin typeface="Bookman Old Style" pitchFamily="18" charset="0"/>
              </a:rPr>
              <a:t>According to </a:t>
            </a:r>
            <a:r>
              <a:rPr lang="en-IN" b="1" dirty="0" smtClean="0">
                <a:solidFill>
                  <a:srgbClr val="FF0000"/>
                </a:solidFill>
                <a:latin typeface="Bookman Old Style" pitchFamily="18" charset="0"/>
              </a:rPr>
              <a:t>Peter </a:t>
            </a:r>
            <a:r>
              <a:rPr lang="en-IN" b="1" dirty="0" err="1" smtClean="0">
                <a:solidFill>
                  <a:srgbClr val="FF0000"/>
                </a:solidFill>
                <a:latin typeface="Bookman Old Style" pitchFamily="18" charset="0"/>
              </a:rPr>
              <a:t>Kilby</a:t>
            </a:r>
            <a:r>
              <a:rPr lang="en-IN" b="1" dirty="0" smtClean="0">
                <a:solidFill>
                  <a:srgbClr val="FF0000"/>
                </a:solidFill>
                <a:latin typeface="Bookman Old Style" pitchFamily="18" charset="0"/>
              </a:rPr>
              <a:t>(1971), </a:t>
            </a:r>
            <a:r>
              <a:rPr lang="en-IN" dirty="0" smtClean="0">
                <a:latin typeface="Bookman Old Style" pitchFamily="18" charset="0"/>
              </a:rPr>
              <a:t>there are 13 functions to be performed by the entrepreneur to establish and run his/her enterprise.</a:t>
            </a:r>
            <a:endParaRPr lang="en-IN" dirty="0">
              <a:latin typeface="Bookman Old Style" pitchFamily="18" charset="0"/>
            </a:endParaRPr>
          </a:p>
        </p:txBody>
      </p:sp>
    </p:spTree>
  </p:cSld>
  <p:clrMapOvr>
    <a:masterClrMapping/>
  </p:clrMapOvr>
  <p:transition spd="med">
    <p:strips dir="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6120680"/>
          </a:xfrm>
        </p:spPr>
        <p:style>
          <a:lnRef idx="2">
            <a:schemeClr val="accent5"/>
          </a:lnRef>
          <a:fillRef idx="1">
            <a:schemeClr val="lt1"/>
          </a:fillRef>
          <a:effectRef idx="0">
            <a:schemeClr val="accent5"/>
          </a:effectRef>
          <a:fontRef idx="minor">
            <a:schemeClr val="dk1"/>
          </a:fontRef>
        </p:style>
        <p:txBody>
          <a:bodyPr>
            <a:noAutofit/>
          </a:bodyPr>
          <a:lstStyle/>
          <a:p>
            <a:pPr algn="just"/>
            <a:r>
              <a:rPr lang="en-IN" sz="2400" dirty="0" smtClean="0">
                <a:latin typeface="Bookman Old Style" pitchFamily="18" charset="0"/>
              </a:rPr>
              <a:t>Perception of market opportunities</a:t>
            </a:r>
          </a:p>
          <a:p>
            <a:pPr algn="just"/>
            <a:r>
              <a:rPr lang="en-IN" sz="2400" dirty="0" smtClean="0">
                <a:latin typeface="Bookman Old Style" pitchFamily="18" charset="0"/>
              </a:rPr>
              <a:t>Gaining command over scarce resources</a:t>
            </a:r>
          </a:p>
          <a:p>
            <a:pPr algn="just"/>
            <a:r>
              <a:rPr lang="en-IN" sz="2400" dirty="0" smtClean="0">
                <a:latin typeface="Bookman Old Style" pitchFamily="18" charset="0"/>
              </a:rPr>
              <a:t>Purchasing inputs.</a:t>
            </a:r>
          </a:p>
          <a:p>
            <a:pPr algn="just"/>
            <a:r>
              <a:rPr lang="en-IN" sz="2400" dirty="0" smtClean="0">
                <a:latin typeface="Bookman Old Style" pitchFamily="18" charset="0"/>
              </a:rPr>
              <a:t>Marketing the products</a:t>
            </a:r>
          </a:p>
          <a:p>
            <a:pPr algn="just"/>
            <a:r>
              <a:rPr lang="en-IN" sz="2400" dirty="0" smtClean="0">
                <a:latin typeface="Bookman Old Style" pitchFamily="18" charset="0"/>
              </a:rPr>
              <a:t>Dealing with officials</a:t>
            </a:r>
          </a:p>
          <a:p>
            <a:pPr algn="just"/>
            <a:r>
              <a:rPr lang="en-IN" sz="2400" dirty="0" smtClean="0">
                <a:latin typeface="Bookman Old Style" pitchFamily="18" charset="0"/>
              </a:rPr>
              <a:t>Managing human resources within the enterprise.</a:t>
            </a:r>
          </a:p>
          <a:p>
            <a:pPr algn="just"/>
            <a:r>
              <a:rPr lang="en-IN" sz="2400" dirty="0" smtClean="0">
                <a:latin typeface="Bookman Old Style" pitchFamily="18" charset="0"/>
              </a:rPr>
              <a:t>Managing customer and supplier relations</a:t>
            </a:r>
          </a:p>
          <a:p>
            <a:pPr algn="just"/>
            <a:r>
              <a:rPr lang="en-IN" sz="2400" dirty="0" smtClean="0">
                <a:latin typeface="Bookman Old Style" pitchFamily="18" charset="0"/>
              </a:rPr>
              <a:t>Managing finance</a:t>
            </a:r>
          </a:p>
          <a:p>
            <a:pPr algn="just"/>
            <a:r>
              <a:rPr lang="en-IN" sz="2400" dirty="0" smtClean="0">
                <a:latin typeface="Bookman Old Style" pitchFamily="18" charset="0"/>
              </a:rPr>
              <a:t>Managing Production</a:t>
            </a:r>
          </a:p>
          <a:p>
            <a:pPr algn="just"/>
            <a:r>
              <a:rPr lang="en-IN" sz="2400" dirty="0" smtClean="0">
                <a:latin typeface="Bookman Old Style" pitchFamily="18" charset="0"/>
              </a:rPr>
              <a:t>Acquiring and overseeing assembly of the factory.</a:t>
            </a:r>
          </a:p>
          <a:p>
            <a:pPr algn="just"/>
            <a:r>
              <a:rPr lang="en-IN" sz="2400" dirty="0" smtClean="0">
                <a:latin typeface="Bookman Old Style" pitchFamily="18" charset="0"/>
              </a:rPr>
              <a:t>Industrial Engineering</a:t>
            </a:r>
          </a:p>
          <a:p>
            <a:pPr algn="just"/>
            <a:r>
              <a:rPr lang="en-IN" sz="2400" dirty="0" smtClean="0">
                <a:latin typeface="Bookman Old Style" pitchFamily="18" charset="0"/>
              </a:rPr>
              <a:t>Upgrading process and product</a:t>
            </a:r>
          </a:p>
          <a:p>
            <a:pPr algn="just"/>
            <a:r>
              <a:rPr lang="en-IN" sz="2400" dirty="0" smtClean="0">
                <a:latin typeface="Bookman Old Style" pitchFamily="18" charset="0"/>
              </a:rPr>
              <a:t>Introducing the new product techniques and products.</a:t>
            </a:r>
          </a:p>
        </p:txBody>
      </p:sp>
    </p:spTree>
  </p:cSld>
  <p:clrMapOvr>
    <a:masterClrMapping/>
  </p:clrMapOvr>
  <p:transition spd="med">
    <p:strips dir="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976664"/>
          </a:xfrm>
        </p:spPr>
        <p:style>
          <a:lnRef idx="2">
            <a:schemeClr val="accent4"/>
          </a:lnRef>
          <a:fillRef idx="1">
            <a:schemeClr val="lt1"/>
          </a:fillRef>
          <a:effectRef idx="0">
            <a:schemeClr val="accent4"/>
          </a:effectRef>
          <a:fontRef idx="minor">
            <a:schemeClr val="dk1"/>
          </a:fontRef>
        </p:style>
        <p:txBody>
          <a:bodyPr>
            <a:normAutofit/>
          </a:bodyPr>
          <a:lstStyle/>
          <a:p>
            <a:pPr algn="just">
              <a:buNone/>
            </a:pPr>
            <a:r>
              <a:rPr lang="en-IN" sz="2400" dirty="0" smtClean="0">
                <a:latin typeface="Bookman Old Style" pitchFamily="18" charset="0"/>
              </a:rPr>
              <a:t>All these functions can be listed in the following sequential order</a:t>
            </a:r>
          </a:p>
          <a:p>
            <a:pPr algn="just"/>
            <a:r>
              <a:rPr lang="en-IN" sz="2400" dirty="0" smtClean="0">
                <a:latin typeface="Bookman Old Style" pitchFamily="18" charset="0"/>
              </a:rPr>
              <a:t>Business idea generation and selection of the best suitable business idea.</a:t>
            </a:r>
          </a:p>
          <a:p>
            <a:pPr algn="just"/>
            <a:r>
              <a:rPr lang="en-IN" sz="2400" dirty="0" smtClean="0">
                <a:latin typeface="Bookman Old Style" pitchFamily="18" charset="0"/>
              </a:rPr>
              <a:t> Determination of the business objectives.</a:t>
            </a:r>
          </a:p>
          <a:p>
            <a:pPr algn="just"/>
            <a:r>
              <a:rPr lang="en-IN" sz="2400" dirty="0" smtClean="0">
                <a:latin typeface="Bookman Old Style" pitchFamily="18" charset="0"/>
              </a:rPr>
              <a:t>Product analysis and market research</a:t>
            </a:r>
          </a:p>
          <a:p>
            <a:pPr algn="just"/>
            <a:r>
              <a:rPr lang="en-IN" sz="2400" dirty="0" smtClean="0">
                <a:latin typeface="Bookman Old Style" pitchFamily="18" charset="0"/>
              </a:rPr>
              <a:t>Determination of the form of owner ship/organization</a:t>
            </a:r>
          </a:p>
          <a:p>
            <a:pPr algn="just"/>
            <a:r>
              <a:rPr lang="en-IN" sz="2400" dirty="0" smtClean="0">
                <a:latin typeface="Bookman Old Style" pitchFamily="18" charset="0"/>
              </a:rPr>
              <a:t>Completion of promotional formalities</a:t>
            </a:r>
          </a:p>
          <a:p>
            <a:pPr algn="just"/>
            <a:r>
              <a:rPr lang="en-IN" sz="2400" dirty="0" smtClean="0">
                <a:latin typeface="Bookman Old Style" pitchFamily="18" charset="0"/>
              </a:rPr>
              <a:t>Raising necessary funds</a:t>
            </a:r>
          </a:p>
          <a:p>
            <a:pPr algn="just"/>
            <a:r>
              <a:rPr lang="en-IN" sz="2400" dirty="0" smtClean="0">
                <a:latin typeface="Bookman Old Style" pitchFamily="18" charset="0"/>
              </a:rPr>
              <a:t>Procuring machine and material</a:t>
            </a:r>
          </a:p>
          <a:p>
            <a:pPr algn="just"/>
            <a:r>
              <a:rPr lang="en-IN" sz="2400" dirty="0" smtClean="0">
                <a:latin typeface="Bookman Old Style" pitchFamily="18" charset="0"/>
              </a:rPr>
              <a:t>Recruitment of men</a:t>
            </a:r>
          </a:p>
          <a:p>
            <a:pPr algn="just"/>
            <a:r>
              <a:rPr lang="en-IN" sz="2400" dirty="0" smtClean="0">
                <a:latin typeface="Bookman Old Style" pitchFamily="18" charset="0"/>
              </a:rPr>
              <a:t>Undertaking the business operations.</a:t>
            </a:r>
          </a:p>
          <a:p>
            <a:pPr algn="just"/>
            <a:endParaRPr lang="en-IN" sz="2000" dirty="0">
              <a:latin typeface="Bookman Old Style" pitchFamily="18" charset="0"/>
            </a:endParaRPr>
          </a:p>
        </p:txBody>
      </p:sp>
    </p:spTree>
  </p:cSld>
  <p:clrMapOvr>
    <a:masterClrMapping/>
  </p:clrMapOvr>
  <p:transition spd="med">
    <p:strips dir="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marL="0" indent="0">
              <a:buNone/>
            </a:pPr>
            <a:r>
              <a:rPr lang="en-US" sz="2800" b="1" dirty="0" smtClean="0">
                <a:solidFill>
                  <a:srgbClr val="FF0000"/>
                </a:solidFill>
                <a:latin typeface="Bookman Old Style" pitchFamily="18" charset="0"/>
              </a:rPr>
              <a:t>1. Taking Initiative</a:t>
            </a:r>
          </a:p>
          <a:p>
            <a:pPr algn="just">
              <a:buFont typeface="Wingdings" panose="05000000000000000000" pitchFamily="2" charset="2"/>
              <a:buChar char="Ø"/>
            </a:pPr>
            <a:r>
              <a:rPr lang="en-US" sz="2800" dirty="0" smtClean="0">
                <a:solidFill>
                  <a:srgbClr val="CC0000"/>
                </a:solidFill>
                <a:latin typeface="Bookman Old Style" pitchFamily="18" charset="0"/>
                <a:hlinkClick r:id="rId2"/>
              </a:rPr>
              <a:t>Entrepreneurship is a pro-active activity that takes such actions</a:t>
            </a:r>
            <a:r>
              <a:rPr lang="en-US" sz="2800" dirty="0" smtClean="0">
                <a:solidFill>
                  <a:srgbClr val="151515"/>
                </a:solidFill>
                <a:latin typeface="Bookman Old Style" pitchFamily="18" charset="0"/>
              </a:rPr>
              <a:t>, which others can’t even perceive.</a:t>
            </a:r>
          </a:p>
          <a:p>
            <a:pPr algn="just">
              <a:buFont typeface="Wingdings" panose="05000000000000000000" pitchFamily="2" charset="2"/>
              <a:buChar char="Ø"/>
            </a:pPr>
            <a:r>
              <a:rPr lang="en-US" sz="2800" dirty="0" smtClean="0">
                <a:solidFill>
                  <a:srgbClr val="151515"/>
                </a:solidFill>
                <a:latin typeface="Bookman Old Style" pitchFamily="18" charset="0"/>
              </a:rPr>
              <a:t>This unique function of entrepreneurship provides our civilization with a wide variety of products, ways of actions, production techniques, etc.</a:t>
            </a:r>
          </a:p>
          <a:p>
            <a:pPr algn="just">
              <a:buFont typeface="Wingdings" panose="05000000000000000000" pitchFamily="2" charset="2"/>
              <a:buChar char="Ø"/>
            </a:pPr>
            <a:r>
              <a:rPr lang="en-US" sz="2800" dirty="0" smtClean="0">
                <a:solidFill>
                  <a:srgbClr val="151515"/>
                </a:solidFill>
                <a:latin typeface="Bookman Old Style" pitchFamily="18" charset="0"/>
              </a:rPr>
              <a:t>Therefore, taking initiative with such end and qualification is the prime function of entrepreneurship in every economy.</a:t>
            </a:r>
          </a:p>
          <a:p>
            <a:endParaRPr lang="en-US" sz="2800" dirty="0">
              <a:latin typeface="Bookman Old Style" pitchFamily="18" charset="0"/>
            </a:endParaRPr>
          </a:p>
        </p:txBody>
      </p:sp>
    </p:spTree>
    <p:extLst>
      <p:ext uri="{BB962C8B-B14F-4D97-AF65-F5344CB8AC3E}">
        <p14:creationId xmlns:p14="http://schemas.microsoft.com/office/powerpoint/2010/main" xmlns="" val="3235329370"/>
      </p:ext>
    </p:extLst>
  </p:cSld>
  <p:clrMapOvr>
    <a:masterClrMapping/>
  </p:clrMapOvr>
  <p:transition spd="med">
    <p:strips dir="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77500" lnSpcReduction="20000"/>
          </a:bodyPr>
          <a:lstStyle/>
          <a:p>
            <a:pPr marL="0" indent="0" algn="just">
              <a:lnSpc>
                <a:spcPct val="150000"/>
              </a:lnSpc>
              <a:spcBef>
                <a:spcPts val="1200"/>
              </a:spcBef>
              <a:spcAft>
                <a:spcPts val="0"/>
              </a:spcAft>
              <a:buNone/>
            </a:pPr>
            <a:r>
              <a:rPr lang="x-none" dirty="0">
                <a:solidFill>
                  <a:srgbClr val="FF0000"/>
                </a:solidFill>
                <a:latin typeface="Bookman Old Style" pitchFamily="18" charset="0"/>
                <a:ea typeface="Times New Roman" panose="02020603050405020304" pitchFamily="18" charset="0"/>
              </a:rPr>
              <a:t>2.</a:t>
            </a:r>
            <a:r>
              <a:rPr lang="x-none" b="1" dirty="0">
                <a:solidFill>
                  <a:srgbClr val="FF0000"/>
                </a:solidFill>
                <a:latin typeface="Bookman Old Style" pitchFamily="18" charset="0"/>
                <a:ea typeface="Times New Roman" panose="02020603050405020304" pitchFamily="18" charset="0"/>
              </a:rPr>
              <a:t> Organizing Resources</a:t>
            </a:r>
            <a:r>
              <a:rPr lang="en-US" dirty="0">
                <a:solidFill>
                  <a:srgbClr val="FF0000"/>
                </a:solidFill>
                <a:latin typeface="Bookman Old Style" pitchFamily="18" charset="0"/>
                <a:ea typeface="Times New Roman" panose="02020603050405020304" pitchFamily="18" charset="0"/>
              </a:rPr>
              <a:t>: </a:t>
            </a:r>
            <a:endParaRPr lang="en-US" dirty="0" smtClean="0">
              <a:solidFill>
                <a:srgbClr val="FF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en-US" dirty="0" smtClean="0">
                <a:solidFill>
                  <a:srgbClr val="000000"/>
                </a:solidFill>
                <a:latin typeface="Bookman Old Style" pitchFamily="18" charset="0"/>
                <a:ea typeface="Times New Roman" panose="02020603050405020304" pitchFamily="18" charset="0"/>
              </a:rPr>
              <a:t> </a:t>
            </a:r>
            <a:r>
              <a:rPr lang="x-none" dirty="0">
                <a:solidFill>
                  <a:srgbClr val="000000"/>
                </a:solidFill>
                <a:latin typeface="Bookman Old Style" pitchFamily="18" charset="0"/>
                <a:ea typeface="Times New Roman" panose="02020603050405020304" pitchFamily="18" charset="0"/>
              </a:rPr>
              <a:t>Organizing entails identifying those resources that are required to transform a particular idea into reality. The resources include human and nonhuman resources. </a:t>
            </a:r>
            <a:endParaRPr lang="en-US" dirty="0" smtClean="0">
              <a:solidFill>
                <a:srgbClr val="00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x-none" dirty="0" smtClean="0">
                <a:solidFill>
                  <a:srgbClr val="000000"/>
                </a:solidFill>
                <a:latin typeface="Bookman Old Style" pitchFamily="18" charset="0"/>
                <a:ea typeface="Times New Roman" panose="02020603050405020304" pitchFamily="18" charset="0"/>
              </a:rPr>
              <a:t>Organizing </a:t>
            </a:r>
            <a:r>
              <a:rPr lang="x-none" dirty="0">
                <a:solidFill>
                  <a:srgbClr val="000000"/>
                </a:solidFill>
                <a:latin typeface="Bookman Old Style" pitchFamily="18" charset="0"/>
                <a:ea typeface="Times New Roman" panose="02020603050405020304" pitchFamily="18" charset="0"/>
              </a:rPr>
              <a:t>in entrepreneurship will increase productivity, promote new ventures, distribute and supervise work and responsibility, and will remove barriers to work.</a:t>
            </a:r>
            <a:r>
              <a:rPr lang="en-US" dirty="0">
                <a:solidFill>
                  <a:srgbClr val="000000"/>
                </a:solidFill>
                <a:latin typeface="Bookman Old Style" pitchFamily="18" charset="0"/>
                <a:ea typeface="Times New Roman" panose="02020603050405020304" pitchFamily="18" charset="0"/>
              </a:rPr>
              <a:t> </a:t>
            </a:r>
            <a:endParaRPr lang="en-US" sz="3600" b="1" i="1" dirty="0">
              <a:effectLst/>
              <a:latin typeface="Bookman Old Style" pitchFamily="18" charset="0"/>
              <a:ea typeface="Times New Roman" panose="02020603050405020304" pitchFamily="18" charset="0"/>
            </a:endParaRPr>
          </a:p>
        </p:txBody>
      </p:sp>
    </p:spTree>
    <p:extLst>
      <p:ext uri="{BB962C8B-B14F-4D97-AF65-F5344CB8AC3E}">
        <p14:creationId xmlns:p14="http://schemas.microsoft.com/office/powerpoint/2010/main" xmlns="" val="1144552777"/>
      </p:ext>
    </p:extLst>
  </p:cSld>
  <p:clrMapOvr>
    <a:masterClrMapping/>
  </p:clrMapOvr>
  <p:transition spd="med">
    <p:strips dir="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533400"/>
            <a:ext cx="8229600" cy="5703912"/>
          </a:xfrm>
        </p:spPr>
        <p:txBody>
          <a:bodyPr>
            <a:normAutofit lnSpcReduction="10000"/>
          </a:bodyPr>
          <a:lstStyle/>
          <a:p>
            <a:pPr marL="0" indent="0" algn="just">
              <a:buNone/>
            </a:pPr>
            <a:r>
              <a:rPr lang="en-IN" b="1" i="1" dirty="0">
                <a:solidFill>
                  <a:srgbClr val="FF0000"/>
                </a:solidFill>
                <a:latin typeface="Bookman Old Style" pitchFamily="18" charset="0"/>
                <a:ea typeface="Times New Roman" panose="02020603050405020304" pitchFamily="18" charset="0"/>
              </a:rPr>
              <a:t>3.</a:t>
            </a:r>
            <a:r>
              <a:rPr lang="en-IN" i="1" dirty="0">
                <a:solidFill>
                  <a:srgbClr val="FF0000"/>
                </a:solidFill>
                <a:latin typeface="Bookman Old Style" pitchFamily="18" charset="0"/>
                <a:ea typeface="Times New Roman" panose="02020603050405020304" pitchFamily="18" charset="0"/>
              </a:rPr>
              <a:t>  Identifying Opportunities and Prospects</a:t>
            </a:r>
            <a:r>
              <a:rPr lang="en-US" b="1" i="1" dirty="0">
                <a:solidFill>
                  <a:srgbClr val="FF0000"/>
                </a:solidFill>
                <a:latin typeface="Bookman Old Style" pitchFamily="18" charset="0"/>
                <a:ea typeface="Times New Roman" panose="02020603050405020304" pitchFamily="18" charset="0"/>
              </a:rPr>
              <a:t>:</a:t>
            </a:r>
            <a:r>
              <a:rPr lang="en-US" b="1" i="1" dirty="0">
                <a:solidFill>
                  <a:srgbClr val="000000"/>
                </a:solidFill>
                <a:latin typeface="Bookman Old Style" pitchFamily="18" charset="0"/>
                <a:ea typeface="Times New Roman" panose="02020603050405020304" pitchFamily="18" charset="0"/>
              </a:rPr>
              <a:t> </a:t>
            </a:r>
            <a:r>
              <a:rPr lang="en-US" b="1" i="1" dirty="0" smtClean="0">
                <a:solidFill>
                  <a:srgbClr val="000000"/>
                </a:solidFill>
                <a:latin typeface="Bookman Old Style" pitchFamily="18" charset="0"/>
                <a:ea typeface="Times New Roman" panose="02020603050405020304" pitchFamily="18" charset="0"/>
              </a:rPr>
              <a:t> </a:t>
            </a:r>
          </a:p>
          <a:p>
            <a:pPr algn="just">
              <a:buFont typeface="Wingdings" panose="05000000000000000000" pitchFamily="2" charset="2"/>
              <a:buChar char="Ø"/>
            </a:pPr>
            <a:r>
              <a:rPr lang="en-IN" dirty="0" smtClean="0">
                <a:solidFill>
                  <a:srgbClr val="000000"/>
                </a:solidFill>
                <a:latin typeface="Bookman Old Style" pitchFamily="18" charset="0"/>
                <a:ea typeface="Times New Roman" panose="02020603050405020304" pitchFamily="18" charset="0"/>
              </a:rPr>
              <a:t>Entrepreneurship </a:t>
            </a:r>
            <a:r>
              <a:rPr lang="en-IN" dirty="0">
                <a:solidFill>
                  <a:srgbClr val="000000"/>
                </a:solidFill>
                <a:latin typeface="Bookman Old Style" pitchFamily="18" charset="0"/>
                <a:ea typeface="Times New Roman" panose="02020603050405020304" pitchFamily="18" charset="0"/>
              </a:rPr>
              <a:t>searches those activities of value that have an economic and social contribution. </a:t>
            </a:r>
            <a:endParaRPr lang="en-IN" dirty="0" smtClean="0">
              <a:solidFill>
                <a:srgbClr val="000000"/>
              </a:solidFill>
              <a:latin typeface="Bookman Old Style" pitchFamily="18" charset="0"/>
              <a:ea typeface="Times New Roman" panose="02020603050405020304" pitchFamily="18" charset="0"/>
            </a:endParaRPr>
          </a:p>
          <a:p>
            <a:pPr algn="just">
              <a:buFont typeface="Wingdings" panose="05000000000000000000" pitchFamily="2" charset="2"/>
              <a:buChar char="Ø"/>
            </a:pPr>
            <a:r>
              <a:rPr lang="en-IN" dirty="0" smtClean="0">
                <a:solidFill>
                  <a:srgbClr val="000000"/>
                </a:solidFill>
                <a:latin typeface="Bookman Old Style" pitchFamily="18" charset="0"/>
                <a:ea typeface="Times New Roman" panose="02020603050405020304" pitchFamily="18" charset="0"/>
              </a:rPr>
              <a:t>It </a:t>
            </a:r>
            <a:r>
              <a:rPr lang="en-IN" dirty="0">
                <a:solidFill>
                  <a:srgbClr val="000000"/>
                </a:solidFill>
                <a:latin typeface="Bookman Old Style" pitchFamily="18" charset="0"/>
                <a:ea typeface="Times New Roman" panose="02020603050405020304" pitchFamily="18" charset="0"/>
              </a:rPr>
              <a:t>identifies new opportunities in the socio-economic arena which have got profitable prospects therefore, entrepreneurs are called searchers of hopes into blind spots and this function enormously indebted our society to entrepreneurship</a:t>
            </a:r>
            <a:endParaRPr lang="en-US" dirty="0">
              <a:latin typeface="Bookman Old Style" pitchFamily="18" charset="0"/>
            </a:endParaRPr>
          </a:p>
        </p:txBody>
      </p:sp>
    </p:spTree>
    <p:extLst>
      <p:ext uri="{BB962C8B-B14F-4D97-AF65-F5344CB8AC3E}">
        <p14:creationId xmlns:p14="http://schemas.microsoft.com/office/powerpoint/2010/main" xmlns="" val="1755569800"/>
      </p:ext>
    </p:extLst>
  </p:cSld>
  <p:clrMapOvr>
    <a:masterClrMapping/>
  </p:clrMapOvr>
  <p:transition spd="med">
    <p:strips dir="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911552"/>
          </a:xfrm>
        </p:spPr>
        <p:txBody>
          <a:bodyPr>
            <a:normAutofit fontScale="70000" lnSpcReduction="20000"/>
          </a:bodyPr>
          <a:lstStyle/>
          <a:p>
            <a:pPr marL="0" indent="0">
              <a:lnSpc>
                <a:spcPct val="170000"/>
              </a:lnSpc>
              <a:buNone/>
            </a:pPr>
            <a:r>
              <a:rPr lang="en-US" b="1" dirty="0">
                <a:solidFill>
                  <a:srgbClr val="FF0000"/>
                </a:solidFill>
                <a:latin typeface="Bookman Old Style" pitchFamily="18" charset="0"/>
              </a:rPr>
              <a:t>4. Risk-Taking</a:t>
            </a:r>
          </a:p>
          <a:p>
            <a:pPr algn="just">
              <a:lnSpc>
                <a:spcPct val="170000"/>
              </a:lnSpc>
              <a:buFont typeface="Wingdings" panose="05000000000000000000" pitchFamily="2" charset="2"/>
              <a:buChar char="Ø"/>
            </a:pPr>
            <a:r>
              <a:rPr lang="en-US" dirty="0">
                <a:solidFill>
                  <a:srgbClr val="151515"/>
                </a:solidFill>
                <a:latin typeface="Bookman Old Style" pitchFamily="18" charset="0"/>
              </a:rPr>
              <a:t>Entrepreneurship takes the risk for the new venture.</a:t>
            </a:r>
          </a:p>
          <a:p>
            <a:pPr algn="just">
              <a:lnSpc>
                <a:spcPct val="170000"/>
              </a:lnSpc>
              <a:buFont typeface="Wingdings" panose="05000000000000000000" pitchFamily="2" charset="2"/>
              <a:buChar char="Ø"/>
            </a:pPr>
            <a:r>
              <a:rPr lang="en-US" dirty="0">
                <a:solidFill>
                  <a:srgbClr val="151515"/>
                </a:solidFill>
                <a:latin typeface="Bookman Old Style" pitchFamily="18" charset="0"/>
              </a:rPr>
              <a:t>For innovative actions in the field of production technology for new products in a volatile market and new raw materials used in production.</a:t>
            </a:r>
          </a:p>
          <a:p>
            <a:pPr algn="just">
              <a:lnSpc>
                <a:spcPct val="170000"/>
              </a:lnSpc>
              <a:buFont typeface="Wingdings" panose="05000000000000000000" pitchFamily="2" charset="2"/>
              <a:buChar char="Ø"/>
            </a:pPr>
            <a:r>
              <a:rPr lang="en-US" dirty="0">
                <a:solidFill>
                  <a:srgbClr val="151515"/>
                </a:solidFill>
                <a:latin typeface="Bookman Old Style" pitchFamily="18" charset="0"/>
              </a:rPr>
              <a:t>Moreover, it also takes the risk for theft, robbery, snatching market fall and hooliganism that may be involved with new entrepreneurship This is a major function of entrepreneurship in developing countries.</a:t>
            </a:r>
          </a:p>
          <a:p>
            <a:pPr>
              <a:lnSpc>
                <a:spcPct val="170000"/>
              </a:lnSpc>
            </a:pPr>
            <a:endParaRPr lang="en-US" dirty="0">
              <a:latin typeface="Bookman Old Style" pitchFamily="18" charset="0"/>
            </a:endParaRPr>
          </a:p>
        </p:txBody>
      </p:sp>
    </p:spTree>
    <p:extLst>
      <p:ext uri="{BB962C8B-B14F-4D97-AF65-F5344CB8AC3E}">
        <p14:creationId xmlns:p14="http://schemas.microsoft.com/office/powerpoint/2010/main" xmlns="" val="1963127343"/>
      </p:ext>
    </p:extLst>
  </p:cSld>
  <p:clrMapOvr>
    <a:masterClrMapping/>
  </p:clrMapOvr>
  <p:transition spd="med">
    <p:strips dir="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856312"/>
          </a:xfrm>
        </p:spPr>
        <p:txBody>
          <a:bodyPr>
            <a:noAutofit/>
          </a:bodyPr>
          <a:lstStyle/>
          <a:p>
            <a:pPr marL="0" indent="0" algn="just">
              <a:lnSpc>
                <a:spcPct val="150000"/>
              </a:lnSpc>
              <a:spcBef>
                <a:spcPts val="1200"/>
              </a:spcBef>
              <a:spcAft>
                <a:spcPts val="0"/>
              </a:spcAft>
              <a:buNone/>
            </a:pPr>
            <a:r>
              <a:rPr lang="x-none" sz="2400" dirty="0">
                <a:solidFill>
                  <a:srgbClr val="FF0000"/>
                </a:solidFill>
                <a:latin typeface="Bookman Old Style" pitchFamily="18" charset="0"/>
                <a:ea typeface="Times New Roman" panose="02020603050405020304" pitchFamily="18" charset="0"/>
              </a:rPr>
              <a:t>5.</a:t>
            </a:r>
            <a:r>
              <a:rPr lang="x-none" sz="2400" b="1" dirty="0">
                <a:solidFill>
                  <a:srgbClr val="FF0000"/>
                </a:solidFill>
                <a:latin typeface="Bookman Old Style" pitchFamily="18" charset="0"/>
                <a:ea typeface="Times New Roman" panose="02020603050405020304" pitchFamily="18" charset="0"/>
              </a:rPr>
              <a:t> Decision Making</a:t>
            </a:r>
            <a:r>
              <a:rPr lang="en-US" sz="2400" dirty="0">
                <a:solidFill>
                  <a:srgbClr val="FF0000"/>
                </a:solidFill>
                <a:latin typeface="Bookman Old Style" pitchFamily="18" charset="0"/>
                <a:ea typeface="Times New Roman" panose="02020603050405020304" pitchFamily="18" charset="0"/>
              </a:rPr>
              <a:t>: </a:t>
            </a:r>
            <a:endParaRPr lang="en-US" sz="2400" dirty="0" smtClean="0">
              <a:solidFill>
                <a:srgbClr val="FF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en-US" sz="2400" dirty="0" smtClean="0">
                <a:solidFill>
                  <a:srgbClr val="000000"/>
                </a:solidFill>
                <a:latin typeface="Bookman Old Style" pitchFamily="18" charset="0"/>
                <a:ea typeface="Times New Roman" panose="02020603050405020304" pitchFamily="18" charset="0"/>
              </a:rPr>
              <a:t> </a:t>
            </a:r>
            <a:r>
              <a:rPr lang="x-none" sz="2400" dirty="0">
                <a:solidFill>
                  <a:srgbClr val="000000"/>
                </a:solidFill>
                <a:latin typeface="Bookman Old Style" pitchFamily="18" charset="0"/>
                <a:ea typeface="Times New Roman" panose="02020603050405020304" pitchFamily="18" charset="0"/>
              </a:rPr>
              <a:t>Entrepreneurship is a new initiative therefore, it has to decide multivariate issues that affect new ventures. </a:t>
            </a:r>
            <a:endParaRPr lang="en-US" sz="2400" dirty="0" smtClean="0">
              <a:solidFill>
                <a:srgbClr val="00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x-none" sz="2400" dirty="0" smtClean="0">
                <a:solidFill>
                  <a:srgbClr val="000000"/>
                </a:solidFill>
                <a:latin typeface="Bookman Old Style" pitchFamily="18" charset="0"/>
                <a:ea typeface="Times New Roman" panose="02020603050405020304" pitchFamily="18" charset="0"/>
              </a:rPr>
              <a:t>Entrepreneurship </a:t>
            </a:r>
            <a:r>
              <a:rPr lang="x-none" sz="2400" dirty="0">
                <a:solidFill>
                  <a:srgbClr val="000000"/>
                </a:solidFill>
                <a:latin typeface="Bookman Old Style" pitchFamily="18" charset="0"/>
                <a:ea typeface="Times New Roman" panose="02020603050405020304" pitchFamily="18" charset="0"/>
              </a:rPr>
              <a:t>has to decide upon equipment to be used quality, price and its variation, deficiency, capital structure, the feasibility of the project, </a:t>
            </a:r>
            <a:r>
              <a:rPr lang="x-none" sz="2400">
                <a:solidFill>
                  <a:srgbClr val="000000"/>
                </a:solidFill>
                <a:latin typeface="Bookman Old Style" pitchFamily="18" charset="0"/>
                <a:ea typeface="Times New Roman" panose="02020603050405020304" pitchFamily="18" charset="0"/>
              </a:rPr>
              <a:t>organizational </a:t>
            </a:r>
            <a:r>
              <a:rPr lang="x-none" sz="2400" smtClean="0">
                <a:solidFill>
                  <a:srgbClr val="000000"/>
                </a:solidFill>
                <a:latin typeface="Bookman Old Style" pitchFamily="18" charset="0"/>
                <a:ea typeface="Times New Roman" panose="02020603050405020304" pitchFamily="18" charset="0"/>
              </a:rPr>
              <a:t>structure,</a:t>
            </a:r>
            <a:r>
              <a:rPr lang="en-IN" sz="2400" dirty="0" smtClean="0">
                <a:solidFill>
                  <a:srgbClr val="000000"/>
                </a:solidFill>
                <a:latin typeface="Bookman Old Style" pitchFamily="18" charset="0"/>
                <a:ea typeface="Times New Roman" panose="02020603050405020304" pitchFamily="18" charset="0"/>
              </a:rPr>
              <a:t> </a:t>
            </a:r>
            <a:r>
              <a:rPr lang="x-none" sz="2400" smtClean="0">
                <a:solidFill>
                  <a:srgbClr val="000000"/>
                </a:solidFill>
                <a:latin typeface="Bookman Old Style" pitchFamily="18" charset="0"/>
                <a:ea typeface="Times New Roman" panose="02020603050405020304" pitchFamily="18" charset="0"/>
              </a:rPr>
              <a:t>philosophy </a:t>
            </a:r>
            <a:r>
              <a:rPr lang="x-none" sz="2400" dirty="0">
                <a:solidFill>
                  <a:srgbClr val="000000"/>
                </a:solidFill>
                <a:latin typeface="Bookman Old Style" pitchFamily="18" charset="0"/>
                <a:ea typeface="Times New Roman" panose="02020603050405020304" pitchFamily="18" charset="0"/>
              </a:rPr>
              <a:t>of management, etc. that will guide, run and prosper the new venture or distinct attempt for entrepreneurship.</a:t>
            </a:r>
            <a:endParaRPr lang="en-US" sz="2800" b="1" i="1" dirty="0">
              <a:latin typeface="Bookman Old Style" pitchFamily="18" charset="0"/>
              <a:ea typeface="Times New Roman" panose="02020603050405020304" pitchFamily="18" charset="0"/>
            </a:endParaRPr>
          </a:p>
          <a:p>
            <a:pPr marL="0" indent="0">
              <a:buNone/>
            </a:pPr>
            <a:endParaRPr lang="en-US" sz="2400" dirty="0">
              <a:latin typeface="Bookman Old Style" pitchFamily="18" charset="0"/>
            </a:endParaRPr>
          </a:p>
        </p:txBody>
      </p:sp>
    </p:spTree>
    <p:extLst>
      <p:ext uri="{BB962C8B-B14F-4D97-AF65-F5344CB8AC3E}">
        <p14:creationId xmlns:p14="http://schemas.microsoft.com/office/powerpoint/2010/main" xmlns="" val="3391812668"/>
      </p:ext>
    </p:extLst>
  </p:cSld>
  <p:clrMapOvr>
    <a:masterClrMapping/>
  </p:clrMapOvr>
  <p:transition spd="med">
    <p:strips dir="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marL="0" indent="0">
              <a:buNone/>
            </a:pPr>
            <a:r>
              <a:rPr lang="en-US" sz="2400" b="1" dirty="0">
                <a:solidFill>
                  <a:srgbClr val="FF0000"/>
                </a:solidFill>
                <a:latin typeface="Bookman Old Style" pitchFamily="18" charset="0"/>
              </a:rPr>
              <a:t>6. Technology Transfer and Adaptation</a:t>
            </a:r>
          </a:p>
          <a:p>
            <a:pPr algn="just">
              <a:buFont typeface="Wingdings" panose="05000000000000000000" pitchFamily="2" charset="2"/>
              <a:buChar char="Ø"/>
            </a:pPr>
            <a:r>
              <a:rPr lang="en-US" sz="2400" dirty="0">
                <a:solidFill>
                  <a:srgbClr val="151515"/>
                </a:solidFill>
                <a:latin typeface="Bookman Old Style" pitchFamily="18" charset="0"/>
              </a:rPr>
              <a:t>Entrepreneurship throughout the world brings invented technology from different comers of the world and makes it appropriate by making required adjustments for local conditions.</a:t>
            </a:r>
          </a:p>
          <a:p>
            <a:pPr algn="just">
              <a:buFont typeface="Wingdings" panose="05000000000000000000" pitchFamily="2" charset="2"/>
              <a:buChar char="Ø"/>
            </a:pPr>
            <a:r>
              <a:rPr lang="en-US" sz="2400" dirty="0">
                <a:solidFill>
                  <a:srgbClr val="151515"/>
                </a:solidFill>
                <a:latin typeface="Bookman Old Style" pitchFamily="18" charset="0"/>
              </a:rPr>
              <a:t>This function of entrepreneurship involves identifying appropriate technology with market potentials and adapts it into the local environment.</a:t>
            </a:r>
          </a:p>
          <a:p>
            <a:pPr algn="just">
              <a:buFont typeface="Wingdings" panose="05000000000000000000" pitchFamily="2" charset="2"/>
              <a:buChar char="Ø"/>
            </a:pPr>
            <a:r>
              <a:rPr lang="en-US" sz="2400" dirty="0">
                <a:solidFill>
                  <a:srgbClr val="151515"/>
                </a:solidFill>
                <a:latin typeface="Bookman Old Style" pitchFamily="18" charset="0"/>
              </a:rPr>
              <a:t>Sometimes, the technology uses indigenous materials that reduce cost and wastage of resources. This entrepreneurial function virtually makes the world united in terms of homogeneous technology.</a:t>
            </a:r>
          </a:p>
          <a:p>
            <a:endParaRPr lang="en-US" sz="2400" dirty="0">
              <a:latin typeface="Bookman Old Style" pitchFamily="18" charset="0"/>
            </a:endParaRPr>
          </a:p>
        </p:txBody>
      </p:sp>
    </p:spTree>
    <p:extLst>
      <p:ext uri="{BB962C8B-B14F-4D97-AF65-F5344CB8AC3E}">
        <p14:creationId xmlns:p14="http://schemas.microsoft.com/office/powerpoint/2010/main" xmlns="" val="2226081004"/>
      </p:ext>
    </p:extLst>
  </p:cSld>
  <p:clrMapOvr>
    <a:masterClrMapping/>
  </p:clrMapOvr>
  <p:transition spd="med">
    <p:strips dir="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257800"/>
          </a:xfrm>
        </p:spPr>
        <p:txBody>
          <a:bodyPr>
            <a:normAutofit fontScale="70000" lnSpcReduction="20000"/>
          </a:bodyPr>
          <a:lstStyle/>
          <a:p>
            <a:pPr marL="0" indent="0" algn="just">
              <a:lnSpc>
                <a:spcPct val="150000"/>
              </a:lnSpc>
              <a:spcBef>
                <a:spcPts val="1200"/>
              </a:spcBef>
              <a:spcAft>
                <a:spcPts val="0"/>
              </a:spcAft>
              <a:buNone/>
            </a:pPr>
            <a:r>
              <a:rPr lang="x-none" dirty="0">
                <a:solidFill>
                  <a:srgbClr val="FF0000"/>
                </a:solidFill>
                <a:latin typeface="Bookman Old Style" pitchFamily="18" charset="0"/>
                <a:ea typeface="Times New Roman" panose="02020603050405020304" pitchFamily="18" charset="0"/>
              </a:rPr>
              <a:t>7.</a:t>
            </a:r>
            <a:r>
              <a:rPr lang="x-none" b="1" dirty="0">
                <a:solidFill>
                  <a:srgbClr val="FF0000"/>
                </a:solidFill>
                <a:latin typeface="Bookman Old Style" pitchFamily="18" charset="0"/>
                <a:ea typeface="Times New Roman" panose="02020603050405020304" pitchFamily="18" charset="0"/>
              </a:rPr>
              <a:t> Innovation</a:t>
            </a:r>
            <a:r>
              <a:rPr lang="en-US" dirty="0">
                <a:solidFill>
                  <a:srgbClr val="FF0000"/>
                </a:solidFill>
                <a:latin typeface="Bookman Old Style" pitchFamily="18" charset="0"/>
                <a:ea typeface="Times New Roman" panose="02020603050405020304" pitchFamily="18" charset="0"/>
              </a:rPr>
              <a:t>: </a:t>
            </a:r>
          </a:p>
          <a:p>
            <a:pPr algn="just">
              <a:lnSpc>
                <a:spcPct val="150000"/>
              </a:lnSpc>
              <a:spcBef>
                <a:spcPts val="1200"/>
              </a:spcBef>
              <a:spcAft>
                <a:spcPts val="0"/>
              </a:spcAft>
              <a:buFont typeface="Wingdings" panose="05000000000000000000" pitchFamily="2" charset="2"/>
              <a:buChar char="Ø"/>
            </a:pPr>
            <a:r>
              <a:rPr lang="x-none" dirty="0" smtClean="0">
                <a:solidFill>
                  <a:srgbClr val="000000"/>
                </a:solidFill>
                <a:latin typeface="Bookman Old Style" pitchFamily="18" charset="0"/>
                <a:ea typeface="Times New Roman" panose="02020603050405020304" pitchFamily="18" charset="0"/>
              </a:rPr>
              <a:t>Entrepreneurship </a:t>
            </a:r>
            <a:r>
              <a:rPr lang="x-none" dirty="0">
                <a:solidFill>
                  <a:srgbClr val="000000"/>
                </a:solidFill>
                <a:latin typeface="Bookman Old Style" pitchFamily="18" charset="0"/>
                <a:ea typeface="Times New Roman" panose="02020603050405020304" pitchFamily="18" charset="0"/>
              </a:rPr>
              <a:t>innovates a new production process or technology, market, sources of new materials, management, strategy or technique, investment opportunity, etc. that Schumpeter (1934) calls as the fundamental characteristics of entrepreneurship. </a:t>
            </a:r>
            <a:endParaRPr lang="en-US" dirty="0" smtClean="0">
              <a:solidFill>
                <a:srgbClr val="00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x-none" dirty="0" smtClean="0">
                <a:solidFill>
                  <a:srgbClr val="000000"/>
                </a:solidFill>
                <a:latin typeface="Bookman Old Style" pitchFamily="18" charset="0"/>
                <a:ea typeface="Times New Roman" panose="02020603050405020304" pitchFamily="18" charset="0"/>
              </a:rPr>
              <a:t>Under </a:t>
            </a:r>
            <a:r>
              <a:rPr lang="x-none" dirty="0">
                <a:solidFill>
                  <a:srgbClr val="000000"/>
                </a:solidFill>
                <a:latin typeface="Bookman Old Style" pitchFamily="18" charset="0"/>
                <a:ea typeface="Times New Roman" panose="02020603050405020304" pitchFamily="18" charset="0"/>
              </a:rPr>
              <a:t>the context of the changing environment, the entrepreneur locates the most feasible opportunity for the venture as well as improved or distinct technology that gives competitive advantages or a new opportunity to prosperity.</a:t>
            </a:r>
            <a:endParaRPr lang="en-US" sz="3600" b="1" i="1" dirty="0">
              <a:latin typeface="Bookman Old Style" pitchFamily="18" charset="0"/>
              <a:ea typeface="Times New Roman" panose="02020603050405020304" pitchFamily="18" charset="0"/>
            </a:endParaRPr>
          </a:p>
          <a:p>
            <a:endParaRPr lang="en-US" dirty="0">
              <a:latin typeface="Bookman Old Style" pitchFamily="18" charset="0"/>
            </a:endParaRPr>
          </a:p>
        </p:txBody>
      </p:sp>
    </p:spTree>
    <p:extLst>
      <p:ext uri="{BB962C8B-B14F-4D97-AF65-F5344CB8AC3E}">
        <p14:creationId xmlns:p14="http://schemas.microsoft.com/office/powerpoint/2010/main" xmlns="" val="4013759122"/>
      </p:ext>
    </p:extLst>
  </p:cSld>
  <p:clrMapOvr>
    <a:masterClrMapping/>
  </p:clrMapOvr>
  <p:transition spd="med">
    <p:strips dir="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marL="0" indent="0" algn="just">
              <a:lnSpc>
                <a:spcPct val="150000"/>
              </a:lnSpc>
              <a:spcBef>
                <a:spcPts val="1200"/>
              </a:spcBef>
              <a:spcAft>
                <a:spcPts val="0"/>
              </a:spcAft>
              <a:buNone/>
            </a:pPr>
            <a:r>
              <a:rPr lang="x-none" sz="2400" dirty="0">
                <a:solidFill>
                  <a:srgbClr val="FF0000"/>
                </a:solidFill>
                <a:latin typeface="Bookman Old Style" pitchFamily="18" charset="0"/>
                <a:ea typeface="Times New Roman" panose="02020603050405020304" pitchFamily="18" charset="0"/>
              </a:rPr>
              <a:t>8.</a:t>
            </a:r>
            <a:r>
              <a:rPr lang="x-none" sz="2400" b="1" dirty="0">
                <a:solidFill>
                  <a:srgbClr val="FF0000"/>
                </a:solidFill>
                <a:latin typeface="Bookman Old Style" pitchFamily="18" charset="0"/>
                <a:ea typeface="Times New Roman" panose="02020603050405020304" pitchFamily="18" charset="0"/>
              </a:rPr>
              <a:t> Fostering Autonomy</a:t>
            </a:r>
            <a:r>
              <a:rPr lang="en-US" sz="2400" dirty="0">
                <a:solidFill>
                  <a:srgbClr val="FF0000"/>
                </a:solidFill>
                <a:latin typeface="Bookman Old Style" pitchFamily="18" charset="0"/>
                <a:ea typeface="Times New Roman" panose="02020603050405020304" pitchFamily="18" charset="0"/>
              </a:rPr>
              <a:t>: </a:t>
            </a:r>
          </a:p>
          <a:p>
            <a:pPr algn="just">
              <a:lnSpc>
                <a:spcPct val="150000"/>
              </a:lnSpc>
              <a:spcBef>
                <a:spcPts val="1200"/>
              </a:spcBef>
              <a:spcAft>
                <a:spcPts val="0"/>
              </a:spcAft>
              <a:buFont typeface="Wingdings" panose="05000000000000000000" pitchFamily="2" charset="2"/>
              <a:buChar char="Ø"/>
            </a:pPr>
            <a:r>
              <a:rPr lang="x-none" sz="2400" dirty="0" smtClean="0">
                <a:solidFill>
                  <a:srgbClr val="000000"/>
                </a:solidFill>
                <a:latin typeface="Bookman Old Style" pitchFamily="18" charset="0"/>
                <a:ea typeface="Times New Roman" panose="02020603050405020304" pitchFamily="18" charset="0"/>
              </a:rPr>
              <a:t>Entrepreneurship </a:t>
            </a:r>
            <a:r>
              <a:rPr lang="x-none" sz="2400" dirty="0">
                <a:solidFill>
                  <a:srgbClr val="000000"/>
                </a:solidFill>
                <a:latin typeface="Bookman Old Style" pitchFamily="18" charset="0"/>
                <a:ea typeface="Times New Roman" panose="02020603050405020304" pitchFamily="18" charset="0"/>
              </a:rPr>
              <a:t>is an exposure of creative faculty that provides personal satisfaction and independence. The unique freedom to think differently is the impetus for entrepreneurship</a:t>
            </a:r>
            <a:r>
              <a:rPr lang="x-none" sz="2400" dirty="0" smtClean="0">
                <a:solidFill>
                  <a:srgbClr val="000000"/>
                </a:solidFill>
                <a:latin typeface="Bookman Old Style" pitchFamily="18" charset="0"/>
                <a:ea typeface="Times New Roman" panose="02020603050405020304" pitchFamily="18" charset="0"/>
              </a:rPr>
              <a:t>.</a:t>
            </a:r>
            <a:endParaRPr lang="en-US" sz="2400" dirty="0" smtClean="0">
              <a:solidFill>
                <a:srgbClr val="00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x-none" sz="2400" dirty="0" smtClean="0">
                <a:solidFill>
                  <a:srgbClr val="000000"/>
                </a:solidFill>
                <a:latin typeface="Bookman Old Style" pitchFamily="18" charset="0"/>
                <a:ea typeface="Times New Roman" panose="02020603050405020304" pitchFamily="18" charset="0"/>
              </a:rPr>
              <a:t> </a:t>
            </a:r>
            <a:r>
              <a:rPr lang="x-none" sz="2400" dirty="0">
                <a:solidFill>
                  <a:srgbClr val="000000"/>
                </a:solidFill>
                <a:latin typeface="Bookman Old Style" pitchFamily="18" charset="0"/>
                <a:ea typeface="Times New Roman" panose="02020603050405020304" pitchFamily="18" charset="0"/>
              </a:rPr>
              <a:t>Thus, entrepreneurship Fosters autonomy to advent something new of value by the application of devoted efforts and time.</a:t>
            </a:r>
            <a:endParaRPr lang="en-US" sz="2800" b="1" i="1" dirty="0">
              <a:latin typeface="Bookman Old Style" pitchFamily="18" charset="0"/>
              <a:ea typeface="Times New Roman" panose="02020603050405020304" pitchFamily="18" charset="0"/>
            </a:endParaRPr>
          </a:p>
          <a:p>
            <a:endParaRPr lang="en-US" sz="2400" dirty="0">
              <a:latin typeface="Bookman Old Style" pitchFamily="18" charset="0"/>
            </a:endParaRPr>
          </a:p>
        </p:txBody>
      </p:sp>
    </p:spTree>
    <p:extLst>
      <p:ext uri="{BB962C8B-B14F-4D97-AF65-F5344CB8AC3E}">
        <p14:creationId xmlns:p14="http://schemas.microsoft.com/office/powerpoint/2010/main" xmlns="" val="3444006496"/>
      </p:ext>
    </p:extLst>
  </p:cSld>
  <p:clrMapOvr>
    <a:masterClrMapping/>
  </p:clrMapOvr>
  <p:transition spd="med">
    <p:strips dir="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080720"/>
          </a:xfrm>
        </p:spPr>
        <p:txBody>
          <a:bodyPr>
            <a:normAutofit/>
          </a:bodyPr>
          <a:lstStyle/>
          <a:p>
            <a:pPr marL="0" indent="0">
              <a:buNone/>
            </a:pPr>
            <a:r>
              <a:rPr lang="en-US" sz="2400" b="1" dirty="0">
                <a:solidFill>
                  <a:srgbClr val="FF0000"/>
                </a:solidFill>
                <a:latin typeface="Bookman Old Style" pitchFamily="18" charset="0"/>
              </a:rPr>
              <a:t>9. Social Responsibility</a:t>
            </a:r>
          </a:p>
          <a:p>
            <a:pPr algn="just">
              <a:buFont typeface="Wingdings" panose="05000000000000000000" pitchFamily="2" charset="2"/>
              <a:buChar char="Ø"/>
            </a:pPr>
            <a:r>
              <a:rPr lang="en-US" sz="2400" dirty="0">
                <a:solidFill>
                  <a:srgbClr val="151515"/>
                </a:solidFill>
                <a:latin typeface="Bookman Old Style" pitchFamily="18" charset="0"/>
              </a:rPr>
              <a:t>Entrepreneurship with its innovative technology somehow promotes human efforts. It restarts closed industries with innovative managerial strategies and techniques</a:t>
            </a:r>
          </a:p>
          <a:p>
            <a:pPr algn="just">
              <a:buFont typeface="Wingdings" panose="05000000000000000000" pitchFamily="2" charset="2"/>
              <a:buChar char="Ø"/>
            </a:pPr>
            <a:r>
              <a:rPr lang="en-US" sz="2400" dirty="0">
                <a:solidFill>
                  <a:srgbClr val="151515"/>
                </a:solidFill>
                <a:latin typeface="Bookman Old Style" pitchFamily="18" charset="0"/>
              </a:rPr>
              <a:t>It also motivates new entrepreneurs and attracts them to engage into an entrepreneurial venture.</a:t>
            </a:r>
          </a:p>
          <a:p>
            <a:pPr algn="just">
              <a:buFont typeface="Wingdings" panose="05000000000000000000" pitchFamily="2" charset="2"/>
              <a:buChar char="Ø"/>
            </a:pPr>
            <a:r>
              <a:rPr lang="en-US" sz="2400" dirty="0">
                <a:solidFill>
                  <a:srgbClr val="151515"/>
                </a:solidFill>
                <a:latin typeface="Bookman Old Style" pitchFamily="18" charset="0"/>
              </a:rPr>
              <a:t>Entrepreneurship provides new products or ideas that give momentum and diversity into society.</a:t>
            </a:r>
          </a:p>
          <a:p>
            <a:pPr algn="just">
              <a:buFont typeface="Wingdings" panose="05000000000000000000" pitchFamily="2" charset="2"/>
              <a:buChar char="Ø"/>
            </a:pPr>
            <a:r>
              <a:rPr lang="en-US" sz="2400" dirty="0">
                <a:solidFill>
                  <a:srgbClr val="151515"/>
                </a:solidFill>
                <a:latin typeface="Bookman Old Style" pitchFamily="18" charset="0"/>
              </a:rPr>
              <a:t>Therefore, entrepreneurship performs social responsibility that protects the welfare, benefit and economic gain of the society. It also promotes the community standard by providing jobs and amenities.</a:t>
            </a:r>
          </a:p>
          <a:p>
            <a:pPr marL="0" indent="0">
              <a:buNone/>
            </a:pPr>
            <a:endParaRPr lang="en-US" sz="2400" dirty="0">
              <a:latin typeface="Bookman Old Style" pitchFamily="18" charset="0"/>
            </a:endParaRPr>
          </a:p>
        </p:txBody>
      </p:sp>
    </p:spTree>
    <p:extLst>
      <p:ext uri="{BB962C8B-B14F-4D97-AF65-F5344CB8AC3E}">
        <p14:creationId xmlns:p14="http://schemas.microsoft.com/office/powerpoint/2010/main" xmlns="" val="1611225362"/>
      </p:ext>
    </p:extLst>
  </p:cSld>
  <p:clrMapOvr>
    <a:masterClrMapping/>
  </p:clrMapOvr>
  <p:transition spd="med">
    <p:strips dir="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703912"/>
          </a:xfrm>
        </p:spPr>
        <p:txBody>
          <a:bodyPr>
            <a:normAutofit fontScale="70000" lnSpcReduction="20000"/>
          </a:bodyPr>
          <a:lstStyle/>
          <a:p>
            <a:pPr marL="0" indent="0" algn="just">
              <a:lnSpc>
                <a:spcPct val="150000"/>
              </a:lnSpc>
              <a:spcBef>
                <a:spcPts val="1200"/>
              </a:spcBef>
              <a:spcAft>
                <a:spcPts val="0"/>
              </a:spcAft>
              <a:buNone/>
            </a:pPr>
            <a:r>
              <a:rPr lang="x-none" dirty="0">
                <a:solidFill>
                  <a:srgbClr val="FF0000"/>
                </a:solidFill>
                <a:latin typeface="Bookman Old Style" pitchFamily="18" charset="0"/>
                <a:ea typeface="Times New Roman" panose="02020603050405020304" pitchFamily="18" charset="0"/>
              </a:rPr>
              <a:t>10.</a:t>
            </a:r>
            <a:r>
              <a:rPr lang="x-none" b="1" dirty="0">
                <a:solidFill>
                  <a:srgbClr val="FF0000"/>
                </a:solidFill>
                <a:latin typeface="Bookman Old Style" pitchFamily="18" charset="0"/>
                <a:ea typeface="Times New Roman" panose="02020603050405020304" pitchFamily="18" charset="0"/>
              </a:rPr>
              <a:t> Public Relations</a:t>
            </a:r>
            <a:r>
              <a:rPr lang="en-US" dirty="0">
                <a:solidFill>
                  <a:srgbClr val="FF0000"/>
                </a:solidFill>
                <a:latin typeface="Bookman Old Style" pitchFamily="18" charset="0"/>
                <a:ea typeface="Times New Roman" panose="02020603050405020304" pitchFamily="18" charset="0"/>
              </a:rPr>
              <a:t>: </a:t>
            </a:r>
            <a:endParaRPr lang="en-US" dirty="0" smtClean="0">
              <a:solidFill>
                <a:srgbClr val="FF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en-US" dirty="0" smtClean="0">
                <a:solidFill>
                  <a:srgbClr val="000000"/>
                </a:solidFill>
                <a:latin typeface="Bookman Old Style" pitchFamily="18" charset="0"/>
                <a:ea typeface="Times New Roman" panose="02020603050405020304" pitchFamily="18" charset="0"/>
              </a:rPr>
              <a:t> </a:t>
            </a:r>
            <a:r>
              <a:rPr lang="x-none" dirty="0">
                <a:solidFill>
                  <a:srgbClr val="000000"/>
                </a:solidFill>
                <a:latin typeface="Bookman Old Style" pitchFamily="18" charset="0"/>
                <a:ea typeface="Times New Roman" panose="02020603050405020304" pitchFamily="18" charset="0"/>
              </a:rPr>
              <a:t>Entrepreneurship is a new venture that requires social acceptance by the regulatory bodies and the public at large. The government, as well as the persons’ who will be subject to entrepreneurship, would be convinced through public relations to accept and to allow the entrepreneur to execute an entrepreneurial venture. </a:t>
            </a:r>
            <a:endParaRPr lang="en-US" dirty="0" smtClean="0">
              <a:solidFill>
                <a:srgbClr val="000000"/>
              </a:solidFill>
              <a:latin typeface="Bookman Old Style" pitchFamily="18" charset="0"/>
              <a:ea typeface="Times New Roman" panose="02020603050405020304" pitchFamily="18" charset="0"/>
            </a:endParaRPr>
          </a:p>
          <a:p>
            <a:pPr algn="just">
              <a:lnSpc>
                <a:spcPct val="150000"/>
              </a:lnSpc>
              <a:spcBef>
                <a:spcPts val="1200"/>
              </a:spcBef>
              <a:spcAft>
                <a:spcPts val="0"/>
              </a:spcAft>
              <a:buFont typeface="Wingdings" panose="05000000000000000000" pitchFamily="2" charset="2"/>
              <a:buChar char="Ø"/>
            </a:pPr>
            <a:r>
              <a:rPr lang="x-none" dirty="0" smtClean="0">
                <a:solidFill>
                  <a:srgbClr val="000000"/>
                </a:solidFill>
                <a:latin typeface="Bookman Old Style" pitchFamily="18" charset="0"/>
                <a:ea typeface="Times New Roman" panose="02020603050405020304" pitchFamily="18" charset="0"/>
              </a:rPr>
              <a:t>History </a:t>
            </a:r>
            <a:r>
              <a:rPr lang="x-none" dirty="0">
                <a:solidFill>
                  <a:srgbClr val="000000"/>
                </a:solidFill>
                <a:latin typeface="Bookman Old Style" pitchFamily="18" charset="0"/>
                <a:ea typeface="Times New Roman" panose="02020603050405020304" pitchFamily="18" charset="0"/>
              </a:rPr>
              <a:t>tells that many entrepreneurs were disregarded, coerced and even eliminated for their entrepreneurial activities. Failure is costly and therefore, public relation is a significant function of entrepreneurship.</a:t>
            </a:r>
            <a:endParaRPr lang="en-US" sz="3600" b="1" i="1" dirty="0">
              <a:effectLst/>
              <a:latin typeface="Bookman Old Style" pitchFamily="18" charset="0"/>
              <a:ea typeface="Times New Roman" panose="02020603050405020304" pitchFamily="18" charset="0"/>
            </a:endParaRPr>
          </a:p>
        </p:txBody>
      </p:sp>
    </p:spTree>
    <p:extLst>
      <p:ext uri="{BB962C8B-B14F-4D97-AF65-F5344CB8AC3E}">
        <p14:creationId xmlns:p14="http://schemas.microsoft.com/office/powerpoint/2010/main" xmlns="" val="1381037288"/>
      </p:ext>
    </p:extLst>
  </p:cSld>
  <p:clrMapOvr>
    <a:masterClrMapping/>
  </p:clrMapOvr>
  <p:transition spd="med">
    <p:strips dir="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marL="0" indent="0">
              <a:buNone/>
            </a:pPr>
            <a:r>
              <a:rPr lang="en-US" sz="2800" b="1" dirty="0">
                <a:solidFill>
                  <a:srgbClr val="FF0000"/>
                </a:solidFill>
                <a:latin typeface="Bookman Old Style" pitchFamily="18" charset="0"/>
              </a:rPr>
              <a:t>11. Experience Sharing</a:t>
            </a:r>
          </a:p>
          <a:p>
            <a:pPr algn="just">
              <a:buFont typeface="Wingdings" panose="05000000000000000000" pitchFamily="2" charset="2"/>
              <a:buChar char="Ø"/>
            </a:pPr>
            <a:r>
              <a:rPr lang="en-US" sz="2800" dirty="0">
                <a:solidFill>
                  <a:srgbClr val="151515"/>
                </a:solidFill>
                <a:latin typeface="Bookman Old Style" pitchFamily="18" charset="0"/>
              </a:rPr>
              <a:t>Entrepreneurship may spread in society through publishing and sharing its success stories.</a:t>
            </a:r>
          </a:p>
          <a:p>
            <a:pPr algn="just">
              <a:buFont typeface="Wingdings" panose="05000000000000000000" pitchFamily="2" charset="2"/>
              <a:buChar char="Ø"/>
            </a:pPr>
            <a:r>
              <a:rPr lang="en-US" sz="2800" dirty="0">
                <a:solidFill>
                  <a:srgbClr val="151515"/>
                </a:solidFill>
                <a:latin typeface="Bookman Old Style" pitchFamily="18" charset="0"/>
              </a:rPr>
              <a:t>Thus, entrepreneurship holds workshops, industrial visits through which the entrepreneurial experience in different counties may be shared with a widespread adaptation of success.</a:t>
            </a:r>
          </a:p>
          <a:p>
            <a:pPr algn="just">
              <a:buFont typeface="Wingdings" panose="05000000000000000000" pitchFamily="2" charset="2"/>
              <a:buChar char="Ø"/>
            </a:pPr>
            <a:r>
              <a:rPr lang="en-US" sz="2800" dirty="0">
                <a:solidFill>
                  <a:srgbClr val="151515"/>
                </a:solidFill>
                <a:latin typeface="Bookman Old Style" pitchFamily="18" charset="0"/>
              </a:rPr>
              <a:t>This function will benefit the economies of the countries as well as the world bodies</a:t>
            </a:r>
          </a:p>
          <a:p>
            <a:pPr marL="0" indent="0">
              <a:buNone/>
            </a:pPr>
            <a:endParaRPr lang="en-US" sz="2800" dirty="0">
              <a:latin typeface="Bookman Old Style" pitchFamily="18" charset="0"/>
            </a:endParaRPr>
          </a:p>
        </p:txBody>
      </p:sp>
    </p:spTree>
    <p:extLst>
      <p:ext uri="{BB962C8B-B14F-4D97-AF65-F5344CB8AC3E}">
        <p14:creationId xmlns:p14="http://schemas.microsoft.com/office/powerpoint/2010/main" xmlns="" val="3324864417"/>
      </p:ext>
    </p:extLst>
  </p:cSld>
  <p:clrMapOvr>
    <a:masterClrMapping/>
  </p:clrMapOvr>
  <p:transition spd="med">
    <p:strips dir="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64560"/>
          </a:xfrm>
        </p:spPr>
        <p:txBody>
          <a:bodyPr>
            <a:normAutofit/>
          </a:bodyPr>
          <a:lstStyle/>
          <a:p>
            <a:pPr marL="0" indent="0">
              <a:buNone/>
            </a:pPr>
            <a:r>
              <a:rPr lang="en-US" sz="2800" b="1" dirty="0">
                <a:solidFill>
                  <a:srgbClr val="FF0000"/>
                </a:solidFill>
                <a:latin typeface="Bookman Old Style" pitchFamily="18" charset="0"/>
              </a:rPr>
              <a:t>12. Managerial Roles</a:t>
            </a:r>
          </a:p>
          <a:p>
            <a:pPr algn="just">
              <a:buFont typeface="Wingdings" panose="05000000000000000000" pitchFamily="2" charset="2"/>
              <a:buChar char="Ø"/>
            </a:pPr>
            <a:r>
              <a:rPr lang="en-US" sz="2800" dirty="0">
                <a:solidFill>
                  <a:srgbClr val="151515"/>
                </a:solidFill>
                <a:latin typeface="Bookman Old Style" pitchFamily="18" charset="0"/>
              </a:rPr>
              <a:t>Entrepreneurs perform several managerial roles to keep their venture functioning with success.</a:t>
            </a:r>
          </a:p>
          <a:p>
            <a:pPr algn="just">
              <a:buFont typeface="Wingdings" panose="05000000000000000000" pitchFamily="2" charset="2"/>
              <a:buChar char="Ø"/>
            </a:pPr>
            <a:r>
              <a:rPr lang="en-US" sz="2800" dirty="0">
                <a:solidFill>
                  <a:srgbClr val="151515"/>
                </a:solidFill>
                <a:latin typeface="Bookman Old Style" pitchFamily="18" charset="0"/>
              </a:rPr>
              <a:t>The roles are interpersonal roles that consist of a figurehead role, leadership role, and liaison role; informational roles that include recipient role, disseminator role, and the spokesperson role; decisional roles that consist of an entrepreneurial role, disturbance-handler role, resource allocator role, and the negotiator role.</a:t>
            </a:r>
            <a:endParaRPr lang="en-US" sz="2800" b="0" i="0" dirty="0">
              <a:solidFill>
                <a:srgbClr val="151515"/>
              </a:solidFill>
              <a:effectLst/>
              <a:latin typeface="Bookman Old Style" pitchFamily="18" charset="0"/>
            </a:endParaRPr>
          </a:p>
        </p:txBody>
      </p:sp>
    </p:spTree>
    <p:extLst>
      <p:ext uri="{BB962C8B-B14F-4D97-AF65-F5344CB8AC3E}">
        <p14:creationId xmlns:p14="http://schemas.microsoft.com/office/powerpoint/2010/main" xmlns="" val="1102646814"/>
      </p:ext>
    </p:extLst>
  </p:cSld>
  <p:clrMapOvr>
    <a:masterClrMapping/>
  </p:clrMapOvr>
  <p:transition spd="med">
    <p:strips dir="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en-US" sz="2800" b="1" dirty="0">
                <a:solidFill>
                  <a:srgbClr val="FF0000"/>
                </a:solidFill>
                <a:latin typeface="Bookman Old Style" pitchFamily="18" charset="0"/>
              </a:rPr>
              <a:t>13. Balanced Economic Development</a:t>
            </a:r>
          </a:p>
          <a:p>
            <a:pPr algn="just">
              <a:buFont typeface="Wingdings" panose="05000000000000000000" pitchFamily="2" charset="2"/>
              <a:buChar char="Ø"/>
            </a:pPr>
            <a:r>
              <a:rPr lang="en-US" sz="2800" dirty="0">
                <a:solidFill>
                  <a:srgbClr val="151515"/>
                </a:solidFill>
                <a:latin typeface="Bookman Old Style" pitchFamily="18" charset="0"/>
              </a:rPr>
              <a:t>Sustainable economic development requires a balanced development among various regions and sectors of a country. </a:t>
            </a:r>
            <a:endParaRPr lang="en-US" sz="2800" smtClean="0">
              <a:solidFill>
                <a:srgbClr val="151515"/>
              </a:solidFill>
              <a:latin typeface="Bookman Old Style" pitchFamily="18" charset="0"/>
            </a:endParaRPr>
          </a:p>
          <a:p>
            <a:pPr algn="just">
              <a:buFont typeface="Wingdings" panose="05000000000000000000" pitchFamily="2" charset="2"/>
              <a:buChar char="Ø"/>
            </a:pPr>
            <a:r>
              <a:rPr lang="en-US" sz="2800" smtClean="0">
                <a:solidFill>
                  <a:srgbClr val="151515"/>
                </a:solidFill>
                <a:latin typeface="Bookman Old Style" pitchFamily="18" charset="0"/>
              </a:rPr>
              <a:t>Every </a:t>
            </a:r>
            <a:r>
              <a:rPr lang="en-US" sz="2800" dirty="0">
                <a:solidFill>
                  <a:srgbClr val="151515"/>
                </a:solidFill>
                <a:latin typeface="Bookman Old Style" pitchFamily="18" charset="0"/>
              </a:rPr>
              <a:t>country tries to ensure such a situation that makes industrialization throughout the country “possible.</a:t>
            </a:r>
          </a:p>
          <a:p>
            <a:pPr algn="just">
              <a:buFont typeface="Wingdings" panose="05000000000000000000" pitchFamily="2" charset="2"/>
              <a:buChar char="Ø"/>
            </a:pPr>
            <a:r>
              <a:rPr lang="en-US" sz="2800" dirty="0">
                <a:solidFill>
                  <a:srgbClr val="151515"/>
                </a:solidFill>
                <a:latin typeface="Bookman Old Style" pitchFamily="18" charset="0"/>
              </a:rPr>
              <a:t>Entrepreneurs make it possible by establishing business ventures in various parts of the country in various sectors of the industry.</a:t>
            </a:r>
          </a:p>
          <a:p>
            <a:endParaRPr lang="en-US" sz="2800" dirty="0">
              <a:latin typeface="Bookman Old Style" pitchFamily="18" charset="0"/>
            </a:endParaRPr>
          </a:p>
        </p:txBody>
      </p:sp>
    </p:spTree>
    <p:extLst>
      <p:ext uri="{BB962C8B-B14F-4D97-AF65-F5344CB8AC3E}">
        <p14:creationId xmlns:p14="http://schemas.microsoft.com/office/powerpoint/2010/main" xmlns="" val="3811660288"/>
      </p:ext>
    </p:extLst>
  </p:cSld>
  <p:clrMapOvr>
    <a:masterClrMapping/>
  </p:clrMapOvr>
  <p:transition spd="med">
    <p:strips dir="rd"/>
  </p:transition>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95536" y="692696"/>
          <a:ext cx="8229600" cy="53900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p:cNvSpPr/>
          <p:nvPr/>
        </p:nvSpPr>
        <p:spPr>
          <a:xfrm>
            <a:off x="1403648" y="1124745"/>
            <a:ext cx="923330" cy="4608512"/>
          </a:xfrm>
          <a:prstGeom prst="rect">
            <a:avLst/>
          </a:prstGeom>
        </p:spPr>
        <p:txBody>
          <a:bodyPr vert="vert270" wrap="square">
            <a:spAutoFit/>
          </a:bodyPr>
          <a:lstStyle/>
          <a:p>
            <a:pPr lvl="0"/>
            <a:r>
              <a:rPr lang="en-IN" sz="2400" b="1" dirty="0" smtClean="0">
                <a:latin typeface="Maiandra GD" pitchFamily="34" charset="0"/>
              </a:rPr>
              <a:t>The various functions performed by entrepreneur are classified as</a:t>
            </a:r>
            <a:endParaRPr lang="en-IN" sz="2400" b="1" dirty="0">
              <a:latin typeface="Maiandra GD" pitchFamily="34" charset="0"/>
            </a:endParaRPr>
          </a:p>
        </p:txBody>
      </p:sp>
      <p:sp>
        <p:nvSpPr>
          <p:cNvPr id="11" name="TextBox 10"/>
          <p:cNvSpPr txBox="1"/>
          <p:nvPr/>
        </p:nvSpPr>
        <p:spPr>
          <a:xfrm>
            <a:off x="1259632" y="2132856"/>
            <a:ext cx="1368152" cy="369332"/>
          </a:xfrm>
          <a:prstGeom prst="rect">
            <a:avLst/>
          </a:prstGeom>
          <a:noFill/>
        </p:spPr>
        <p:txBody>
          <a:bodyPr wrap="square" rtlCol="0">
            <a:spAutoFit/>
          </a:bodyPr>
          <a:lstStyle/>
          <a:p>
            <a:endParaRPr lang="en-IN" dirty="0"/>
          </a:p>
        </p:txBody>
      </p:sp>
    </p:spTree>
  </p:cSld>
  <p:clrMapOvr>
    <a:masterClrMapping/>
  </p:clrMapOvr>
  <p:transition spd="med">
    <p:strips dir="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spTree>
  </p:cSld>
  <p:clrMapOvr>
    <a:masterClrMapping/>
  </p:clrMapOvr>
  <p:transition spd="med">
    <p:strips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1078</TotalTime>
  <Words>4561</Words>
  <Application>Microsoft Office PowerPoint</Application>
  <PresentationFormat>On-screen Show (4:3)</PresentationFormat>
  <Paragraphs>319</Paragraphs>
  <Slides>74</Slides>
  <Notes>1</Notes>
  <HiddenSlides>0</HiddenSlides>
  <MMClips>2</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UNIT-1</vt:lpstr>
      <vt:lpstr>Slide 2</vt:lpstr>
      <vt:lpstr>Slide 3</vt:lpstr>
      <vt:lpstr>ENTREPRENEUR</vt:lpstr>
      <vt:lpstr>Slide 5</vt:lpstr>
      <vt:lpstr>Video on Entrepreneurship</vt:lpstr>
      <vt:lpstr>Meaning of Entrepreneur</vt:lpstr>
      <vt:lpstr>Definition </vt:lpstr>
      <vt:lpstr>Contd...</vt:lpstr>
      <vt:lpstr>Some of Entrepreneurs </vt:lpstr>
      <vt:lpstr>Definitions by different authors</vt:lpstr>
      <vt:lpstr>Slide 12</vt:lpstr>
      <vt:lpstr>Slide 13</vt:lpstr>
      <vt:lpstr>Video on valuable lessons </vt:lpstr>
      <vt:lpstr>Characteristics of Entrepreneur</vt:lpstr>
      <vt:lpstr>CHARACTERISTICS OF ENTREPRENEUR : </vt:lpstr>
      <vt:lpstr>Slide 17</vt:lpstr>
      <vt:lpstr>Slide 18</vt:lpstr>
      <vt:lpstr>Slide 19</vt:lpstr>
      <vt:lpstr>Slide 20</vt:lpstr>
      <vt:lpstr>Slide 21</vt:lpstr>
      <vt:lpstr>Slide 22</vt:lpstr>
      <vt:lpstr>Slide 23</vt:lpstr>
      <vt:lpstr>Competencies of Entrepreneur</vt:lpstr>
      <vt:lpstr>Slide 25</vt:lpstr>
      <vt:lpstr>Following is a list of major competencies that contribute towards top performance:</vt:lpstr>
      <vt:lpstr>Slide 27</vt:lpstr>
      <vt:lpstr>Slide 28</vt:lpstr>
      <vt:lpstr>Slide 29</vt:lpstr>
      <vt:lpstr>Slide 30</vt:lpstr>
      <vt:lpstr>Slide 31</vt:lpstr>
      <vt:lpstr>Slide 32</vt:lpstr>
      <vt:lpstr>Slide 33</vt:lpstr>
      <vt:lpstr>Slide 34</vt:lpstr>
      <vt:lpstr>Slide 35</vt:lpstr>
      <vt:lpstr>Slide 36</vt:lpstr>
      <vt:lpstr>Entrepreneurial traits/Qualities</vt:lpstr>
      <vt:lpstr>Everybody has their own path to success. There are a few common traits and characteristics that all successful entrepreneurs have in common. </vt:lpstr>
      <vt:lpstr>Slide 39</vt:lpstr>
      <vt:lpstr>Slide 40</vt:lpstr>
      <vt:lpstr>Slide 41</vt:lpstr>
      <vt:lpstr>Slide 42</vt:lpstr>
      <vt:lpstr>Slide 43</vt:lpstr>
      <vt:lpstr>Slide 44</vt:lpstr>
      <vt:lpstr>Disadvantages of Entrepreneur</vt:lpstr>
      <vt:lpstr>Slide 46</vt:lpstr>
      <vt:lpstr>Slide 47</vt:lpstr>
      <vt:lpstr>Slide 48</vt:lpstr>
      <vt:lpstr>Slide 49</vt:lpstr>
      <vt:lpstr>Difference between Entrepreneur and Entrepreneurship</vt:lpstr>
      <vt:lpstr>Relation ship between Entrepreneur and Entrepreneurship</vt:lpstr>
      <vt:lpstr>Classification of Entrepreneurs </vt:lpstr>
      <vt:lpstr>Slide 53</vt:lpstr>
      <vt:lpstr>Based on Ownership</vt:lpstr>
      <vt:lpstr>Slide 55</vt:lpstr>
      <vt:lpstr>Slide 56</vt:lpstr>
      <vt:lpstr>Functions of Entrepreneurs </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dc:title>
  <dc:creator>Sneha</dc:creator>
  <cp:lastModifiedBy>Lenovo</cp:lastModifiedBy>
  <cp:revision>170</cp:revision>
  <dcterms:created xsi:type="dcterms:W3CDTF">2022-07-24T04:31:54Z</dcterms:created>
  <dcterms:modified xsi:type="dcterms:W3CDTF">2022-08-02T17:24:31Z</dcterms:modified>
</cp:coreProperties>
</file>