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575BAA5-DC40-48BF-BE0D-A95FBC0BA080}" type="datetimeFigureOut">
              <a:rPr lang="en-US" smtClean="0"/>
              <a:pPr/>
              <a:t>10/16/2025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3A21F-67A1-4C3B-A78C-BFB82D51BF5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75BAA5-DC40-48BF-BE0D-A95FBC0BA080}" type="datetimeFigureOut">
              <a:rPr lang="en-US" smtClean="0"/>
              <a:pPr/>
              <a:t>10/16/2025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3A21F-67A1-4C3B-A78C-BFB82D51BF5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www.makeinindia.com/hom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byjus.com/free-ias-prep/pmjdy/" TargetMode="External"/><Relationship Id="rId2" Type="http://schemas.openxmlformats.org/officeDocument/2006/relationships/hyperlink" Target="https://byjus.com/free-ias-prep/upsc-exam-preparation-gist-yojana-december-2018-digital-india/"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byjus.com/free-ias-prep/sagarmala-project/" TargetMode="External"/><Relationship Id="rId2" Type="http://schemas.openxmlformats.org/officeDocument/2006/relationships/hyperlink" Target="https://byjus.com/free-ias-prep/swachh-bharat-abhiyan-essay/"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5300" b="1" dirty="0" smtClean="0"/>
              <a:t/>
            </a:r>
            <a:br>
              <a:rPr lang="en-US" sz="5300" b="1" dirty="0" smtClean="0"/>
            </a:br>
            <a:r>
              <a:rPr lang="en-US" sz="5300" b="1" dirty="0" smtClean="0"/>
              <a:t>Make </a:t>
            </a:r>
            <a:r>
              <a:rPr lang="en-US" sz="5300" b="1" dirty="0"/>
              <a:t>In India - Initiatives, Aims, Advantages &amp; Challenges</a:t>
            </a:r>
            <a:r>
              <a:rPr lang="en-US" dirty="0"/>
              <a:t/>
            </a:r>
            <a:br>
              <a:rPr lang="en-US" dirty="0"/>
            </a:b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85000" lnSpcReduction="20000"/>
          </a:bodyPr>
          <a:lstStyle/>
          <a:p>
            <a:r>
              <a:rPr lang="en-US" dirty="0"/>
              <a:t>Make in India is a Government of </a:t>
            </a:r>
            <a:r>
              <a:rPr lang="en-US" dirty="0" smtClean="0"/>
              <a:t>India(GOI) </a:t>
            </a:r>
            <a:r>
              <a:rPr lang="en-US" dirty="0"/>
              <a:t>scheme launched by Prime Minister </a:t>
            </a:r>
            <a:r>
              <a:rPr lang="en-US" dirty="0" err="1"/>
              <a:t>Narendra</a:t>
            </a:r>
            <a:r>
              <a:rPr lang="en-US" dirty="0"/>
              <a:t> </a:t>
            </a:r>
            <a:r>
              <a:rPr lang="en-US" dirty="0" err="1"/>
              <a:t>Modi</a:t>
            </a:r>
            <a:r>
              <a:rPr lang="en-US" dirty="0"/>
              <a:t> in 2014 intended to boost the domestic manufacturing sector and also augment investment into the country. </a:t>
            </a:r>
            <a:endParaRPr lang="en-US" dirty="0" smtClean="0"/>
          </a:p>
          <a:p>
            <a:r>
              <a:rPr lang="en-US" dirty="0"/>
              <a:t>The government wants to revive the lagging manufacturing sector and spur the growth of the economy. </a:t>
            </a:r>
            <a:endParaRPr lang="en-US" dirty="0" smtClean="0"/>
          </a:p>
          <a:p>
            <a:r>
              <a:rPr lang="en-US" dirty="0" smtClean="0"/>
              <a:t>The </a:t>
            </a:r>
            <a:r>
              <a:rPr lang="en-US" dirty="0"/>
              <a:t>GOI also intends to encourage businesses from abroad into investing in the country and also manufacture here, by improving the country’s ‘Ease of Doing </a:t>
            </a:r>
            <a:r>
              <a:rPr lang="en-US" dirty="0" smtClean="0"/>
              <a:t>Business(</a:t>
            </a:r>
            <a:r>
              <a:rPr lang="en-US" dirty="0" err="1" smtClean="0"/>
              <a:t>EoDB</a:t>
            </a:r>
            <a:r>
              <a:rPr lang="en-US" dirty="0" smtClean="0"/>
              <a:t>)’ </a:t>
            </a:r>
            <a:r>
              <a:rPr lang="en-US" dirty="0"/>
              <a:t>index. </a:t>
            </a:r>
            <a:endParaRPr lang="en-US" dirty="0" smtClean="0"/>
          </a:p>
          <a:p>
            <a:r>
              <a:rPr lang="en-US" dirty="0" smtClean="0"/>
              <a:t>The </a:t>
            </a:r>
            <a:r>
              <a:rPr lang="en-US" dirty="0"/>
              <a:t>long-term vision is to gradually develop India into a global manufacturing hub, and also boost employment opportunities in the country.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211763"/>
          </a:xfrm>
        </p:spPr>
        <p:txBody>
          <a:bodyPr>
            <a:normAutofit lnSpcReduction="10000"/>
          </a:bodyPr>
          <a:lstStyle/>
          <a:p>
            <a:r>
              <a:rPr lang="en-US" dirty="0"/>
              <a:t>The highlights of this scheme are mentioned in the table below:</a:t>
            </a:r>
          </a:p>
          <a:p>
            <a:r>
              <a:rPr lang="en-US" b="1" dirty="0" smtClean="0"/>
              <a:t>Name of the scheme::</a:t>
            </a:r>
            <a:r>
              <a:rPr lang="en-US" dirty="0" smtClean="0"/>
              <a:t>Make in India</a:t>
            </a:r>
          </a:p>
          <a:p>
            <a:r>
              <a:rPr lang="en-US" b="1" dirty="0" smtClean="0"/>
              <a:t>Date of launching::</a:t>
            </a:r>
            <a:r>
              <a:rPr lang="en-US" dirty="0" smtClean="0"/>
              <a:t>25th September 2014</a:t>
            </a:r>
          </a:p>
          <a:p>
            <a:r>
              <a:rPr lang="en-US" b="1" dirty="0" smtClean="0"/>
              <a:t>Launched by::</a:t>
            </a:r>
            <a:r>
              <a:rPr lang="en-US" dirty="0" smtClean="0"/>
              <a:t>PM </a:t>
            </a:r>
            <a:r>
              <a:rPr lang="en-US" dirty="0" err="1" smtClean="0"/>
              <a:t>Narendra</a:t>
            </a:r>
            <a:r>
              <a:rPr lang="en-US" dirty="0" smtClean="0"/>
              <a:t> </a:t>
            </a:r>
            <a:r>
              <a:rPr lang="en-US" dirty="0" err="1" smtClean="0"/>
              <a:t>Modi</a:t>
            </a:r>
            <a:endParaRPr lang="en-US" dirty="0" smtClean="0"/>
          </a:p>
          <a:p>
            <a:r>
              <a:rPr lang="en-US" b="1" dirty="0" smtClean="0"/>
              <a:t>Government Ministry::</a:t>
            </a:r>
            <a:r>
              <a:rPr lang="en-US" dirty="0" smtClean="0"/>
              <a:t>Ministry of Commerce and Industry</a:t>
            </a:r>
          </a:p>
          <a:p>
            <a:r>
              <a:rPr lang="en-US" b="1" dirty="0" smtClean="0"/>
              <a:t>Make in India website::</a:t>
            </a:r>
            <a:r>
              <a:rPr lang="en-US" dirty="0" smtClean="0">
                <a:hlinkClick r:id="rId2"/>
              </a:rPr>
              <a:t>http</a:t>
            </a:r>
            <a:r>
              <a:rPr lang="en-US" dirty="0">
                <a:hlinkClick r:id="rId2"/>
              </a:rPr>
              <a:t>://www.makeinindia.com/home/</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533400"/>
            <a:ext cx="8229600" cy="792162"/>
          </a:xfrm>
        </p:spPr>
        <p:txBody>
          <a:bodyPr>
            <a:normAutofit fontScale="90000"/>
          </a:bodyPr>
          <a:lstStyle/>
          <a:p>
            <a:r>
              <a:rPr lang="en-US" b="1" dirty="0"/>
              <a:t>Make in India Logo</a:t>
            </a:r>
            <a:br>
              <a:rPr lang="en-US" b="1" dirty="0"/>
            </a:br>
            <a:endParaRPr lang="en-US" dirty="0"/>
          </a:p>
        </p:txBody>
      </p:sp>
      <p:pic>
        <p:nvPicPr>
          <p:cNvPr id="1026" name="Picture 2"/>
          <p:cNvPicPr>
            <a:picLocks noGrp="1" noChangeAspect="1" noChangeArrowheads="1"/>
          </p:cNvPicPr>
          <p:nvPr>
            <p:ph idx="1"/>
          </p:nvPr>
        </p:nvPicPr>
        <p:blipFill>
          <a:blip r:embed="rId2" cstate="print"/>
          <a:srcRect/>
          <a:stretch>
            <a:fillRect/>
          </a:stretch>
        </p:blipFill>
        <p:spPr bwMode="auto">
          <a:xfrm>
            <a:off x="990600" y="1447800"/>
            <a:ext cx="7162800" cy="2238375"/>
          </a:xfrm>
          <a:prstGeom prst="rect">
            <a:avLst/>
          </a:prstGeom>
          <a:noFill/>
          <a:ln w="9525">
            <a:noFill/>
            <a:miter lim="800000"/>
            <a:headEnd/>
            <a:tailEnd/>
          </a:ln>
        </p:spPr>
      </p:pic>
      <p:sp>
        <p:nvSpPr>
          <p:cNvPr id="5" name="Rectangle 4"/>
          <p:cNvSpPr/>
          <p:nvPr/>
        </p:nvSpPr>
        <p:spPr>
          <a:xfrm>
            <a:off x="762000" y="4038601"/>
            <a:ext cx="7620000" cy="1754326"/>
          </a:xfrm>
          <a:prstGeom prst="rect">
            <a:avLst/>
          </a:prstGeom>
        </p:spPr>
        <p:txBody>
          <a:bodyPr wrap="square">
            <a:spAutoFit/>
          </a:bodyPr>
          <a:lstStyle/>
          <a:p>
            <a:r>
              <a:rPr lang="en-US" sz="2400" dirty="0"/>
              <a:t>The Make in India logo is a lion. It is a lion’s silhouette filled with cogs. This symbolizes manufacturing, national pride, and strength.</a:t>
            </a:r>
          </a:p>
          <a:p>
            <a:r>
              <a:rPr lang="en-US" dirty="0" smtClean="0"/>
              <a:t/>
            </a:r>
            <a:br>
              <a:rPr lang="en-US" dirty="0" smtClean="0"/>
            </a:b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a:t>Make In India – Focus on 25 Sectors</a:t>
            </a:r>
            <a:br>
              <a:rPr lang="en-US" b="1" dirty="0"/>
            </a:br>
            <a:endParaRPr lang="en-US" dirty="0"/>
          </a:p>
        </p:txBody>
      </p:sp>
      <p:sp>
        <p:nvSpPr>
          <p:cNvPr id="3" name="Content Placeholder 2"/>
          <p:cNvSpPr>
            <a:spLocks noGrp="1"/>
          </p:cNvSpPr>
          <p:nvPr>
            <p:ph idx="1"/>
          </p:nvPr>
        </p:nvSpPr>
        <p:spPr>
          <a:xfrm>
            <a:off x="457200" y="990601"/>
            <a:ext cx="8229600" cy="4800600"/>
          </a:xfrm>
        </p:spPr>
        <p:txBody>
          <a:bodyPr>
            <a:normAutofit fontScale="25000" lnSpcReduction="20000"/>
          </a:bodyPr>
          <a:lstStyle/>
          <a:p>
            <a:r>
              <a:rPr lang="en-US" sz="8000" dirty="0"/>
              <a:t>The Make in India website also has listed the 25 focus sectors and also furnished all relevant details about these sectors, and related government schemes, including the FDI policies, IPR, etc. The main sectors (27 sectors) </a:t>
            </a:r>
            <a:r>
              <a:rPr lang="en-US" sz="8000" dirty="0" smtClean="0"/>
              <a:t>covered </a:t>
            </a:r>
            <a:r>
              <a:rPr lang="en-US" sz="8000" dirty="0"/>
              <a:t>under this campaign are given below</a:t>
            </a:r>
            <a:r>
              <a:rPr lang="en-US" sz="8000" dirty="0" smtClean="0"/>
              <a:t>:</a:t>
            </a:r>
          </a:p>
          <a:p>
            <a:endParaRPr lang="en-US" dirty="0" smtClean="0"/>
          </a:p>
          <a:p>
            <a:r>
              <a:rPr lang="en-US" sz="6200" b="1" dirty="0"/>
              <a:t>Manufacturing Sectors:</a:t>
            </a:r>
            <a:endParaRPr lang="en-US" sz="6200" dirty="0"/>
          </a:p>
          <a:p>
            <a:r>
              <a:rPr lang="en-US" sz="6200" dirty="0"/>
              <a:t>Aerospace and </a:t>
            </a:r>
            <a:r>
              <a:rPr lang="en-US" sz="6200" dirty="0" err="1"/>
              <a:t>Defence</a:t>
            </a:r>
            <a:endParaRPr lang="en-US" sz="6200" dirty="0"/>
          </a:p>
          <a:p>
            <a:r>
              <a:rPr lang="en-US" sz="6200" dirty="0"/>
              <a:t>Automotive and Auto Components</a:t>
            </a:r>
          </a:p>
          <a:p>
            <a:r>
              <a:rPr lang="en-US" sz="6200" dirty="0"/>
              <a:t>Pharmaceuticals and Medical Devices</a:t>
            </a:r>
          </a:p>
          <a:p>
            <a:r>
              <a:rPr lang="en-US" sz="6200" dirty="0"/>
              <a:t>Bio-Technology</a:t>
            </a:r>
          </a:p>
          <a:p>
            <a:r>
              <a:rPr lang="en-US" sz="6200" dirty="0"/>
              <a:t>Capital Goods</a:t>
            </a:r>
          </a:p>
          <a:p>
            <a:r>
              <a:rPr lang="en-US" sz="6200" dirty="0"/>
              <a:t>Textile and Apparels</a:t>
            </a:r>
          </a:p>
          <a:p>
            <a:r>
              <a:rPr lang="en-US" sz="6200" dirty="0"/>
              <a:t>Chemicals and Petro chemicals</a:t>
            </a:r>
          </a:p>
          <a:p>
            <a:r>
              <a:rPr lang="en-US" sz="6200" dirty="0"/>
              <a:t>Electronics System Design and Manufacturing (ESDM)</a:t>
            </a:r>
          </a:p>
          <a:p>
            <a:r>
              <a:rPr lang="en-US" sz="6200" dirty="0"/>
              <a:t>Leather &amp; Footwear</a:t>
            </a:r>
          </a:p>
          <a:p>
            <a:r>
              <a:rPr lang="en-US" sz="6200" dirty="0"/>
              <a:t>Food Processing</a:t>
            </a:r>
          </a:p>
          <a:p>
            <a:r>
              <a:rPr lang="en-US" sz="6200" dirty="0"/>
              <a:t>Gems and </a:t>
            </a:r>
            <a:r>
              <a:rPr lang="en-US" sz="6200" dirty="0" err="1"/>
              <a:t>Jewellery</a:t>
            </a:r>
            <a:endParaRPr lang="en-US" sz="6200" dirty="0"/>
          </a:p>
          <a:p>
            <a:r>
              <a:rPr lang="en-US" sz="6200" dirty="0"/>
              <a:t>Shipping</a:t>
            </a:r>
          </a:p>
          <a:p>
            <a:r>
              <a:rPr lang="en-US" sz="6200" dirty="0"/>
              <a:t>Railways</a:t>
            </a:r>
          </a:p>
          <a:p>
            <a:r>
              <a:rPr lang="en-US" sz="6200" dirty="0"/>
              <a:t>Construction</a:t>
            </a:r>
          </a:p>
          <a:p>
            <a:r>
              <a:rPr lang="en-US" sz="6200" dirty="0"/>
              <a:t>New and Renewable </a:t>
            </a:r>
            <a:r>
              <a:rPr lang="en-US" sz="6200" dirty="0" smtClean="0"/>
              <a:t>Energy</a:t>
            </a:r>
            <a:endParaRPr lang="en-US" sz="6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77500" lnSpcReduction="20000"/>
          </a:bodyPr>
          <a:lstStyle/>
          <a:p>
            <a:r>
              <a:rPr lang="en-US" b="1" dirty="0"/>
              <a:t>Services Sectors:</a:t>
            </a:r>
            <a:endParaRPr lang="en-US" dirty="0"/>
          </a:p>
          <a:p>
            <a:r>
              <a:rPr lang="en-US" dirty="0"/>
              <a:t>Information Technology &amp; Information Technology enabled Services (IT &amp;</a:t>
            </a:r>
            <a:r>
              <a:rPr lang="en-US" dirty="0" err="1"/>
              <a:t>ITeS</a:t>
            </a:r>
            <a:r>
              <a:rPr lang="en-US" dirty="0"/>
              <a:t>)</a:t>
            </a:r>
          </a:p>
          <a:p>
            <a:r>
              <a:rPr lang="en-US" dirty="0"/>
              <a:t>Tourism and Hospitality Services</a:t>
            </a:r>
          </a:p>
          <a:p>
            <a:r>
              <a:rPr lang="en-US" dirty="0"/>
              <a:t>Medical Value Travel</a:t>
            </a:r>
          </a:p>
          <a:p>
            <a:r>
              <a:rPr lang="en-US" dirty="0"/>
              <a:t>Transport and Logistics Services</a:t>
            </a:r>
          </a:p>
          <a:p>
            <a:r>
              <a:rPr lang="en-US" dirty="0"/>
              <a:t>Accounting and Finance Services</a:t>
            </a:r>
          </a:p>
          <a:p>
            <a:r>
              <a:rPr lang="en-US" dirty="0"/>
              <a:t>Audio Visual Services</a:t>
            </a:r>
          </a:p>
          <a:p>
            <a:r>
              <a:rPr lang="en-US" dirty="0"/>
              <a:t>Legal Services</a:t>
            </a:r>
          </a:p>
          <a:p>
            <a:r>
              <a:rPr lang="en-US" dirty="0"/>
              <a:t>Communication Services</a:t>
            </a:r>
          </a:p>
          <a:p>
            <a:r>
              <a:rPr lang="en-US" dirty="0"/>
              <a:t>Construction and Related Engineering Services</a:t>
            </a:r>
          </a:p>
          <a:p>
            <a:r>
              <a:rPr lang="en-US" dirty="0"/>
              <a:t>Environmental Services</a:t>
            </a:r>
          </a:p>
          <a:p>
            <a:r>
              <a:rPr lang="en-US" dirty="0"/>
              <a:t>Financial Services</a:t>
            </a:r>
          </a:p>
          <a:p>
            <a:r>
              <a:rPr lang="en-US" dirty="0"/>
              <a:t>Education Services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b="1" dirty="0" smtClean="0"/>
              <a:t>Why Make in India?</a:t>
            </a:r>
            <a:endParaRPr lang="en-US" dirty="0"/>
          </a:p>
        </p:txBody>
      </p:sp>
      <p:sp>
        <p:nvSpPr>
          <p:cNvPr id="3" name="Content Placeholder 2"/>
          <p:cNvSpPr>
            <a:spLocks noGrp="1"/>
          </p:cNvSpPr>
          <p:nvPr>
            <p:ph idx="1"/>
          </p:nvPr>
        </p:nvSpPr>
        <p:spPr>
          <a:xfrm>
            <a:off x="457200" y="1219201"/>
            <a:ext cx="8229600" cy="4724400"/>
          </a:xfrm>
        </p:spPr>
        <p:txBody>
          <a:bodyPr>
            <a:normAutofit fontScale="32500" lnSpcReduction="20000"/>
          </a:bodyPr>
          <a:lstStyle/>
          <a:p>
            <a:r>
              <a:rPr lang="en-US" sz="4900" dirty="0" smtClean="0"/>
              <a:t>There </a:t>
            </a:r>
            <a:r>
              <a:rPr lang="en-US" sz="4900" dirty="0"/>
              <a:t>are multiple reasons why the government has chosen to focus on manufacturing. The key ones are discussed below:</a:t>
            </a:r>
          </a:p>
          <a:p>
            <a:r>
              <a:rPr lang="en-US" sz="4900" dirty="0"/>
              <a:t>For the past two decades, India’s growth story seems to have been led by the services sector. This approach paid off in the short-run, and India’s IT and BPO sector saw a huge leap, and India was often dubbed the ‘back office of the world’. However, even though the share of the services sector in the Indian economy rose to 57% in 2013, it contributed to only 28% in the share of employment. So, the manufacturing sector needed to be augmented to boost employment. This is because the services sector currently has low absorption potential considering the demographic dividend in the country.</a:t>
            </a:r>
          </a:p>
          <a:p>
            <a:r>
              <a:rPr lang="en-US" sz="4900" dirty="0"/>
              <a:t>Another reason to launch the campaign is the poor condition of manufacturing in India. The share of manufacturing in the overall Indian economy is only about 15%. This is way lower than our </a:t>
            </a:r>
            <a:r>
              <a:rPr lang="en-US" sz="4900" dirty="0" err="1"/>
              <a:t>neighbours</a:t>
            </a:r>
            <a:r>
              <a:rPr lang="en-US" sz="4900" dirty="0"/>
              <a:t> in East Asia. There is an overall trade deficit when it comes to goods. The trade surplus in services hardly covers one-fifth of India’s trade deficit in goods. The services sector alone cannot hope to answer this trade deficit. Manufacturing will have to chip in. The government is hoping to encourage businesses, both Indian and foreign to invest in manufacturing in India, which will help this sector and also generate employment in both skilled and unskilled levels.</a:t>
            </a:r>
          </a:p>
          <a:p>
            <a:r>
              <a:rPr lang="en-US" sz="4900" dirty="0"/>
              <a:t>To focus on manufacturing is that no other sector seems to have such a huge multiplier effect on economic growth in a country, according to various studies. The manufacturing sector has larger backward linkages and hence, growth in demand in manufacturing spurs growth in other sectors as well. This generates more jobs, investments, and innovation, and generally leads to a higher standard of living in an economy.</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Make in India – Initiatives</a:t>
            </a:r>
            <a:br>
              <a:rPr lang="en-US" b="1" dirty="0"/>
            </a:br>
            <a:endParaRPr lang="en-US" dirty="0"/>
          </a:p>
        </p:txBody>
      </p:sp>
      <p:sp>
        <p:nvSpPr>
          <p:cNvPr id="3" name="Content Placeholder 2"/>
          <p:cNvSpPr>
            <a:spLocks noGrp="1"/>
          </p:cNvSpPr>
          <p:nvPr>
            <p:ph idx="1"/>
          </p:nvPr>
        </p:nvSpPr>
        <p:spPr>
          <a:xfrm>
            <a:off x="457200" y="762000"/>
            <a:ext cx="8229600" cy="5364163"/>
          </a:xfrm>
        </p:spPr>
        <p:txBody>
          <a:bodyPr>
            <a:normAutofit fontScale="47500" lnSpcReduction="20000"/>
          </a:bodyPr>
          <a:lstStyle/>
          <a:p>
            <a:pPr marL="514350" indent="-514350">
              <a:buFont typeface="+mj-lt"/>
              <a:buAutoNum type="arabicPeriod"/>
            </a:pPr>
            <a:r>
              <a:rPr lang="en-US" dirty="0"/>
              <a:t>For the first time, the sectors of railways, insurance, defense, and medical devices have been opened up for more Foreign Direct Investment (FDI).</a:t>
            </a:r>
          </a:p>
          <a:p>
            <a:pPr marL="514350" indent="-514350">
              <a:buFont typeface="+mj-lt"/>
              <a:buAutoNum type="arabicPeriod"/>
            </a:pPr>
            <a:r>
              <a:rPr lang="en-US" dirty="0"/>
              <a:t>The maximum limit in FDI in the defense sector under the automatic route has been raised from 49% to 74%. This increase in FDI was announced by Finance Minister </a:t>
            </a:r>
            <a:r>
              <a:rPr lang="en-US" dirty="0" err="1"/>
              <a:t>Nirmala</a:t>
            </a:r>
            <a:r>
              <a:rPr lang="en-US" dirty="0"/>
              <a:t> </a:t>
            </a:r>
            <a:r>
              <a:rPr lang="en-US" dirty="0" err="1"/>
              <a:t>Sitaraman</a:t>
            </a:r>
            <a:r>
              <a:rPr lang="en-US" dirty="0"/>
              <a:t> on May 16, 2020.</a:t>
            </a:r>
          </a:p>
          <a:p>
            <a:pPr marL="514350" indent="-514350">
              <a:buFont typeface="+mj-lt"/>
              <a:buAutoNum type="arabicPeriod"/>
            </a:pPr>
            <a:r>
              <a:rPr lang="en-US" dirty="0"/>
              <a:t>In construction and specified rail infrastructure projects, 100% FDI under the automatic route has been permitted.</a:t>
            </a:r>
          </a:p>
          <a:p>
            <a:pPr marL="514350" indent="-514350">
              <a:buFont typeface="+mj-lt"/>
              <a:buAutoNum type="arabicPeriod"/>
            </a:pPr>
            <a:r>
              <a:rPr lang="en-US" dirty="0"/>
              <a:t>There is an Investor Facilitation Cell that assists investors from the time of their arrival in India to their departure from the country. This was created in 2014 to give services to investors in all phases such as the pre-investment phase, execution, and also after delivery services.</a:t>
            </a:r>
          </a:p>
          <a:p>
            <a:pPr marL="514350" indent="-514350">
              <a:buFont typeface="+mj-lt"/>
              <a:buAutoNum type="arabicPeriod"/>
            </a:pPr>
            <a:r>
              <a:rPr lang="en-US" dirty="0"/>
              <a:t>The government has taken steps to improve India’s ‘Ease of Doing Business’ rank. India climbed 23 points in the Ease of Doing Business index to 77th place in 2019, becoming the highest-ranked in South Asia in this index.</a:t>
            </a:r>
          </a:p>
          <a:p>
            <a:pPr marL="514350" indent="-514350">
              <a:buFont typeface="+mj-lt"/>
              <a:buAutoNum type="arabicPeriod"/>
            </a:pPr>
            <a:r>
              <a:rPr lang="en-US" dirty="0"/>
              <a:t>The </a:t>
            </a:r>
            <a:r>
              <a:rPr lang="en-US" dirty="0" err="1"/>
              <a:t>Shram</a:t>
            </a:r>
            <a:r>
              <a:rPr lang="en-US" dirty="0"/>
              <a:t> </a:t>
            </a:r>
            <a:r>
              <a:rPr lang="en-US" dirty="0" err="1"/>
              <a:t>Suvidha</a:t>
            </a:r>
            <a:r>
              <a:rPr lang="en-US" dirty="0"/>
              <a:t> Portal, </a:t>
            </a:r>
            <a:r>
              <a:rPr lang="en-US" dirty="0" err="1"/>
              <a:t>eBiz</a:t>
            </a:r>
            <a:r>
              <a:rPr lang="en-US" dirty="0"/>
              <a:t> portal, etc. have been launched. The </a:t>
            </a:r>
            <a:r>
              <a:rPr lang="en-US" dirty="0" err="1"/>
              <a:t>eBiz</a:t>
            </a:r>
            <a:r>
              <a:rPr lang="en-US" dirty="0"/>
              <a:t> portal offers single-window access to eleven government services connected with starting a business in India.</a:t>
            </a:r>
          </a:p>
          <a:p>
            <a:pPr marL="514350" indent="-514350">
              <a:buFont typeface="+mj-lt"/>
              <a:buAutoNum type="arabicPeriod"/>
            </a:pPr>
            <a:r>
              <a:rPr lang="en-US" dirty="0"/>
              <a:t>Other permits and licenses required to start a business have also been relaxed. Reforms are being undertaken in areas like property registration, payment of taxes, getting power connection, enforcing contracts, and resolving insolvency.</a:t>
            </a:r>
          </a:p>
          <a:p>
            <a:pPr marL="514350" indent="-514350">
              <a:buFont typeface="+mj-lt"/>
              <a:buAutoNum type="arabicPeriod"/>
            </a:pPr>
            <a:r>
              <a:rPr lang="en-US" dirty="0"/>
              <a:t>Other reforms include licensing process, time-bound clearances for applications of foreign investors, automation of processes for registration with the Employees State Insurance Corporation and the Employees Provident Fund Organization, adoption of best practices by states in granting clearances, decreasing the number of documents for exports, and ensuring compliance through peer evaluation, self-certification, etc.</a:t>
            </a:r>
          </a:p>
          <a:p>
            <a:pPr marL="514350" indent="-514350">
              <a:buFont typeface="+mj-lt"/>
              <a:buAutoNum type="arabicPeriod"/>
            </a:pPr>
            <a:r>
              <a:rPr lang="en-US" dirty="0"/>
              <a:t>The government hopes to improve physical infrastructure chiefly through the PPP mode of investment. Ports and airports have seen increased investment. Dedicated freight corridors are also being developed.</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364163"/>
          </a:xfrm>
        </p:spPr>
        <p:txBody>
          <a:bodyPr>
            <a:normAutofit fontScale="92500" lnSpcReduction="20000"/>
          </a:bodyPr>
          <a:lstStyle/>
          <a:p>
            <a:r>
              <a:rPr lang="en-US" dirty="0"/>
              <a:t>The government has launched plans to create 5 industrial corridors. They are underway. These corridors are spread across the length and breadth of India, with a strategic focus on inclusive development which will augment industrialization and urbanization in a planned manner. The corridors are</a:t>
            </a:r>
            <a:r>
              <a:rPr lang="en-US" dirty="0" smtClean="0"/>
              <a:t>:</a:t>
            </a:r>
          </a:p>
          <a:p>
            <a:r>
              <a:rPr lang="en-US" dirty="0"/>
              <a:t>Delhi-Mumbai Industrial Corridor (DMIC)</a:t>
            </a:r>
          </a:p>
          <a:p>
            <a:r>
              <a:rPr lang="en-US" dirty="0"/>
              <a:t>Amritsar-Kolkata Industrial Corridor (AKIC)</a:t>
            </a:r>
          </a:p>
          <a:p>
            <a:r>
              <a:rPr lang="en-US" dirty="0" err="1"/>
              <a:t>Bengaluru</a:t>
            </a:r>
            <a:r>
              <a:rPr lang="en-US" dirty="0"/>
              <a:t>-Mumbai Economic Corridor (BMEC)</a:t>
            </a:r>
          </a:p>
          <a:p>
            <a:r>
              <a:rPr lang="en-US" dirty="0"/>
              <a:t>Chennai-</a:t>
            </a:r>
            <a:r>
              <a:rPr lang="en-US" dirty="0" err="1"/>
              <a:t>Bengaluru</a:t>
            </a:r>
            <a:r>
              <a:rPr lang="en-US" dirty="0"/>
              <a:t> Industrial Corridor (CBIC)</a:t>
            </a:r>
          </a:p>
          <a:p>
            <a:r>
              <a:rPr lang="en-US" dirty="0" err="1"/>
              <a:t>Vizag</a:t>
            </a:r>
            <a:r>
              <a:rPr lang="en-US" dirty="0"/>
              <a:t>-Chennai Industrial Corridor (VCIC)</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a:t>Make in India – Schemes</a:t>
            </a:r>
            <a:br>
              <a:rPr lang="en-US" b="1" dirty="0"/>
            </a:br>
            <a:endParaRPr lang="en-US" dirty="0"/>
          </a:p>
        </p:txBody>
      </p:sp>
      <p:sp>
        <p:nvSpPr>
          <p:cNvPr id="3" name="Content Placeholder 2"/>
          <p:cNvSpPr>
            <a:spLocks noGrp="1"/>
          </p:cNvSpPr>
          <p:nvPr>
            <p:ph idx="1"/>
          </p:nvPr>
        </p:nvSpPr>
        <p:spPr>
          <a:xfrm>
            <a:off x="457200" y="838200"/>
            <a:ext cx="8229600" cy="5287963"/>
          </a:xfrm>
        </p:spPr>
        <p:txBody>
          <a:bodyPr>
            <a:normAutofit fontScale="55000" lnSpcReduction="20000"/>
          </a:bodyPr>
          <a:lstStyle/>
          <a:p>
            <a:r>
              <a:rPr lang="en-US" b="1" dirty="0"/>
              <a:t>Skill India</a:t>
            </a:r>
            <a:endParaRPr lang="en-US" dirty="0"/>
          </a:p>
          <a:p>
            <a:r>
              <a:rPr lang="en-US" dirty="0"/>
              <a:t>This mission aims to skill 10 million in India annually in various sectors. For ‘Make in India’ to turn into a reality, there is a need to </a:t>
            </a:r>
            <a:r>
              <a:rPr lang="en-US" dirty="0" err="1"/>
              <a:t>upskill</a:t>
            </a:r>
            <a:r>
              <a:rPr lang="en-US" dirty="0"/>
              <a:t> the large human resources available. This is important because the percentage of formally skilled workforce in India is only 2% of the population.</a:t>
            </a:r>
          </a:p>
          <a:p>
            <a:r>
              <a:rPr lang="en-US" b="1" dirty="0"/>
              <a:t>Startup India</a:t>
            </a:r>
            <a:endParaRPr lang="en-US" dirty="0"/>
          </a:p>
          <a:p>
            <a:r>
              <a:rPr lang="en-US" dirty="0"/>
              <a:t>The main idea behind this </a:t>
            </a:r>
            <a:r>
              <a:rPr lang="en-US" dirty="0" err="1"/>
              <a:t>programme</a:t>
            </a:r>
            <a:r>
              <a:rPr lang="en-US" dirty="0"/>
              <a:t> is to build an ecosystem that fosters the growth of startups, driving sustainable economic growth, and creating large-scale employment.</a:t>
            </a:r>
          </a:p>
          <a:p>
            <a:r>
              <a:rPr lang="en-US" b="1" dirty="0"/>
              <a:t>Digital India</a:t>
            </a:r>
            <a:endParaRPr lang="en-US" dirty="0"/>
          </a:p>
          <a:p>
            <a:r>
              <a:rPr lang="en-US" dirty="0"/>
              <a:t>This aims to transform India into a knowledge-based and digitally empowered economy. To know more about </a:t>
            </a:r>
            <a:r>
              <a:rPr lang="en-US" dirty="0">
                <a:hlinkClick r:id="rId2"/>
              </a:rPr>
              <a:t>Digital India</a:t>
            </a:r>
            <a:r>
              <a:rPr lang="en-US" dirty="0"/>
              <a:t>, click on the linked page.</a:t>
            </a:r>
          </a:p>
          <a:p>
            <a:r>
              <a:rPr lang="en-US" b="1" dirty="0" err="1"/>
              <a:t>Pradhan</a:t>
            </a:r>
            <a:r>
              <a:rPr lang="en-US" b="1" dirty="0"/>
              <a:t> </a:t>
            </a:r>
            <a:r>
              <a:rPr lang="en-US" b="1" dirty="0" err="1"/>
              <a:t>Mantri</a:t>
            </a:r>
            <a:r>
              <a:rPr lang="en-US" b="1" dirty="0"/>
              <a:t> Jan </a:t>
            </a:r>
            <a:r>
              <a:rPr lang="en-US" b="1" dirty="0" err="1"/>
              <a:t>Dhan</a:t>
            </a:r>
            <a:r>
              <a:rPr lang="en-US" b="1" dirty="0"/>
              <a:t> </a:t>
            </a:r>
            <a:r>
              <a:rPr lang="en-US" b="1" dirty="0" err="1"/>
              <a:t>Yojana</a:t>
            </a:r>
            <a:r>
              <a:rPr lang="en-US" b="1" dirty="0"/>
              <a:t> (PMJDY)</a:t>
            </a:r>
            <a:endParaRPr lang="en-US" dirty="0"/>
          </a:p>
          <a:p>
            <a:r>
              <a:rPr lang="en-US" dirty="0"/>
              <a:t>The mission envisages financial inclusion to ensure access to financial services, namely banking savings &amp; deposit accounts, remittances, credit, insurance, and pension in an affordable manner. Click the linked article to know more about </a:t>
            </a:r>
            <a:r>
              <a:rPr lang="en-US" dirty="0" err="1">
                <a:hlinkClick r:id="rId3"/>
              </a:rPr>
              <a:t>Pradhan</a:t>
            </a:r>
            <a:r>
              <a:rPr lang="en-US" dirty="0">
                <a:hlinkClick r:id="rId3"/>
              </a:rPr>
              <a:t> </a:t>
            </a:r>
            <a:r>
              <a:rPr lang="en-US" dirty="0" err="1">
                <a:hlinkClick r:id="rId3"/>
              </a:rPr>
              <a:t>Mantri</a:t>
            </a:r>
            <a:r>
              <a:rPr lang="en-US" dirty="0">
                <a:hlinkClick r:id="rId3"/>
              </a:rPr>
              <a:t> Jan </a:t>
            </a:r>
            <a:r>
              <a:rPr lang="en-US" dirty="0" err="1">
                <a:hlinkClick r:id="rId3"/>
              </a:rPr>
              <a:t>Dhan</a:t>
            </a:r>
            <a:r>
              <a:rPr lang="en-US" dirty="0">
                <a:hlinkClick r:id="rId3"/>
              </a:rPr>
              <a:t> </a:t>
            </a:r>
            <a:r>
              <a:rPr lang="en-US" dirty="0" err="1">
                <a:hlinkClick r:id="rId3"/>
              </a:rPr>
              <a:t>Yojana</a:t>
            </a:r>
            <a:r>
              <a:rPr lang="en-US" dirty="0">
                <a:hlinkClick r:id="rId3"/>
              </a:rPr>
              <a:t> (PMJDY)</a:t>
            </a:r>
            <a:r>
              <a:rPr lang="en-US" dirty="0"/>
              <a:t>.</a:t>
            </a:r>
          </a:p>
          <a:p>
            <a:r>
              <a:rPr lang="en-US" b="1" dirty="0"/>
              <a:t>Smart Cities</a:t>
            </a:r>
            <a:endParaRPr lang="en-US" dirty="0"/>
          </a:p>
          <a:p>
            <a:r>
              <a:rPr lang="en-US" dirty="0"/>
              <a:t>This mission aims to transform and rejuvenate Indian cities. The goal is to create 100 smart cities in India through several sub-initiatives.</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normAutofit fontScale="55000" lnSpcReduction="20000"/>
          </a:bodyPr>
          <a:lstStyle/>
          <a:p>
            <a:r>
              <a:rPr lang="en-US" b="1" dirty="0"/>
              <a:t>AMRUT</a:t>
            </a:r>
            <a:endParaRPr lang="en-US" dirty="0"/>
          </a:p>
          <a:p>
            <a:r>
              <a:rPr lang="en-US" dirty="0"/>
              <a:t>AMRUT is the </a:t>
            </a:r>
            <a:r>
              <a:rPr lang="en-US" dirty="0" err="1"/>
              <a:t>Atal</a:t>
            </a:r>
            <a:r>
              <a:rPr lang="en-US" dirty="0"/>
              <a:t> Mission for Rejuvenation and Urban Transformation. It aims to build basic public amenities and make 500 cities in India more livable and inclusive.</a:t>
            </a:r>
          </a:p>
          <a:p>
            <a:r>
              <a:rPr lang="en-US" b="1" dirty="0" err="1"/>
              <a:t>Swachh</a:t>
            </a:r>
            <a:r>
              <a:rPr lang="en-US" b="1" dirty="0"/>
              <a:t> Bharat </a:t>
            </a:r>
            <a:r>
              <a:rPr lang="en-US" b="1" dirty="0" err="1"/>
              <a:t>Abhiyan</a:t>
            </a:r>
            <a:endParaRPr lang="en-US" dirty="0"/>
          </a:p>
          <a:p>
            <a:r>
              <a:rPr lang="en-US" dirty="0"/>
              <a:t>This is a mission aimed at making India more cleaner and promoting basic sanitation and hygiene. For more information on </a:t>
            </a:r>
            <a:r>
              <a:rPr lang="en-US" dirty="0" err="1">
                <a:hlinkClick r:id="rId2"/>
              </a:rPr>
              <a:t>Swachh</a:t>
            </a:r>
            <a:r>
              <a:rPr lang="en-US" dirty="0">
                <a:hlinkClick r:id="rId2"/>
              </a:rPr>
              <a:t> Bharat Mission</a:t>
            </a:r>
            <a:r>
              <a:rPr lang="en-US" dirty="0"/>
              <a:t>, click on the linked article.</a:t>
            </a:r>
          </a:p>
          <a:p>
            <a:r>
              <a:rPr lang="en-US" b="1" dirty="0" err="1"/>
              <a:t>Sagarmala</a:t>
            </a:r>
            <a:endParaRPr lang="en-US" dirty="0"/>
          </a:p>
          <a:p>
            <a:r>
              <a:rPr lang="en-US" dirty="0"/>
              <a:t>This scheme aims at developing ports and promoting port-led development in the country. Read more on the </a:t>
            </a:r>
            <a:r>
              <a:rPr lang="en-US" dirty="0" err="1">
                <a:hlinkClick r:id="rId3"/>
              </a:rPr>
              <a:t>Sagarmala</a:t>
            </a:r>
            <a:r>
              <a:rPr lang="en-US" dirty="0">
                <a:hlinkClick r:id="rId3"/>
              </a:rPr>
              <a:t> Project</a:t>
            </a:r>
            <a:r>
              <a:rPr lang="en-US" dirty="0"/>
              <a:t> in the linked article.</a:t>
            </a:r>
          </a:p>
          <a:p>
            <a:r>
              <a:rPr lang="en-US" b="1" dirty="0"/>
              <a:t>International Solar Alliance (ISA)</a:t>
            </a:r>
            <a:endParaRPr lang="en-US" dirty="0"/>
          </a:p>
          <a:p>
            <a:r>
              <a:rPr lang="en-US" dirty="0"/>
              <a:t>The ISA is an alliance of 121 countries, most of them being sunshine countries, which lie either completely or partly between the Tropic of Cancer and the Tropic of Capricorn. This is India’s initiative aimed at promoting research and development in solar technologies and formulating policies in that regard.</a:t>
            </a:r>
          </a:p>
          <a:p>
            <a:r>
              <a:rPr lang="en-US" b="1" dirty="0"/>
              <a:t>AGNII</a:t>
            </a:r>
            <a:endParaRPr lang="en-US" dirty="0"/>
          </a:p>
          <a:p>
            <a:r>
              <a:rPr lang="en-US" dirty="0"/>
              <a:t>AGNII or Accelerating Growth of New India’s Innovation was launched to push the innovation ecosystem in the country by connecting people and assisting in commercializing innovations.</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Make in India – Objectives</a:t>
            </a:r>
          </a:p>
        </p:txBody>
      </p:sp>
      <p:sp>
        <p:nvSpPr>
          <p:cNvPr id="3" name="Content Placeholder 2"/>
          <p:cNvSpPr>
            <a:spLocks noGrp="1"/>
          </p:cNvSpPr>
          <p:nvPr>
            <p:ph idx="1"/>
          </p:nvPr>
        </p:nvSpPr>
        <p:spPr>
          <a:xfrm>
            <a:off x="457200" y="1295400"/>
            <a:ext cx="8229600" cy="4830763"/>
          </a:xfrm>
        </p:spPr>
        <p:txBody>
          <a:bodyPr>
            <a:normAutofit fontScale="70000" lnSpcReduction="20000"/>
          </a:bodyPr>
          <a:lstStyle/>
          <a:p>
            <a:r>
              <a:rPr lang="en-US" dirty="0"/>
              <a:t>There are several targets aimed by the Make in India mission. They are:</a:t>
            </a:r>
          </a:p>
          <a:p>
            <a:r>
              <a:rPr lang="en-US" dirty="0"/>
              <a:t>Raise in manufacturing sector growth to 12-14% per year.</a:t>
            </a:r>
          </a:p>
          <a:p>
            <a:r>
              <a:rPr lang="en-US" dirty="0"/>
              <a:t>Create 100 million additional jobs in the manufacturing sector by 2022.</a:t>
            </a:r>
          </a:p>
          <a:p>
            <a:r>
              <a:rPr lang="en-US" dirty="0"/>
              <a:t>Increase in the manufacturing sector’s share in the GDP to 25% by 2022.</a:t>
            </a:r>
          </a:p>
          <a:p>
            <a:r>
              <a:rPr lang="en-US" dirty="0"/>
              <a:t>Creating required skill sets among the urban poor and the rural migrants to foster inclusive growth.</a:t>
            </a:r>
          </a:p>
          <a:p>
            <a:r>
              <a:rPr lang="en-US" dirty="0"/>
              <a:t>A rise in the domestic value addition and technological depth in the manufacturing sector.</a:t>
            </a:r>
          </a:p>
          <a:p>
            <a:r>
              <a:rPr lang="en-US" dirty="0"/>
              <a:t>Having an environmentally sustainable growth.</a:t>
            </a:r>
          </a:p>
          <a:p>
            <a:r>
              <a:rPr lang="en-US" dirty="0"/>
              <a:t>Augmenting the global competitiveness of the Indian manufacturing sector.</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b="1" dirty="0" smtClean="0"/>
              <a:t>Make in India – Progress</a:t>
            </a:r>
            <a:br>
              <a:rPr lang="en-US" b="1" dirty="0" smtClean="0"/>
            </a:br>
            <a:endParaRPr lang="en-US" dirty="0"/>
          </a:p>
        </p:txBody>
      </p:sp>
      <p:sp>
        <p:nvSpPr>
          <p:cNvPr id="3" name="Content Placeholder 2"/>
          <p:cNvSpPr>
            <a:spLocks noGrp="1"/>
          </p:cNvSpPr>
          <p:nvPr>
            <p:ph idx="1"/>
          </p:nvPr>
        </p:nvSpPr>
        <p:spPr>
          <a:xfrm>
            <a:off x="457200" y="685800"/>
            <a:ext cx="8229600" cy="5440363"/>
          </a:xfrm>
        </p:spPr>
        <p:txBody>
          <a:bodyPr>
            <a:noAutofit/>
          </a:bodyPr>
          <a:lstStyle/>
          <a:p>
            <a:r>
              <a:rPr lang="en-US" sz="1600" dirty="0" smtClean="0"/>
              <a:t>There </a:t>
            </a:r>
            <a:r>
              <a:rPr lang="en-US" sz="1600" dirty="0"/>
              <a:t>have been several milestones attributed to the Make in India scheme. Some of the prominent ones are listed below:</a:t>
            </a:r>
          </a:p>
          <a:p>
            <a:r>
              <a:rPr lang="en-US" sz="1600" dirty="0"/>
              <a:t>The introduction of the Goods and Services Tax (GST) has eased the tax procedural system for businesses. The GST has been a fillip to the Make in India campaign.</a:t>
            </a:r>
          </a:p>
          <a:p>
            <a:r>
              <a:rPr lang="en-US" sz="1600" dirty="0"/>
              <a:t>Digitization in the country has gained momentum. </a:t>
            </a:r>
            <a:r>
              <a:rPr lang="en-US" sz="1600" dirty="0" smtClean="0"/>
              <a:t>This </a:t>
            </a:r>
            <a:r>
              <a:rPr lang="en-US" sz="1600" dirty="0"/>
              <a:t>has upped India’s rank in the EoDB index.</a:t>
            </a:r>
          </a:p>
          <a:p>
            <a:r>
              <a:rPr lang="en-US" sz="1600" dirty="0"/>
              <a:t>The new insolvency code namely, the Insolvency and Bankruptcy Code 2016 integrated all laws and rules relating to insolvency into a single legislation. </a:t>
            </a:r>
          </a:p>
          <a:p>
            <a:r>
              <a:rPr lang="en-US" sz="1600" dirty="0"/>
              <a:t>Due to schemes of financial inclusion such as the PMJDY, as of May 2019, 356 million new bank accounts were opened.</a:t>
            </a:r>
          </a:p>
          <a:p>
            <a:r>
              <a:rPr lang="en-US" sz="1600" dirty="0"/>
              <a:t>FDI liberalization has helped India’s EoDB index to be </a:t>
            </a:r>
            <a:r>
              <a:rPr lang="en-US" sz="1600" dirty="0" err="1"/>
              <a:t>favourable</a:t>
            </a:r>
            <a:r>
              <a:rPr lang="en-US" sz="1600" dirty="0"/>
              <a:t>. Larger FDI inflows will create jobs, income, and investments.</a:t>
            </a:r>
          </a:p>
          <a:p>
            <a:r>
              <a:rPr lang="en-US" sz="1600" dirty="0"/>
              <a:t>Infrastructure and connectivity have received major push-through schemes like </a:t>
            </a:r>
            <a:r>
              <a:rPr lang="en-US" sz="1600" dirty="0" err="1"/>
              <a:t>Bharatmala</a:t>
            </a:r>
            <a:r>
              <a:rPr lang="en-US" sz="1600" dirty="0"/>
              <a:t> and </a:t>
            </a:r>
            <a:r>
              <a:rPr lang="en-US" sz="1600" dirty="0" err="1"/>
              <a:t>Sagarmala</a:t>
            </a:r>
            <a:r>
              <a:rPr lang="en-US" sz="1600" dirty="0"/>
              <a:t>, as well as various railway infrastructure development schemes.</a:t>
            </a:r>
          </a:p>
          <a:p>
            <a:r>
              <a:rPr lang="en-US" sz="1600" dirty="0" err="1"/>
              <a:t>BharatNet</a:t>
            </a:r>
            <a:r>
              <a:rPr lang="en-US" sz="1600" dirty="0"/>
              <a:t> – this is a telecom infrastructure provider set up by the GOI to enhance digital networks in the rural areas of the </a:t>
            </a:r>
            <a:r>
              <a:rPr lang="en-US" sz="1600" dirty="0" smtClean="0"/>
              <a:t>country</a:t>
            </a:r>
            <a:endParaRPr lang="en-US" sz="1600" dirty="0"/>
          </a:p>
          <a:p>
            <a:r>
              <a:rPr lang="en-US" sz="1600" dirty="0"/>
              <a:t>India is ranked fourth in the world in terms of its capacity to harness power from winds and ranked number 6 in the world in harnessing solar power. Overall, India is ranked fifth in the world in installed renewable energy capacity.</a:t>
            </a:r>
          </a:p>
          <a:p>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Make in India – Advantages</a:t>
            </a:r>
            <a:br>
              <a:rPr lang="en-US" b="1" dirty="0" smtClean="0"/>
            </a:br>
            <a:endParaRPr lang="en-US" dirty="0"/>
          </a:p>
        </p:txBody>
      </p:sp>
      <p:sp>
        <p:nvSpPr>
          <p:cNvPr id="3" name="Content Placeholder 2"/>
          <p:cNvSpPr>
            <a:spLocks noGrp="1"/>
          </p:cNvSpPr>
          <p:nvPr>
            <p:ph idx="1"/>
          </p:nvPr>
        </p:nvSpPr>
        <p:spPr>
          <a:xfrm>
            <a:off x="457200" y="1143000"/>
            <a:ext cx="8229600" cy="4983163"/>
          </a:xfrm>
        </p:spPr>
        <p:txBody>
          <a:bodyPr>
            <a:normAutofit fontScale="70000" lnSpcReduction="20000"/>
          </a:bodyPr>
          <a:lstStyle/>
          <a:p>
            <a:r>
              <a:rPr lang="en-US" dirty="0" smtClean="0"/>
              <a:t>The Make in India campaign has had several positive developments for the country. Below are some more benefits that have been derived from this mission.</a:t>
            </a:r>
          </a:p>
          <a:p>
            <a:r>
              <a:rPr lang="en-US" dirty="0" smtClean="0"/>
              <a:t>Generating employment opportunities.</a:t>
            </a:r>
          </a:p>
          <a:p>
            <a:r>
              <a:rPr lang="en-US" dirty="0" smtClean="0"/>
              <a:t>Increasing the GDP by expanding economic growth.</a:t>
            </a:r>
          </a:p>
          <a:p>
            <a:r>
              <a:rPr lang="en-US" dirty="0" smtClean="0"/>
              <a:t>When </a:t>
            </a:r>
            <a:r>
              <a:rPr lang="en-US" dirty="0" smtClean="0"/>
              <a:t>(</a:t>
            </a:r>
            <a:r>
              <a:rPr lang="en-US" smtClean="0"/>
              <a:t>Foriegn</a:t>
            </a:r>
            <a:r>
              <a:rPr lang="en-US" dirty="0" smtClean="0"/>
              <a:t> Direct Investment)FDI </a:t>
            </a:r>
            <a:r>
              <a:rPr lang="en-US" dirty="0" smtClean="0"/>
              <a:t>inflows become more, the rupee will be strengthened.</a:t>
            </a:r>
          </a:p>
          <a:p>
            <a:r>
              <a:rPr lang="en-US" dirty="0" smtClean="0"/>
              <a:t>Small manufacturers will get a thrust, particularly when investors from abroad invest in them.</a:t>
            </a:r>
          </a:p>
          <a:p>
            <a:r>
              <a:rPr lang="en-US" dirty="0" smtClean="0"/>
              <a:t>When countries invest in India, they will also bring with them the latest technologies in various fields.</a:t>
            </a:r>
          </a:p>
          <a:p>
            <a:r>
              <a:rPr lang="en-US" dirty="0" smtClean="0"/>
              <a:t>Due to the various initiatives taken under the Mission, India has moved up the ranks in the </a:t>
            </a:r>
            <a:r>
              <a:rPr lang="en-US" dirty="0"/>
              <a:t>Ease of Doing Business(EoDB</a:t>
            </a:r>
            <a:r>
              <a:rPr lang="en-US" dirty="0" smtClean="0"/>
              <a:t>) </a:t>
            </a:r>
            <a:r>
              <a:rPr lang="en-US" dirty="0" smtClean="0"/>
              <a:t>index.</a:t>
            </a:r>
          </a:p>
          <a:p>
            <a:r>
              <a:rPr lang="en-US" dirty="0" smtClean="0"/>
              <a:t>Setting up manufacturing </a:t>
            </a:r>
            <a:r>
              <a:rPr lang="en-US" dirty="0" smtClean="0"/>
              <a:t>centers </a:t>
            </a:r>
            <a:r>
              <a:rPr lang="en-US" dirty="0" smtClean="0"/>
              <a:t>and factories in rural areas will </a:t>
            </a:r>
            <a:r>
              <a:rPr lang="en-US" dirty="0" smtClean="0"/>
              <a:t>faster </a:t>
            </a:r>
            <a:r>
              <a:rPr lang="en-US" dirty="0" smtClean="0"/>
              <a:t>the development of these areas as well.</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415</TotalTime>
  <Words>1686</Words>
  <Application>Microsoft Office PowerPoint</Application>
  <PresentationFormat>On-screen Show (4:3)</PresentationFormat>
  <Paragraphs>116</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 Make In India - Initiatives, Aims, Advantages &amp; Challenges </vt:lpstr>
      <vt:lpstr>PowerPoint Presentation</vt:lpstr>
      <vt:lpstr>PowerPoint Presentation</vt:lpstr>
      <vt:lpstr>Make in India Logo </vt:lpstr>
      <vt:lpstr>Make In India – Focus on 25 Sectors </vt:lpstr>
      <vt:lpstr>PowerPoint Presentation</vt:lpstr>
      <vt:lpstr>Why Make in India?</vt:lpstr>
      <vt:lpstr>Make in India – Initiatives </vt:lpstr>
      <vt:lpstr>PowerPoint Presentation</vt:lpstr>
      <vt:lpstr>Make in India – Schemes </vt:lpstr>
      <vt:lpstr>PowerPoint Presentation</vt:lpstr>
      <vt:lpstr>Make in India – Objectives</vt:lpstr>
      <vt:lpstr>Make in India – Progress </vt:lpstr>
      <vt:lpstr>Make in India – Advantages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Make In India - Initiatives, Aims, Advantages &amp; Challenges </dc:title>
  <dc:creator>LAKSHMI CHAITANYA</dc:creator>
  <cp:lastModifiedBy>M Vijaya</cp:lastModifiedBy>
  <cp:revision>10</cp:revision>
  <dcterms:created xsi:type="dcterms:W3CDTF">2024-10-22T10:44:16Z</dcterms:created>
  <dcterms:modified xsi:type="dcterms:W3CDTF">2025-10-16T11:04:14Z</dcterms:modified>
</cp:coreProperties>
</file>